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Hours per deck</c:v>
          </c:tx>
          <c:spPr>
            <a:solidFill>
              <a:srgbClr val="0F6CBD"/>
            </a:solidFill>
          </c:spPr>
          <c:invertIfNegative val="1"/>
          <c:dLbls>
            <c:spPr>
              <a:noFill/>
              <a:ln>
                <a:noFill/>
              </a:ln>
              <a:effectLst/>
            </c:spPr>
            <c:txPr>
              <a:bodyPr anchorCtr="1"/>
              <a:lstStyle/>
              <a:p>
                <a:pPr>
                  <a:defRPr sz="1200" b="1">
                    <a:solidFill>
                      <a:srgbClr val="17324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Manual process</c:v>
                </c:pt>
                <c:pt idx="1">
                  <c:v>Low-code agent</c:v>
                </c:pt>
              </c:strCache>
            </c:strRef>
          </c:cat>
          <c:val>
            <c:numRef>
              <c:f>'Chart Data'!$B$2:$B$3</c:f>
              <c:numCache>
                <c:formatCode>General</c:formatCode>
                <c:ptCount val="2"/>
                <c:pt idx="0">
                  <c:v>5</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B3B-4062-A9DA-59FC4FF9CE87}"/>
            </c:ext>
          </c:extLst>
        </c:ser>
        <c:dLbls>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majorGridlines>
          <c:spPr>
            <a:ln w="9525">
              <a:solidFill>
                <a:srgbClr val="DDE7EF"/>
              </a:solidFill>
              <a:prstDash val="solid"/>
            </a:ln>
          </c:spPr>
        </c:majorGridlines>
        <c:title>
          <c:tx>
            <c:rich>
              <a:bodyPr/>
              <a:lstStyle/>
              <a:p>
                <a:r>
                  <a:rPr sz="975">
                    <a:solidFill>
                      <a:srgbClr val="526A80"/>
                    </a:solidFill>
                    <a:latin typeface="Arial"/>
                    <a:ea typeface="Arial"/>
                    <a:cs typeface="Arial"/>
                  </a:rPr>
                  <a:t>Employee hours per completed deck</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975">
                <a:solidFill>
                  <a:srgbClr val="526A8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B8C9D8"/>
            </a:solidFill>
            <a:prstDash val="solid"/>
          </a:ln>
        </c:spPr>
        <c:txPr>
          <a:bodyPr anchorCtr="1"/>
          <a:lstStyle/>
          <a:p>
            <a:pPr>
              <a:defRPr sz="1050" b="1">
                <a:solidFill>
                  <a:srgbClr val="17324D"/>
                </a:solidFill>
                <a:latin typeface="Arial"/>
                <a:ea typeface="Arial"/>
                <a:cs typeface="Arial"/>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a:ln w="0">
      <a:solidFill>
        <a:srgbClr val="FFFFFF"/>
      </a:solid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Annual net benefit</c:v>
          </c:tx>
          <c:spPr>
            <a:solidFill>
              <a:srgbClr val="107C10"/>
            </a:solidFill>
          </c:spPr>
          <c:invertIfNegative val="1"/>
          <c:dLbls>
            <c:dLbl>
              <c:idx val="0"/>
              <c:tx>
                <c:rich>
                  <a:bodyPr/>
                  <a:lstStyle/>
                  <a:p>
                    <a:r>
                      <a:rPr sz="1125" b="1">
                        <a:solidFill>
                          <a:srgbClr val="17324D"/>
                        </a:solidFill>
                        <a:latin typeface="Arial"/>
                        <a:ea typeface="Arial"/>
                        <a:cs typeface="Arial"/>
                      </a:rPr>
                      <a:t>$98K</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CEA-4F8D-8E68-3854C5E5642B}"/>
                </c:ext>
              </c:extLst>
            </c:dLbl>
            <c:dLbl>
              <c:idx val="1"/>
              <c:tx>
                <c:rich>
                  <a:bodyPr/>
                  <a:lstStyle/>
                  <a:p>
                    <a:r>
                      <a:rPr sz="1125" b="1">
                        <a:solidFill>
                          <a:srgbClr val="17324D"/>
                        </a:solidFill>
                        <a:latin typeface="Arial"/>
                        <a:ea typeface="Arial"/>
                        <a:cs typeface="Arial"/>
                      </a:rPr>
                      <a:t>$893K</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CEA-4F8D-8E68-3854C5E5642B}"/>
                </c:ext>
              </c:extLst>
            </c:dLbl>
            <c:dLbl>
              <c:idx val="2"/>
              <c:tx>
                <c:rich>
                  <a:bodyPr/>
                  <a:lstStyle/>
                  <a:p>
                    <a:r>
                      <a:rPr sz="1125" b="1">
                        <a:solidFill>
                          <a:srgbClr val="17324D"/>
                        </a:solidFill>
                        <a:latin typeface="Arial"/>
                        <a:ea typeface="Arial"/>
                        <a:cs typeface="Arial"/>
                      </a:rPr>
                      <a:t>$3.48M</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CEA-4F8D-8E68-3854C5E5642B}"/>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Data'!$A$2:$A$4</c:f>
              <c:strCache>
                <c:ptCount val="3"/>
                <c:pt idx="0">
                  <c:v>Pilot</c:v>
                </c:pt>
                <c:pt idx="1">
                  <c:v>Business unit</c:v>
                </c:pt>
                <c:pt idx="2">
                  <c:v>Enterprise</c:v>
                </c:pt>
              </c:strCache>
            </c:strRef>
          </c:cat>
          <c:val>
            <c:numRef>
              <c:f>'Chart Data'!$B$2:$B$4</c:f>
              <c:numCache>
                <c:formatCode>\$0\K</c:formatCode>
                <c:ptCount val="3"/>
                <c:pt idx="0">
                  <c:v>97.5</c:v>
                </c:pt>
                <c:pt idx="1">
                  <c:v>892.5</c:v>
                </c:pt>
                <c:pt idx="2">
                  <c:v>3480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7CEA-4F8D-8E68-3854C5E5642B}"/>
            </c:ext>
          </c:extLst>
        </c:ser>
        <c:dLbls>
          <c:showLegendKey val="0"/>
          <c:showVal val="0"/>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8C9D8"/>
            </a:solidFill>
            <a:prstDash val="solid"/>
          </a:ln>
        </c:spPr>
        <c:txPr>
          <a:bodyPr anchorCtr="1"/>
          <a:lstStyle/>
          <a:p>
            <a:pPr>
              <a:defRPr sz="1125" b="1">
                <a:solidFill>
                  <a:srgbClr val="17324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4000"/>
          <c:min val="0"/>
        </c:scaling>
        <c:delete val="0"/>
        <c:axPos val="l"/>
        <c:majorGridlines>
          <c:spPr>
            <a:ln w="9525">
              <a:solidFill>
                <a:srgbClr val="DDE7EF"/>
              </a:solidFill>
              <a:prstDash val="solid"/>
            </a:ln>
          </c:spPr>
        </c:majorGridlines>
        <c:title>
          <c:tx>
            <c:rich>
              <a:bodyPr/>
              <a:lstStyle/>
              <a:p>
                <a:r>
                  <a:rPr sz="975">
                    <a:solidFill>
                      <a:srgbClr val="526A80"/>
                    </a:solidFill>
                    <a:latin typeface="Arial"/>
                    <a:ea typeface="Arial"/>
                    <a:cs typeface="Arial"/>
                  </a:rPr>
                  <a:t>Annual run-rate net benefit ($K)</a:t>
                </a:r>
              </a:p>
            </c:rich>
          </c:tx>
          <c:overlay val="0"/>
        </c:title>
        <c:numFmt formatCode="\$0\K" sourceLinked="1"/>
        <c:majorTickMark val="none"/>
        <c:minorTickMark val="none"/>
        <c:tickLblPos val="nextTo"/>
        <c:spPr>
          <a:ln w="9525">
            <a:solidFill>
              <a:srgbClr val="D4D4D4"/>
            </a:solidFill>
            <a:prstDash val="solid"/>
          </a:ln>
        </c:spPr>
        <c:txPr>
          <a:bodyPr anchorCtr="1"/>
          <a:lstStyle/>
          <a:p>
            <a:pPr>
              <a:defRPr sz="975">
                <a:solidFill>
                  <a:srgbClr val="526A80"/>
                </a:solidFill>
                <a:latin typeface="Arial"/>
                <a:ea typeface="Arial"/>
                <a:cs typeface="Arial"/>
              </a:defRPr>
            </a:pPr>
            <a:endParaRPr lang="en-US"/>
          </a:p>
        </c:txPr>
        <c:crossAx val="48650112"/>
        <c:crosses val="autoZero"/>
        <c:crossBetween val="between"/>
        <c:majorUnit val="1000"/>
      </c:valAx>
      <c:spPr>
        <a:solidFill>
          <a:srgbClr val="FFFFFF"/>
        </a:solidFill>
      </c:spPr>
    </c:plotArea>
    <c:plotVisOnly val="1"/>
    <c:dispBlanksAs val="zero"/>
    <c:showDLblsOverMax val="1"/>
  </c:chart>
  <c:spPr>
    <a:solidFill>
      <a:srgbClr val="FFFFFF"/>
    </a:solidFill>
    <a:ln w="0">
      <a:solidFill>
        <a:srgbClr val="FFFFFF"/>
      </a:solid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customer-neutral value proposition for a low-code Copilot Studio solution that produces PowerPoint decks from private Azure Databricks data. All financial figures are illustrative planning assumptions and should be replaced with customer-specific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calculation. Gross monthly capacity value: 100 × 5 × 3 × $75 × 75% = $84,375. Net monthly benefit: $84,375 - $10,000 = $74,375. Annual run-rate net benefit: $74,375 × 12 = $892,500. First-year net benefit after one-time implementation: $892,500 - $175,000 = $717,500. ROI: $717,500 / ($175,000 + $120,000) = 243%.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five-hour manual baseline and two-hour assisted baseline are assumptions for business-case modeling. Validate them with a time study during the pilot. The three-hour difference is used in the business-unit scenario.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source: https://github.com/csdmichael/Azure-Databricks-Private-Agent-APIM. Microsoft Power Platform VNet support documentation: https://learn.microsoft.com/en-us/power-platform/admin/vnet-support-overview. Copilot Studio private network guidance: https://learn.microsoft.com/en-us/microsoft-copilot-studio/admin-network-isolation-vnet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cases are representative examples for a large enterprise. Actual reach depends on data entitlements, Copilot licensing, security policy, and change-management capacity.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figures are illustrative and editable. Productive usage factor reduces theoretical savings to account for incomplete adoption and for time that cannot be redirected. Current Copilot Studio pricing offers prepaid capacity packs and pay-as-you-go. See https://www.microsoft.com/en-us/microsoft-365-copilot/pricing/copilot-studio and https://learn.microsoft.com/en-us/microsoft-copilot-studio/requirements-messages-management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Scenario calculations: Pilot gross monthly value $13,125, recurring cost $5,000, net $8,125, annual run-rate net $97,500. Business unit gross $84,375, recurring cost $10,000, net $74,375, annual $892,500. Enterprise gross $315,000, recurring cost $25,000, net $290,000, annual $3,480,000. Values are illustrative.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Business-unit economics. Year-one total cost equals $175,000 implementation plus $120,000 recurring cost. Year-one net benefit equals $1,012,500 gross capacity value less $295,000 total cost. ROI equals $717,500 / $295,000 = 243%.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Pricing sources: Copilot Studio offers prepaid capacity packs of 25,000 Copilot Credits for $200 per pack per month, with pay-as-you-go also available. Actual consumption depends on agent design and usage. https://www.microsoft.com/en-us/microsoft-365-copilot/pricing/copilot-studio. APIM and Azure Databricks charges vary by region, tier, enterprise agreement, and consumption. Use the Azure pricing calculator: https://azure.microsoft.com/en-us/pricing/calculator/. APIM pricing: https://azure.microsoft.com/en-us/pricing/details/api-management/. Azure Databricks pricing: https://azure.microsoft.com/en-us/pricing/details/databricks/.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timeline is illustrative and assumes existing Azure Databricks and Power Platform environments. New procurement, security reviews, networking approvals, or data-quality remediation can extend the schedule. Power Platform VNet setup prerequisites: https://learn.microsoft.com/en-us/power-platform/admin/vnet-support-setup-configure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Pilot model: 25 users × 4 decks per month × 2.5 hours saved × $75 per hour × 70% productive usage = $13,125 gross monthly capacity value. Less $5,000 monthly operating cost yields $8,125 net monthly benefit and $97,500 annual run-rate. $60,000 one-time cost divided by $8,125 equals 7.4 months payback.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91F73BF-C7F9-4147-A1A9-9A74F7948931}"/>
              </a:ext>
            </a:extLst>
          </p:cNvPr>
          <p:cNvSpPr>
            <a:spLocks noGrp="1"/>
          </p:cNvSpPr>
          <p:nvPr/>
        </p:nvSpPr>
        <p:spPr>
          <a:xfrm>
            <a:off x="647700" y="514350"/>
            <a:ext cx="120491" cy="120491"/>
          </a:xfrm>
          <a:prstGeom prst="rect">
            <a:avLst/>
          </a:prstGeom>
          <a:solidFill>
            <a:srgbClr val="F25022"/>
          </a:solidFill>
          <a:ln w="0">
            <a:solidFill>
              <a:srgbClr val="F25022"/>
            </a:solidFill>
          </a:ln>
        </p:spPr>
        <p:txBody>
          <a:bodyPr/>
          <a:lstStyle/>
          <a:p>
            <a:endParaRPr lang="en-US"/>
          </a:p>
        </p:txBody>
      </p:sp>
      <p:sp>
        <p:nvSpPr>
          <p:cNvPr id="2" name="Rectangle 1">
            <a:extLst>
              <a:ext uri="{FF2B5EF4-FFF2-40B4-BE49-F238E27FC236}">
                <a16:creationId xmlns:a16="http://schemas.microsoft.com/office/drawing/2014/main" id="{9270E08F-0A81-4447-A0A1-AD06FF0F850F}"/>
              </a:ext>
            </a:extLst>
          </p:cNvPr>
          <p:cNvSpPr>
            <a:spLocks noGrp="1"/>
          </p:cNvSpPr>
          <p:nvPr/>
        </p:nvSpPr>
        <p:spPr>
          <a:xfrm>
            <a:off x="790099" y="514350"/>
            <a:ext cx="120491" cy="120491"/>
          </a:xfrm>
          <a:prstGeom prst="rect">
            <a:avLst/>
          </a:prstGeom>
          <a:solidFill>
            <a:srgbClr val="7FBA00"/>
          </a:solidFill>
          <a:ln w="0">
            <a:solidFill>
              <a:srgbClr val="7FBA00"/>
            </a:solidFill>
          </a:ln>
        </p:spPr>
        <p:txBody>
          <a:bodyPr/>
          <a:lstStyle/>
          <a:p>
            <a:endParaRPr lang="en-US"/>
          </a:p>
        </p:txBody>
      </p:sp>
      <p:sp>
        <p:nvSpPr>
          <p:cNvPr id="3" name="Rectangle 2">
            <a:extLst>
              <a:ext uri="{FF2B5EF4-FFF2-40B4-BE49-F238E27FC236}">
                <a16:creationId xmlns:a16="http://schemas.microsoft.com/office/drawing/2014/main" id="{0B18CC94-44EC-4105-B2FF-E85DDFCA4911}"/>
              </a:ext>
            </a:extLst>
          </p:cNvPr>
          <p:cNvSpPr>
            <a:spLocks noGrp="1"/>
          </p:cNvSpPr>
          <p:nvPr/>
        </p:nvSpPr>
        <p:spPr>
          <a:xfrm>
            <a:off x="647700" y="656749"/>
            <a:ext cx="120491" cy="120491"/>
          </a:xfrm>
          <a:prstGeom prst="rect">
            <a:avLst/>
          </a:prstGeom>
          <a:solidFill>
            <a:srgbClr val="00A4EF"/>
          </a:solidFill>
          <a:ln w="0">
            <a:solidFill>
              <a:srgbClr val="00A4EF"/>
            </a:solidFill>
          </a:ln>
        </p:spPr>
        <p:txBody>
          <a:bodyPr/>
          <a:lstStyle/>
          <a:p>
            <a:endParaRPr lang="en-US"/>
          </a:p>
        </p:txBody>
      </p:sp>
      <p:sp>
        <p:nvSpPr>
          <p:cNvPr id="4" name="Rectangle 3">
            <a:extLst>
              <a:ext uri="{FF2B5EF4-FFF2-40B4-BE49-F238E27FC236}">
                <a16:creationId xmlns:a16="http://schemas.microsoft.com/office/drawing/2014/main" id="{64F8C8EB-AEF8-4FB5-BECE-905810497B89}"/>
              </a:ext>
            </a:extLst>
          </p:cNvPr>
          <p:cNvSpPr>
            <a:spLocks noGrp="1"/>
          </p:cNvSpPr>
          <p:nvPr/>
        </p:nvSpPr>
        <p:spPr>
          <a:xfrm>
            <a:off x="790099" y="656749"/>
            <a:ext cx="120491" cy="120491"/>
          </a:xfrm>
          <a:prstGeom prst="rect">
            <a:avLst/>
          </a:prstGeom>
          <a:solidFill>
            <a:srgbClr val="FFB900"/>
          </a:solidFill>
          <a:ln w="0">
            <a:solidFill>
              <a:srgbClr val="FFB900"/>
            </a:solidFill>
          </a:ln>
        </p:spPr>
        <p:txBody>
          <a:bodyPr/>
          <a:lstStyle/>
          <a:p>
            <a:endParaRPr lang="en-US"/>
          </a:p>
        </p:txBody>
      </p:sp>
      <p:sp>
        <p:nvSpPr>
          <p:cNvPr id="5" name="Rectangle 4">
            <a:extLst>
              <a:ext uri="{FF2B5EF4-FFF2-40B4-BE49-F238E27FC236}">
                <a16:creationId xmlns:a16="http://schemas.microsoft.com/office/drawing/2014/main" id="{D0978D6F-E792-4214-8939-A128E19A2652}"/>
              </a:ext>
            </a:extLst>
          </p:cNvPr>
          <p:cNvSpPr>
            <a:spLocks noGrp="1"/>
          </p:cNvSpPr>
          <p:nvPr/>
        </p:nvSpPr>
        <p:spPr>
          <a:xfrm>
            <a:off x="987266" y="503396"/>
            <a:ext cx="1314450" cy="306705"/>
          </a:xfrm>
          <a:prstGeom prst="rect">
            <a:avLst/>
          </a:prstGeom>
          <a:noFill/>
          <a:ln w="0">
            <a:noFill/>
          </a:ln>
        </p:spPr>
        <p:txBody>
          <a:bodyPr>
            <a:normAutofit fontScale="91012"/>
          </a:bodyPr>
          <a:lstStyle/>
          <a:p>
            <a:pPr algn="l">
              <a:defRPr sz="1552" b="1">
                <a:solidFill>
                  <a:srgbClr val="FFFFFF"/>
                </a:solidFill>
                <a:latin typeface="Arial"/>
                <a:ea typeface="Arial"/>
                <a:cs typeface="Arial"/>
              </a:defRPr>
            </a:pPr>
            <a:r>
              <a:rPr sz="1552" b="1">
                <a:solidFill>
                  <a:srgbClr val="FFFFFF"/>
                </a:solidFill>
                <a:latin typeface="Arial"/>
                <a:ea typeface="Arial"/>
                <a:cs typeface="Arial"/>
              </a:rPr>
              <a:t>Microsoft</a:t>
            </a:r>
          </a:p>
        </p:txBody>
      </p:sp>
      <p:sp>
        <p:nvSpPr>
          <p:cNvPr id="6" name="Rectangle 5">
            <a:extLst>
              <a:ext uri="{FF2B5EF4-FFF2-40B4-BE49-F238E27FC236}">
                <a16:creationId xmlns:a16="http://schemas.microsoft.com/office/drawing/2014/main" id="{869090C0-6667-469C-9E64-3F5FA406B7FB}"/>
              </a:ext>
            </a:extLst>
          </p:cNvPr>
          <p:cNvSpPr>
            <a:spLocks noGrp="1"/>
          </p:cNvSpPr>
          <p:nvPr/>
        </p:nvSpPr>
        <p:spPr>
          <a:xfrm>
            <a:off x="647700" y="1600200"/>
            <a:ext cx="8286750" cy="1047750"/>
          </a:xfrm>
          <a:prstGeom prst="rect">
            <a:avLst/>
          </a:prstGeom>
          <a:noFill/>
          <a:ln w="0">
            <a:noFill/>
          </a:ln>
        </p:spPr>
        <p:txBody>
          <a:bodyPr>
            <a:normAutofit fontScale="97375"/>
          </a:bodyPr>
          <a:lstStyle/>
          <a:p>
            <a:pPr algn="l">
              <a:defRPr sz="3750" b="1">
                <a:solidFill>
                  <a:srgbClr val="FFFFFF"/>
                </a:solidFill>
                <a:latin typeface="Arial"/>
                <a:ea typeface="Arial"/>
                <a:cs typeface="Arial"/>
              </a:defRPr>
            </a:pPr>
            <a:r>
              <a:rPr sz="3750" b="1">
                <a:solidFill>
                  <a:srgbClr val="FFFFFF"/>
                </a:solidFill>
                <a:latin typeface="Arial"/>
                <a:ea typeface="Arial"/>
                <a:cs typeface="Arial"/>
              </a:rPr>
              <a:t>Private data to executive PowerPoint</a:t>
            </a:r>
          </a:p>
        </p:txBody>
      </p:sp>
      <p:sp>
        <p:nvSpPr>
          <p:cNvPr id="7" name="Rectangle 6">
            <a:extLst>
              <a:ext uri="{FF2B5EF4-FFF2-40B4-BE49-F238E27FC236}">
                <a16:creationId xmlns:a16="http://schemas.microsoft.com/office/drawing/2014/main" id="{D4B2DA5F-0CC9-45BA-8F5B-DD7531717946}"/>
              </a:ext>
            </a:extLst>
          </p:cNvPr>
          <p:cNvSpPr>
            <a:spLocks noGrp="1"/>
          </p:cNvSpPr>
          <p:nvPr/>
        </p:nvSpPr>
        <p:spPr>
          <a:xfrm>
            <a:off x="647700" y="2724150"/>
            <a:ext cx="7810500" cy="419100"/>
          </a:xfrm>
          <a:prstGeom prst="rect">
            <a:avLst/>
          </a:prstGeom>
          <a:noFill/>
          <a:ln w="0">
            <a:noFill/>
          </a:ln>
        </p:spPr>
        <p:txBody>
          <a:bodyPr>
            <a:normAutofit/>
          </a:bodyPr>
          <a:lstStyle/>
          <a:p>
            <a:pPr algn="l">
              <a:defRPr sz="1875" b="0">
                <a:solidFill>
                  <a:srgbClr val="CFE4F7"/>
                </a:solidFill>
                <a:latin typeface="Arial"/>
                <a:ea typeface="Arial"/>
                <a:cs typeface="Arial"/>
              </a:defRPr>
            </a:pPr>
            <a:r>
              <a:rPr sz="1875" b="0">
                <a:solidFill>
                  <a:srgbClr val="CFE4F7"/>
                </a:solidFill>
                <a:latin typeface="Arial"/>
                <a:ea typeface="Arial"/>
                <a:cs typeface="Arial"/>
              </a:rPr>
              <a:t>Low-code business case for enterprise adoption</a:t>
            </a:r>
          </a:p>
        </p:txBody>
      </p:sp>
      <p:sp>
        <p:nvSpPr>
          <p:cNvPr id="8" name="Rectangle 7">
            <a:extLst>
              <a:ext uri="{FF2B5EF4-FFF2-40B4-BE49-F238E27FC236}">
                <a16:creationId xmlns:a16="http://schemas.microsoft.com/office/drawing/2014/main" id="{010EA11C-CAF4-4706-8ACE-186A106B667F}"/>
              </a:ext>
            </a:extLst>
          </p:cNvPr>
          <p:cNvSpPr>
            <a:spLocks noGrp="1"/>
          </p:cNvSpPr>
          <p:nvPr/>
        </p:nvSpPr>
        <p:spPr>
          <a:xfrm>
            <a:off x="647700" y="3448050"/>
            <a:ext cx="1714500" cy="47625"/>
          </a:xfrm>
          <a:prstGeom prst="rect">
            <a:avLst/>
          </a:prstGeom>
          <a:solidFill>
            <a:srgbClr val="0078D4"/>
          </a:solidFill>
          <a:ln w="0">
            <a:solidFill>
              <a:srgbClr val="0078D4"/>
            </a:solidFill>
          </a:ln>
        </p:spPr>
        <p:txBody>
          <a:bodyPr/>
          <a:lstStyle/>
          <a:p>
            <a:endParaRPr lang="en-US"/>
          </a:p>
        </p:txBody>
      </p:sp>
      <p:sp>
        <p:nvSpPr>
          <p:cNvPr id="9" name="Rectangle 8">
            <a:extLst>
              <a:ext uri="{FF2B5EF4-FFF2-40B4-BE49-F238E27FC236}">
                <a16:creationId xmlns:a16="http://schemas.microsoft.com/office/drawing/2014/main" id="{76C88772-DD03-4164-9859-A5A9C6D55B23}"/>
              </a:ext>
            </a:extLst>
          </p:cNvPr>
          <p:cNvSpPr>
            <a:spLocks noGrp="1"/>
          </p:cNvSpPr>
          <p:nvPr/>
        </p:nvSpPr>
        <p:spPr>
          <a:xfrm>
            <a:off x="647700" y="3810000"/>
            <a:ext cx="7524750" cy="1066800"/>
          </a:xfrm>
          <a:prstGeom prst="rect">
            <a:avLst/>
          </a:prstGeom>
          <a:noFill/>
          <a:ln w="0">
            <a:noFill/>
          </a:ln>
        </p:spPr>
        <p:txBody>
          <a:bodyPr>
            <a:normAutofit/>
          </a:bodyPr>
          <a:lstStyle/>
          <a:p>
            <a:pPr algn="l">
              <a:defRPr sz="1725" b="0">
                <a:solidFill>
                  <a:srgbClr val="E7F1F8"/>
                </a:solidFill>
                <a:latin typeface="Arial"/>
                <a:ea typeface="Arial"/>
                <a:cs typeface="Arial"/>
              </a:defRPr>
            </a:pPr>
            <a:r>
              <a:rPr sz="1725" b="0">
                <a:solidFill>
                  <a:srgbClr val="E7F1F8"/>
                </a:solidFill>
                <a:latin typeface="Arial"/>
                <a:ea typeface="Arial"/>
                <a:cs typeface="Arial"/>
              </a:rPr>
              <a:t>Copilot Studio connects privately to Azure Databricks through API Management, then creates a governed PowerPoint deck for business users.</a:t>
            </a:r>
          </a:p>
        </p:txBody>
      </p:sp>
      <p:sp>
        <p:nvSpPr>
          <p:cNvPr id="10" name="Rectangle: Rounded Corners 9">
            <a:extLst>
              <a:ext uri="{FF2B5EF4-FFF2-40B4-BE49-F238E27FC236}">
                <a16:creationId xmlns:a16="http://schemas.microsoft.com/office/drawing/2014/main" id="{1EA4329A-5027-4DDF-B494-518899180DC1}"/>
              </a:ext>
            </a:extLst>
          </p:cNvPr>
          <p:cNvSpPr>
            <a:spLocks noGrp="1"/>
          </p:cNvSpPr>
          <p:nvPr/>
        </p:nvSpPr>
        <p:spPr>
          <a:xfrm>
            <a:off x="8515350" y="2238375"/>
            <a:ext cx="2667000" cy="3143250"/>
          </a:xfrm>
          <a:prstGeom prst="roundRect">
            <a:avLst>
              <a:gd name="adj" fmla="val 2857"/>
            </a:avLst>
          </a:prstGeom>
          <a:solidFill>
            <a:srgbClr val="173D62"/>
          </a:solidFill>
          <a:ln w="9525">
            <a:solidFill>
              <a:srgbClr val="356A94"/>
            </a:solidFill>
          </a:ln>
        </p:spPr>
        <p:txBody>
          <a:bodyPr/>
          <a:lstStyle/>
          <a:p>
            <a:endParaRPr lang="en-US"/>
          </a:p>
        </p:txBody>
      </p:sp>
      <p:sp>
        <p:nvSpPr>
          <p:cNvPr id="11" name="Rectangle 10">
            <a:extLst>
              <a:ext uri="{FF2B5EF4-FFF2-40B4-BE49-F238E27FC236}">
                <a16:creationId xmlns:a16="http://schemas.microsoft.com/office/drawing/2014/main" id="{D8806561-E599-4257-A1F2-24E87F595BE0}"/>
              </a:ext>
            </a:extLst>
          </p:cNvPr>
          <p:cNvSpPr>
            <a:spLocks noGrp="1"/>
          </p:cNvSpPr>
          <p:nvPr/>
        </p:nvSpPr>
        <p:spPr>
          <a:xfrm>
            <a:off x="9086850" y="1924050"/>
            <a:ext cx="2095500" cy="209550"/>
          </a:xfrm>
          <a:prstGeom prst="rect">
            <a:avLst/>
          </a:prstGeom>
          <a:noFill/>
          <a:ln w="0">
            <a:noFill/>
          </a:ln>
        </p:spPr>
        <p:txBody>
          <a:bodyPr>
            <a:normAutofit fontScale="79487"/>
          </a:bodyPr>
          <a:lstStyle/>
          <a:p>
            <a:pPr algn="l">
              <a:defRPr sz="975" b="1">
                <a:solidFill>
                  <a:srgbClr val="7FC4FF"/>
                </a:solidFill>
                <a:latin typeface="Arial"/>
                <a:ea typeface="Arial"/>
                <a:cs typeface="Arial"/>
              </a:defRPr>
            </a:pPr>
            <a:r>
              <a:rPr sz="975" b="1">
                <a:solidFill>
                  <a:srgbClr val="7FC4FF"/>
                </a:solidFill>
                <a:latin typeface="Arial"/>
                <a:ea typeface="Arial"/>
                <a:cs typeface="Arial"/>
              </a:rPr>
              <a:t>ILLUSTRATIVE BUSINESS CASE</a:t>
            </a:r>
          </a:p>
        </p:txBody>
      </p:sp>
      <p:sp>
        <p:nvSpPr>
          <p:cNvPr id="12" name="Rectangle 11">
            <a:extLst>
              <a:ext uri="{FF2B5EF4-FFF2-40B4-BE49-F238E27FC236}">
                <a16:creationId xmlns:a16="http://schemas.microsoft.com/office/drawing/2014/main" id="{E657B392-1FDB-471C-8ADB-9531EEBDD258}"/>
              </a:ext>
            </a:extLst>
          </p:cNvPr>
          <p:cNvSpPr>
            <a:spLocks noGrp="1"/>
          </p:cNvSpPr>
          <p:nvPr/>
        </p:nvSpPr>
        <p:spPr>
          <a:xfrm>
            <a:off x="9086850" y="2362200"/>
            <a:ext cx="2095500" cy="552450"/>
          </a:xfrm>
          <a:prstGeom prst="rect">
            <a:avLst/>
          </a:prstGeom>
          <a:noFill/>
          <a:ln w="0">
            <a:noFill/>
          </a:ln>
        </p:spPr>
        <p:txBody>
          <a:bodyPr>
            <a:normAutofit fontScale="87681"/>
          </a:bodyPr>
          <a:lstStyle/>
          <a:p>
            <a:pPr algn="l">
              <a:defRPr sz="3450" b="1">
                <a:solidFill>
                  <a:srgbClr val="FFFFFF"/>
                </a:solidFill>
                <a:latin typeface="Arial"/>
                <a:ea typeface="Arial"/>
                <a:cs typeface="Arial"/>
              </a:defRPr>
            </a:pPr>
            <a:r>
              <a:rPr sz="3450" b="1">
                <a:solidFill>
                  <a:srgbClr val="FFFFFF"/>
                </a:solidFill>
                <a:latin typeface="Arial"/>
                <a:ea typeface="Arial"/>
                <a:cs typeface="Arial"/>
              </a:rPr>
              <a:t>100</a:t>
            </a:r>
          </a:p>
        </p:txBody>
      </p:sp>
      <p:sp>
        <p:nvSpPr>
          <p:cNvPr id="13" name="Rectangle 12">
            <a:extLst>
              <a:ext uri="{FF2B5EF4-FFF2-40B4-BE49-F238E27FC236}">
                <a16:creationId xmlns:a16="http://schemas.microsoft.com/office/drawing/2014/main" id="{66A8F51E-6EF0-4719-940D-BC6B438E5F01}"/>
              </a:ext>
            </a:extLst>
          </p:cNvPr>
          <p:cNvSpPr>
            <a:spLocks noGrp="1"/>
          </p:cNvSpPr>
          <p:nvPr/>
        </p:nvSpPr>
        <p:spPr>
          <a:xfrm>
            <a:off x="9086850" y="2914650"/>
            <a:ext cx="2095500" cy="266700"/>
          </a:xfrm>
          <a:prstGeom prst="rect">
            <a:avLst/>
          </a:prstGeom>
          <a:noFill/>
          <a:ln w="0">
            <a:noFill/>
          </a:ln>
        </p:spPr>
        <p:txBody>
          <a:bodyPr>
            <a:normAutofit fontScale="90196"/>
          </a:bodyPr>
          <a:lstStyle/>
          <a:p>
            <a:pPr algn="l">
              <a:defRPr sz="1275" b="0">
                <a:solidFill>
                  <a:srgbClr val="CFE4F7"/>
                </a:solidFill>
                <a:latin typeface="Arial"/>
                <a:ea typeface="Arial"/>
                <a:cs typeface="Arial"/>
              </a:defRPr>
            </a:pPr>
            <a:r>
              <a:rPr sz="1275" b="0">
                <a:solidFill>
                  <a:srgbClr val="CFE4F7"/>
                </a:solidFill>
                <a:latin typeface="Arial"/>
                <a:ea typeface="Arial"/>
                <a:cs typeface="Arial"/>
              </a:rPr>
              <a:t>active business users</a:t>
            </a:r>
          </a:p>
        </p:txBody>
      </p:sp>
      <p:sp>
        <p:nvSpPr>
          <p:cNvPr id="14" name="Rectangle 13">
            <a:extLst>
              <a:ext uri="{FF2B5EF4-FFF2-40B4-BE49-F238E27FC236}">
                <a16:creationId xmlns:a16="http://schemas.microsoft.com/office/drawing/2014/main" id="{1D351BBE-8EEA-4158-98E4-1D5BC1BAC630}"/>
              </a:ext>
            </a:extLst>
          </p:cNvPr>
          <p:cNvSpPr>
            <a:spLocks noGrp="1"/>
          </p:cNvSpPr>
          <p:nvPr/>
        </p:nvSpPr>
        <p:spPr>
          <a:xfrm>
            <a:off x="9086850" y="3429000"/>
            <a:ext cx="2095500" cy="476250"/>
          </a:xfrm>
          <a:prstGeom prst="rect">
            <a:avLst/>
          </a:prstGeom>
          <a:noFill/>
          <a:ln w="0">
            <a:noFill/>
          </a:ln>
        </p:spPr>
        <p:txBody>
          <a:bodyPr>
            <a:normAutofit fontScale="88596"/>
          </a:bodyPr>
          <a:lstStyle/>
          <a:p>
            <a:pPr algn="l">
              <a:defRPr sz="2850" b="1">
                <a:solidFill>
                  <a:srgbClr val="FFFFFF"/>
                </a:solidFill>
                <a:latin typeface="Arial"/>
                <a:ea typeface="Arial"/>
                <a:cs typeface="Arial"/>
              </a:defRPr>
            </a:pPr>
            <a:r>
              <a:rPr sz="2850" b="1">
                <a:solidFill>
                  <a:srgbClr val="FFFFFF"/>
                </a:solidFill>
                <a:latin typeface="Arial"/>
                <a:ea typeface="Arial"/>
                <a:cs typeface="Arial"/>
              </a:rPr>
              <a:t>$74K</a:t>
            </a:r>
          </a:p>
        </p:txBody>
      </p:sp>
      <p:sp>
        <p:nvSpPr>
          <p:cNvPr id="15" name="Rectangle 14">
            <a:extLst>
              <a:ext uri="{FF2B5EF4-FFF2-40B4-BE49-F238E27FC236}">
                <a16:creationId xmlns:a16="http://schemas.microsoft.com/office/drawing/2014/main" id="{EFFE53E5-BF54-47C9-ADE8-0D7FA750C1B1}"/>
              </a:ext>
            </a:extLst>
          </p:cNvPr>
          <p:cNvSpPr>
            <a:spLocks noGrp="1"/>
          </p:cNvSpPr>
          <p:nvPr/>
        </p:nvSpPr>
        <p:spPr>
          <a:xfrm>
            <a:off x="9086850" y="3905250"/>
            <a:ext cx="2095500" cy="428625"/>
          </a:xfrm>
          <a:prstGeom prst="rect">
            <a:avLst/>
          </a:prstGeom>
          <a:noFill/>
          <a:ln w="0">
            <a:noFill/>
          </a:ln>
        </p:spPr>
        <p:txBody>
          <a:bodyPr>
            <a:normAutofit/>
          </a:bodyPr>
          <a:lstStyle/>
          <a:p>
            <a:pPr algn="l">
              <a:defRPr sz="1200" b="0">
                <a:solidFill>
                  <a:srgbClr val="CFE4F7"/>
                </a:solidFill>
                <a:latin typeface="Arial"/>
                <a:ea typeface="Arial"/>
                <a:cs typeface="Arial"/>
              </a:defRPr>
            </a:pPr>
            <a:r>
              <a:rPr sz="1200" b="0">
                <a:solidFill>
                  <a:srgbClr val="CFE4F7"/>
                </a:solidFill>
                <a:latin typeface="Arial"/>
                <a:ea typeface="Arial"/>
                <a:cs typeface="Arial"/>
              </a:rPr>
              <a:t>net monthly capacity value</a:t>
            </a:r>
          </a:p>
        </p:txBody>
      </p:sp>
      <p:sp>
        <p:nvSpPr>
          <p:cNvPr id="16" name="Rectangle 15">
            <a:extLst>
              <a:ext uri="{FF2B5EF4-FFF2-40B4-BE49-F238E27FC236}">
                <a16:creationId xmlns:a16="http://schemas.microsoft.com/office/drawing/2014/main" id="{4B5AAEA3-34EF-4A04-9756-489FE23CB441}"/>
              </a:ext>
            </a:extLst>
          </p:cNvPr>
          <p:cNvSpPr>
            <a:spLocks noGrp="1"/>
          </p:cNvSpPr>
          <p:nvPr/>
        </p:nvSpPr>
        <p:spPr>
          <a:xfrm>
            <a:off x="9086850" y="4438650"/>
            <a:ext cx="2095500" cy="361950"/>
          </a:xfrm>
          <a:prstGeom prst="rect">
            <a:avLst/>
          </a:prstGeom>
          <a:noFill/>
          <a:ln w="0">
            <a:noFill/>
          </a:ln>
        </p:spPr>
        <p:txBody>
          <a:bodyPr>
            <a:normAutofit fontScale="91026"/>
          </a:bodyPr>
          <a:lstStyle/>
          <a:p>
            <a:pPr algn="l">
              <a:defRPr sz="1950" b="1">
                <a:solidFill>
                  <a:srgbClr val="FFFFFF"/>
                </a:solidFill>
                <a:latin typeface="Arial"/>
                <a:ea typeface="Arial"/>
                <a:cs typeface="Arial"/>
              </a:defRPr>
            </a:pPr>
            <a:r>
              <a:rPr sz="1950" b="1">
                <a:solidFill>
                  <a:srgbClr val="FFFFFF"/>
                </a:solidFill>
                <a:latin typeface="Arial"/>
                <a:ea typeface="Arial"/>
                <a:cs typeface="Arial"/>
              </a:rPr>
              <a:t>2.4 months</a:t>
            </a:r>
          </a:p>
        </p:txBody>
      </p:sp>
      <p:sp>
        <p:nvSpPr>
          <p:cNvPr id="17" name="Rectangle 16">
            <a:extLst>
              <a:ext uri="{FF2B5EF4-FFF2-40B4-BE49-F238E27FC236}">
                <a16:creationId xmlns:a16="http://schemas.microsoft.com/office/drawing/2014/main" id="{CAF42437-7181-43B2-A2CD-8D358C50DE44}"/>
              </a:ext>
            </a:extLst>
          </p:cNvPr>
          <p:cNvSpPr>
            <a:spLocks noGrp="1"/>
          </p:cNvSpPr>
          <p:nvPr/>
        </p:nvSpPr>
        <p:spPr>
          <a:xfrm>
            <a:off x="9086850" y="4819650"/>
            <a:ext cx="2095500" cy="228600"/>
          </a:xfrm>
          <a:prstGeom prst="rect">
            <a:avLst/>
          </a:prstGeom>
          <a:noFill/>
          <a:ln w="0">
            <a:noFill/>
          </a:ln>
        </p:spPr>
        <p:txBody>
          <a:bodyPr>
            <a:normAutofit fontScale="80000"/>
          </a:bodyPr>
          <a:lstStyle/>
          <a:p>
            <a:pPr algn="l">
              <a:defRPr sz="1125" b="0">
                <a:solidFill>
                  <a:srgbClr val="CFE4F7"/>
                </a:solidFill>
                <a:latin typeface="Arial"/>
                <a:ea typeface="Arial"/>
                <a:cs typeface="Arial"/>
              </a:defRPr>
            </a:pPr>
            <a:r>
              <a:rPr sz="1125" b="0">
                <a:solidFill>
                  <a:srgbClr val="CFE4F7"/>
                </a:solidFill>
                <a:latin typeface="Arial"/>
                <a:ea typeface="Arial"/>
                <a:cs typeface="Arial"/>
              </a:rPr>
              <a:t>estimated payback</a:t>
            </a:r>
          </a:p>
        </p:txBody>
      </p:sp>
      <p:sp>
        <p:nvSpPr>
          <p:cNvPr id="18" name="Rectangle 17">
            <a:extLst>
              <a:ext uri="{FF2B5EF4-FFF2-40B4-BE49-F238E27FC236}">
                <a16:creationId xmlns:a16="http://schemas.microsoft.com/office/drawing/2014/main" id="{1C68B462-93F7-491F-8A0E-E69D520ECADD}"/>
              </a:ext>
            </a:extLst>
          </p:cNvPr>
          <p:cNvSpPr>
            <a:spLocks noGrp="1"/>
          </p:cNvSpPr>
          <p:nvPr/>
        </p:nvSpPr>
        <p:spPr>
          <a:xfrm>
            <a:off x="647700" y="6324600"/>
            <a:ext cx="4762500" cy="228600"/>
          </a:xfrm>
          <a:prstGeom prst="rect">
            <a:avLst/>
          </a:prstGeom>
          <a:noFill/>
          <a:ln w="0">
            <a:noFill/>
          </a:ln>
        </p:spPr>
        <p:txBody>
          <a:bodyPr>
            <a:normAutofit fontScale="80000"/>
          </a:bodyPr>
          <a:lstStyle/>
          <a:p>
            <a:pPr algn="l">
              <a:defRPr sz="1125" b="1">
                <a:solidFill>
                  <a:srgbClr val="CFE4F7"/>
                </a:solidFill>
                <a:latin typeface="Arial"/>
                <a:ea typeface="Arial"/>
                <a:cs typeface="Arial"/>
              </a:defRPr>
            </a:pPr>
            <a:r>
              <a:rPr sz="1125" b="1">
                <a:solidFill>
                  <a:srgbClr val="CFE4F7"/>
                </a:solidFill>
                <a:latin typeface="Arial"/>
                <a:ea typeface="Arial"/>
                <a:cs typeface="Arial"/>
              </a:rPr>
              <a:t>Michael Yaacoub | Sr Solution Engineer</a:t>
            </a:r>
          </a:p>
        </p:txBody>
      </p:sp>
    </p:spTree>
    <p:extLst>
      <p:ext uri="{BB962C8B-B14F-4D97-AF65-F5344CB8AC3E}">
        <p14:creationId xmlns:p14="http://schemas.microsoft.com/office/powerpoint/2010/main" val="335346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690B6BC-25DA-44A6-B91B-A752EEF71DF9}"/>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9F57564A-362A-4CB9-A57D-DFDFA0820676}"/>
              </a:ext>
            </a:extLst>
          </p:cNvPr>
          <p:cNvSpPr>
            <a:spLocks noGrp="1"/>
          </p:cNvSpPr>
          <p:nvPr/>
        </p:nvSpPr>
        <p:spPr>
          <a:xfrm>
            <a:off x="533400" y="323850"/>
            <a:ext cx="9334500" cy="495300"/>
          </a:xfrm>
          <a:prstGeom prst="rect">
            <a:avLst/>
          </a:prstGeom>
          <a:noFill/>
          <a:ln w="0">
            <a:noFill/>
          </a:ln>
        </p:spPr>
        <p:txBody>
          <a:bodyPr>
            <a:normAutofit/>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Business-unit case: $893K annual run-rate benefit</a:t>
            </a:r>
          </a:p>
        </p:txBody>
      </p:sp>
      <p:sp>
        <p:nvSpPr>
          <p:cNvPr id="3" name="Rectangle 2">
            <a:extLst>
              <a:ext uri="{FF2B5EF4-FFF2-40B4-BE49-F238E27FC236}">
                <a16:creationId xmlns:a16="http://schemas.microsoft.com/office/drawing/2014/main" id="{C9BE7827-A105-4F99-8207-8270A2A893F0}"/>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Illustrative scenario for 100 active users across business functions</a:t>
            </a:r>
          </a:p>
        </p:txBody>
      </p:sp>
      <p:sp>
        <p:nvSpPr>
          <p:cNvPr id="4" name="Rectangle 3">
            <a:extLst>
              <a:ext uri="{FF2B5EF4-FFF2-40B4-BE49-F238E27FC236}">
                <a16:creationId xmlns:a16="http://schemas.microsoft.com/office/drawing/2014/main" id="{4ACD9A8B-1109-47B2-B297-8494EBD9A0B7}"/>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98E0C6C9-EB2D-46C9-80B2-440F5FD2223F}"/>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6D195CBA-4A03-49AB-8416-6A09D10F6BEB}"/>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56936D6E-D877-43B4-9609-F84B2B198445}"/>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14626010-8EC3-43A7-9FD7-E7743B027A80}"/>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B6BD74AC-50EB-4DD9-B451-77F06DEFC1F8}"/>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42F9BC69-D981-43B4-BC89-31885F732471}"/>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029FF415-5AC4-414F-89A0-C5C8A1BDBF5F}"/>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02</a:t>
            </a:r>
          </a:p>
        </p:txBody>
      </p:sp>
      <p:sp>
        <p:nvSpPr>
          <p:cNvPr id="12" name="Rectangle: Rounded Corners 11">
            <a:extLst>
              <a:ext uri="{FF2B5EF4-FFF2-40B4-BE49-F238E27FC236}">
                <a16:creationId xmlns:a16="http://schemas.microsoft.com/office/drawing/2014/main" id="{01F4A4CB-0107-4924-A47E-FC089C7FEC25}"/>
              </a:ext>
            </a:extLst>
          </p:cNvPr>
          <p:cNvSpPr>
            <a:spLocks noGrp="1"/>
          </p:cNvSpPr>
          <p:nvPr/>
        </p:nvSpPr>
        <p:spPr>
          <a:xfrm>
            <a:off x="533400" y="1333500"/>
            <a:ext cx="2590800" cy="1066800"/>
          </a:xfrm>
          <a:prstGeom prst="roundRect">
            <a:avLst>
              <a:gd name="adj" fmla="val 7143"/>
            </a:avLst>
          </a:prstGeom>
          <a:solidFill>
            <a:srgbClr val="FFFFFF"/>
          </a:solidFill>
          <a:ln w="9525">
            <a:solidFill>
              <a:srgbClr val="D5E2EE"/>
            </a:solidFill>
          </a:ln>
        </p:spPr>
        <p:txBody>
          <a:bodyPr/>
          <a:lstStyle/>
          <a:p>
            <a:endParaRPr lang="en-US"/>
          </a:p>
        </p:txBody>
      </p:sp>
      <p:sp>
        <p:nvSpPr>
          <p:cNvPr id="13" name="Rectangle 12">
            <a:extLst>
              <a:ext uri="{FF2B5EF4-FFF2-40B4-BE49-F238E27FC236}">
                <a16:creationId xmlns:a16="http://schemas.microsoft.com/office/drawing/2014/main" id="{FC532B77-251E-4463-BAA0-8D07635BE3A0}"/>
              </a:ext>
            </a:extLst>
          </p:cNvPr>
          <p:cNvSpPr>
            <a:spLocks noGrp="1"/>
          </p:cNvSpPr>
          <p:nvPr/>
        </p:nvSpPr>
        <p:spPr>
          <a:xfrm>
            <a:off x="533400" y="1333500"/>
            <a:ext cx="66675" cy="1066800"/>
          </a:xfrm>
          <a:prstGeom prst="rect">
            <a:avLst/>
          </a:prstGeom>
          <a:solidFill>
            <a:srgbClr val="0F6CBD"/>
          </a:solidFill>
          <a:ln w="0">
            <a:solidFill>
              <a:srgbClr val="0F6CBD"/>
            </a:solidFill>
          </a:ln>
        </p:spPr>
        <p:txBody>
          <a:bodyPr/>
          <a:lstStyle/>
          <a:p>
            <a:endParaRPr lang="en-US"/>
          </a:p>
        </p:txBody>
      </p:sp>
      <p:sp>
        <p:nvSpPr>
          <p:cNvPr id="14" name="Rectangle 13">
            <a:extLst>
              <a:ext uri="{FF2B5EF4-FFF2-40B4-BE49-F238E27FC236}">
                <a16:creationId xmlns:a16="http://schemas.microsoft.com/office/drawing/2014/main" id="{8FF739BA-6B4D-4F47-9787-FDB26EF7507C}"/>
              </a:ext>
            </a:extLst>
          </p:cNvPr>
          <p:cNvSpPr>
            <a:spLocks noGrp="1"/>
          </p:cNvSpPr>
          <p:nvPr/>
        </p:nvSpPr>
        <p:spPr>
          <a:xfrm>
            <a:off x="762000" y="1485900"/>
            <a:ext cx="2190750" cy="228600"/>
          </a:xfrm>
          <a:prstGeom prst="rect">
            <a:avLst/>
          </a:prstGeom>
          <a:noFill/>
          <a:ln w="0">
            <a:noFill/>
          </a:ln>
        </p:spPr>
        <p:txBody>
          <a:bodyPr>
            <a:normAutofit fontScale="92308"/>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MONTHLY CAPACITY VALUE</a:t>
            </a:r>
          </a:p>
        </p:txBody>
      </p:sp>
      <p:sp>
        <p:nvSpPr>
          <p:cNvPr id="15" name="Rectangle 14">
            <a:extLst>
              <a:ext uri="{FF2B5EF4-FFF2-40B4-BE49-F238E27FC236}">
                <a16:creationId xmlns:a16="http://schemas.microsoft.com/office/drawing/2014/main" id="{AF1E7B41-C322-4EA9-A5C2-8A0FCB3273E9}"/>
              </a:ext>
            </a:extLst>
          </p:cNvPr>
          <p:cNvSpPr>
            <a:spLocks noGrp="1"/>
          </p:cNvSpPr>
          <p:nvPr/>
        </p:nvSpPr>
        <p:spPr>
          <a:xfrm>
            <a:off x="762000" y="1733550"/>
            <a:ext cx="219075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$84.4K</a:t>
            </a:r>
          </a:p>
        </p:txBody>
      </p:sp>
      <p:sp>
        <p:nvSpPr>
          <p:cNvPr id="16" name="Rectangle 15">
            <a:extLst>
              <a:ext uri="{FF2B5EF4-FFF2-40B4-BE49-F238E27FC236}">
                <a16:creationId xmlns:a16="http://schemas.microsoft.com/office/drawing/2014/main" id="{3B203872-DEB2-404C-999F-B9A80ADF8D82}"/>
              </a:ext>
            </a:extLst>
          </p:cNvPr>
          <p:cNvSpPr>
            <a:spLocks noGrp="1"/>
          </p:cNvSpPr>
          <p:nvPr/>
        </p:nvSpPr>
        <p:spPr>
          <a:xfrm>
            <a:off x="762000" y="2133600"/>
            <a:ext cx="219075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1,125 productive hours released</a:t>
            </a:r>
          </a:p>
        </p:txBody>
      </p:sp>
      <p:sp>
        <p:nvSpPr>
          <p:cNvPr id="17" name="Rectangle: Rounded Corners 16">
            <a:extLst>
              <a:ext uri="{FF2B5EF4-FFF2-40B4-BE49-F238E27FC236}">
                <a16:creationId xmlns:a16="http://schemas.microsoft.com/office/drawing/2014/main" id="{A2CF7A0B-7C99-4F52-9E22-1B395C24740B}"/>
              </a:ext>
            </a:extLst>
          </p:cNvPr>
          <p:cNvSpPr>
            <a:spLocks noGrp="1"/>
          </p:cNvSpPr>
          <p:nvPr/>
        </p:nvSpPr>
        <p:spPr>
          <a:xfrm>
            <a:off x="3295650" y="1333500"/>
            <a:ext cx="2590800" cy="1066800"/>
          </a:xfrm>
          <a:prstGeom prst="roundRect">
            <a:avLst>
              <a:gd name="adj" fmla="val 7143"/>
            </a:avLst>
          </a:prstGeom>
          <a:solidFill>
            <a:srgbClr val="FFFFFF"/>
          </a:solidFill>
          <a:ln w="9525">
            <a:solidFill>
              <a:srgbClr val="D5E2EE"/>
            </a:solidFill>
          </a:ln>
        </p:spPr>
        <p:txBody>
          <a:bodyPr/>
          <a:lstStyle/>
          <a:p>
            <a:endParaRPr lang="en-US"/>
          </a:p>
        </p:txBody>
      </p:sp>
      <p:sp>
        <p:nvSpPr>
          <p:cNvPr id="18" name="Rectangle 17">
            <a:extLst>
              <a:ext uri="{FF2B5EF4-FFF2-40B4-BE49-F238E27FC236}">
                <a16:creationId xmlns:a16="http://schemas.microsoft.com/office/drawing/2014/main" id="{C23D16C2-6F94-4985-88BC-F06FA7ACEFBD}"/>
              </a:ext>
            </a:extLst>
          </p:cNvPr>
          <p:cNvSpPr>
            <a:spLocks noGrp="1"/>
          </p:cNvSpPr>
          <p:nvPr/>
        </p:nvSpPr>
        <p:spPr>
          <a:xfrm>
            <a:off x="3295650" y="1333500"/>
            <a:ext cx="66675" cy="1066800"/>
          </a:xfrm>
          <a:prstGeom prst="rect">
            <a:avLst/>
          </a:prstGeom>
          <a:solidFill>
            <a:srgbClr val="E5532D"/>
          </a:solidFill>
          <a:ln w="0">
            <a:solidFill>
              <a:srgbClr val="E5532D"/>
            </a:solidFill>
          </a:ln>
        </p:spPr>
        <p:txBody>
          <a:bodyPr/>
          <a:lstStyle/>
          <a:p>
            <a:endParaRPr lang="en-US"/>
          </a:p>
        </p:txBody>
      </p:sp>
      <p:sp>
        <p:nvSpPr>
          <p:cNvPr id="19" name="Rectangle 18">
            <a:extLst>
              <a:ext uri="{FF2B5EF4-FFF2-40B4-BE49-F238E27FC236}">
                <a16:creationId xmlns:a16="http://schemas.microsoft.com/office/drawing/2014/main" id="{F3781636-2472-45DF-B6AA-91CF8709A227}"/>
              </a:ext>
            </a:extLst>
          </p:cNvPr>
          <p:cNvSpPr>
            <a:spLocks noGrp="1"/>
          </p:cNvSpPr>
          <p:nvPr/>
        </p:nvSpPr>
        <p:spPr>
          <a:xfrm>
            <a:off x="3524250" y="1485900"/>
            <a:ext cx="2190750" cy="228600"/>
          </a:xfrm>
          <a:prstGeom prst="rect">
            <a:avLst/>
          </a:prstGeom>
          <a:noFill/>
          <a:ln w="0">
            <a:noFill/>
          </a:ln>
        </p:spPr>
        <p:txBody>
          <a:bodyPr>
            <a:normAutofit fontScale="92308"/>
          </a:bodyPr>
          <a:lstStyle/>
          <a:p>
            <a:pPr algn="l">
              <a:defRPr sz="975" b="1">
                <a:solidFill>
                  <a:srgbClr val="E5532D"/>
                </a:solidFill>
                <a:latin typeface="Arial"/>
                <a:ea typeface="Arial"/>
                <a:cs typeface="Arial"/>
              </a:defRPr>
            </a:pPr>
            <a:r>
              <a:rPr sz="975" b="1">
                <a:solidFill>
                  <a:srgbClr val="E5532D"/>
                </a:solidFill>
                <a:latin typeface="Arial"/>
                <a:ea typeface="Arial"/>
                <a:cs typeface="Arial"/>
              </a:rPr>
              <a:t>MONTHLY OPERATING COST</a:t>
            </a:r>
          </a:p>
        </p:txBody>
      </p:sp>
      <p:sp>
        <p:nvSpPr>
          <p:cNvPr id="20" name="Rectangle 19">
            <a:extLst>
              <a:ext uri="{FF2B5EF4-FFF2-40B4-BE49-F238E27FC236}">
                <a16:creationId xmlns:a16="http://schemas.microsoft.com/office/drawing/2014/main" id="{F005C88E-892E-4D25-87C7-D02E730FE4A6}"/>
              </a:ext>
            </a:extLst>
          </p:cNvPr>
          <p:cNvSpPr>
            <a:spLocks noGrp="1"/>
          </p:cNvSpPr>
          <p:nvPr/>
        </p:nvSpPr>
        <p:spPr>
          <a:xfrm>
            <a:off x="3524250" y="1733550"/>
            <a:ext cx="219075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$10.0K</a:t>
            </a:r>
          </a:p>
        </p:txBody>
      </p:sp>
      <p:sp>
        <p:nvSpPr>
          <p:cNvPr id="21" name="Rectangle 20">
            <a:extLst>
              <a:ext uri="{FF2B5EF4-FFF2-40B4-BE49-F238E27FC236}">
                <a16:creationId xmlns:a16="http://schemas.microsoft.com/office/drawing/2014/main" id="{C70135D2-8200-46C1-B240-2CA95E2D7593}"/>
              </a:ext>
            </a:extLst>
          </p:cNvPr>
          <p:cNvSpPr>
            <a:spLocks noGrp="1"/>
          </p:cNvSpPr>
          <p:nvPr/>
        </p:nvSpPr>
        <p:spPr>
          <a:xfrm>
            <a:off x="3524250" y="2133600"/>
            <a:ext cx="219075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Platform and operating estimate</a:t>
            </a:r>
          </a:p>
        </p:txBody>
      </p:sp>
      <p:sp>
        <p:nvSpPr>
          <p:cNvPr id="22" name="Rectangle: Rounded Corners 21">
            <a:extLst>
              <a:ext uri="{FF2B5EF4-FFF2-40B4-BE49-F238E27FC236}">
                <a16:creationId xmlns:a16="http://schemas.microsoft.com/office/drawing/2014/main" id="{5939FFFC-1FA9-4518-BC25-1023275CAD79}"/>
              </a:ext>
            </a:extLst>
          </p:cNvPr>
          <p:cNvSpPr>
            <a:spLocks noGrp="1"/>
          </p:cNvSpPr>
          <p:nvPr/>
        </p:nvSpPr>
        <p:spPr>
          <a:xfrm>
            <a:off x="6057900" y="1333500"/>
            <a:ext cx="2590800" cy="1066800"/>
          </a:xfrm>
          <a:prstGeom prst="roundRect">
            <a:avLst>
              <a:gd name="adj" fmla="val 7143"/>
            </a:avLst>
          </a:prstGeom>
          <a:solidFill>
            <a:srgbClr val="FFFFFF"/>
          </a:solidFill>
          <a:ln w="9525">
            <a:solidFill>
              <a:srgbClr val="D5E2EE"/>
            </a:solidFill>
          </a:ln>
        </p:spPr>
        <p:txBody>
          <a:bodyPr/>
          <a:lstStyle/>
          <a:p>
            <a:endParaRPr lang="en-US"/>
          </a:p>
        </p:txBody>
      </p:sp>
      <p:sp>
        <p:nvSpPr>
          <p:cNvPr id="23" name="Rectangle 22">
            <a:extLst>
              <a:ext uri="{FF2B5EF4-FFF2-40B4-BE49-F238E27FC236}">
                <a16:creationId xmlns:a16="http://schemas.microsoft.com/office/drawing/2014/main" id="{1DA6F7E7-2206-4518-92A5-CF0CE25C2BB8}"/>
              </a:ext>
            </a:extLst>
          </p:cNvPr>
          <p:cNvSpPr>
            <a:spLocks noGrp="1"/>
          </p:cNvSpPr>
          <p:nvPr/>
        </p:nvSpPr>
        <p:spPr>
          <a:xfrm>
            <a:off x="6057900" y="1333500"/>
            <a:ext cx="66675" cy="1066800"/>
          </a:xfrm>
          <a:prstGeom prst="rect">
            <a:avLst/>
          </a:prstGeom>
          <a:solidFill>
            <a:srgbClr val="107C10"/>
          </a:solidFill>
          <a:ln w="0">
            <a:solidFill>
              <a:srgbClr val="107C10"/>
            </a:solidFill>
          </a:ln>
        </p:spPr>
        <p:txBody>
          <a:bodyPr/>
          <a:lstStyle/>
          <a:p>
            <a:endParaRPr lang="en-US"/>
          </a:p>
        </p:txBody>
      </p:sp>
      <p:sp>
        <p:nvSpPr>
          <p:cNvPr id="24" name="Rectangle 23">
            <a:extLst>
              <a:ext uri="{FF2B5EF4-FFF2-40B4-BE49-F238E27FC236}">
                <a16:creationId xmlns:a16="http://schemas.microsoft.com/office/drawing/2014/main" id="{F5F42508-1B9E-487E-B523-255B225B8A5F}"/>
              </a:ext>
            </a:extLst>
          </p:cNvPr>
          <p:cNvSpPr>
            <a:spLocks noGrp="1"/>
          </p:cNvSpPr>
          <p:nvPr/>
        </p:nvSpPr>
        <p:spPr>
          <a:xfrm>
            <a:off x="6286500" y="1485900"/>
            <a:ext cx="2190750" cy="228600"/>
          </a:xfrm>
          <a:prstGeom prst="rect">
            <a:avLst/>
          </a:prstGeom>
          <a:noFill/>
          <a:ln w="0">
            <a:noFill/>
          </a:ln>
        </p:spPr>
        <p:txBody>
          <a:bodyPr>
            <a:normAutofit fontScale="92308"/>
          </a:bodyPr>
          <a:lstStyle/>
          <a:p>
            <a:pPr algn="l">
              <a:defRPr sz="975" b="1">
                <a:solidFill>
                  <a:srgbClr val="107C10"/>
                </a:solidFill>
                <a:latin typeface="Arial"/>
                <a:ea typeface="Arial"/>
                <a:cs typeface="Arial"/>
              </a:defRPr>
            </a:pPr>
            <a:r>
              <a:rPr sz="975" b="1">
                <a:solidFill>
                  <a:srgbClr val="107C10"/>
                </a:solidFill>
                <a:latin typeface="Arial"/>
                <a:ea typeface="Arial"/>
                <a:cs typeface="Arial"/>
              </a:rPr>
              <a:t>NET MONTHLY BENEFIT</a:t>
            </a:r>
          </a:p>
        </p:txBody>
      </p:sp>
      <p:sp>
        <p:nvSpPr>
          <p:cNvPr id="25" name="Rectangle 24">
            <a:extLst>
              <a:ext uri="{FF2B5EF4-FFF2-40B4-BE49-F238E27FC236}">
                <a16:creationId xmlns:a16="http://schemas.microsoft.com/office/drawing/2014/main" id="{9DE454D3-C496-48C3-87B7-17712C1FC083}"/>
              </a:ext>
            </a:extLst>
          </p:cNvPr>
          <p:cNvSpPr>
            <a:spLocks noGrp="1"/>
          </p:cNvSpPr>
          <p:nvPr/>
        </p:nvSpPr>
        <p:spPr>
          <a:xfrm>
            <a:off x="6286500" y="1733550"/>
            <a:ext cx="219075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$74.4K</a:t>
            </a:r>
          </a:p>
        </p:txBody>
      </p:sp>
      <p:sp>
        <p:nvSpPr>
          <p:cNvPr id="26" name="Rectangle 25">
            <a:extLst>
              <a:ext uri="{FF2B5EF4-FFF2-40B4-BE49-F238E27FC236}">
                <a16:creationId xmlns:a16="http://schemas.microsoft.com/office/drawing/2014/main" id="{5922ECCF-10B7-4AA2-ABE8-0DBE62C38FCA}"/>
              </a:ext>
            </a:extLst>
          </p:cNvPr>
          <p:cNvSpPr>
            <a:spLocks noGrp="1"/>
          </p:cNvSpPr>
          <p:nvPr/>
        </p:nvSpPr>
        <p:spPr>
          <a:xfrm>
            <a:off x="6286500" y="2133600"/>
            <a:ext cx="219075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Capacity value less recurring cost</a:t>
            </a:r>
          </a:p>
        </p:txBody>
      </p:sp>
      <p:sp>
        <p:nvSpPr>
          <p:cNvPr id="27" name="Rectangle: Rounded Corners 26">
            <a:extLst>
              <a:ext uri="{FF2B5EF4-FFF2-40B4-BE49-F238E27FC236}">
                <a16:creationId xmlns:a16="http://schemas.microsoft.com/office/drawing/2014/main" id="{8DD4AEFE-00CD-4A64-8839-C5EF310F1AED}"/>
              </a:ext>
            </a:extLst>
          </p:cNvPr>
          <p:cNvSpPr>
            <a:spLocks noGrp="1"/>
          </p:cNvSpPr>
          <p:nvPr/>
        </p:nvSpPr>
        <p:spPr>
          <a:xfrm>
            <a:off x="8820150" y="1333500"/>
            <a:ext cx="2838450" cy="1066800"/>
          </a:xfrm>
          <a:prstGeom prst="roundRect">
            <a:avLst>
              <a:gd name="adj" fmla="val 7143"/>
            </a:avLst>
          </a:prstGeom>
          <a:solidFill>
            <a:srgbClr val="FFFFFF"/>
          </a:solidFill>
          <a:ln w="9525">
            <a:solidFill>
              <a:srgbClr val="D5E2EE"/>
            </a:solidFill>
          </a:ln>
        </p:spPr>
        <p:txBody>
          <a:bodyPr/>
          <a:lstStyle/>
          <a:p>
            <a:endParaRPr lang="en-US"/>
          </a:p>
        </p:txBody>
      </p:sp>
      <p:sp>
        <p:nvSpPr>
          <p:cNvPr id="28" name="Rectangle 27">
            <a:extLst>
              <a:ext uri="{FF2B5EF4-FFF2-40B4-BE49-F238E27FC236}">
                <a16:creationId xmlns:a16="http://schemas.microsoft.com/office/drawing/2014/main" id="{48A29E80-3F00-436E-BFA1-A0A7C16CBFE8}"/>
              </a:ext>
            </a:extLst>
          </p:cNvPr>
          <p:cNvSpPr>
            <a:spLocks noGrp="1"/>
          </p:cNvSpPr>
          <p:nvPr/>
        </p:nvSpPr>
        <p:spPr>
          <a:xfrm>
            <a:off x="8820150" y="1333500"/>
            <a:ext cx="66675" cy="1066800"/>
          </a:xfrm>
          <a:prstGeom prst="rect">
            <a:avLst/>
          </a:prstGeom>
          <a:solidFill>
            <a:srgbClr val="742774"/>
          </a:solidFill>
          <a:ln w="0">
            <a:solidFill>
              <a:srgbClr val="742774"/>
            </a:solidFill>
          </a:ln>
        </p:spPr>
        <p:txBody>
          <a:bodyPr/>
          <a:lstStyle/>
          <a:p>
            <a:endParaRPr lang="en-US"/>
          </a:p>
        </p:txBody>
      </p:sp>
      <p:sp>
        <p:nvSpPr>
          <p:cNvPr id="29" name="Rectangle 28">
            <a:extLst>
              <a:ext uri="{FF2B5EF4-FFF2-40B4-BE49-F238E27FC236}">
                <a16:creationId xmlns:a16="http://schemas.microsoft.com/office/drawing/2014/main" id="{4732FA88-7AED-4C15-A912-2433DCD28AB4}"/>
              </a:ext>
            </a:extLst>
          </p:cNvPr>
          <p:cNvSpPr>
            <a:spLocks noGrp="1"/>
          </p:cNvSpPr>
          <p:nvPr/>
        </p:nvSpPr>
        <p:spPr>
          <a:xfrm>
            <a:off x="9048750" y="1485900"/>
            <a:ext cx="2438400" cy="228600"/>
          </a:xfrm>
          <a:prstGeom prst="rect">
            <a:avLst/>
          </a:prstGeom>
          <a:noFill/>
          <a:ln w="0">
            <a:noFill/>
          </a:ln>
        </p:spPr>
        <p:txBody>
          <a:bodyPr>
            <a:normAutofit fontScale="92308"/>
          </a:bodyPr>
          <a:lstStyle/>
          <a:p>
            <a:pPr algn="l">
              <a:defRPr sz="975" b="1">
                <a:solidFill>
                  <a:srgbClr val="742774"/>
                </a:solidFill>
                <a:latin typeface="Arial"/>
                <a:ea typeface="Arial"/>
                <a:cs typeface="Arial"/>
              </a:defRPr>
            </a:pPr>
            <a:r>
              <a:rPr sz="975" b="1">
                <a:solidFill>
                  <a:srgbClr val="742774"/>
                </a:solidFill>
                <a:latin typeface="Arial"/>
                <a:ea typeface="Arial"/>
                <a:cs typeface="Arial"/>
              </a:rPr>
              <a:t>ANNUAL RUN-RATE BENEFIT</a:t>
            </a:r>
          </a:p>
        </p:txBody>
      </p:sp>
      <p:sp>
        <p:nvSpPr>
          <p:cNvPr id="30" name="Rectangle 29">
            <a:extLst>
              <a:ext uri="{FF2B5EF4-FFF2-40B4-BE49-F238E27FC236}">
                <a16:creationId xmlns:a16="http://schemas.microsoft.com/office/drawing/2014/main" id="{C75A8BD6-9AE0-45B1-B778-14A4BDD6AA62}"/>
              </a:ext>
            </a:extLst>
          </p:cNvPr>
          <p:cNvSpPr>
            <a:spLocks noGrp="1"/>
          </p:cNvSpPr>
          <p:nvPr/>
        </p:nvSpPr>
        <p:spPr>
          <a:xfrm>
            <a:off x="9048750" y="1733550"/>
            <a:ext cx="243840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$892.5K</a:t>
            </a:r>
          </a:p>
        </p:txBody>
      </p:sp>
      <p:sp>
        <p:nvSpPr>
          <p:cNvPr id="31" name="Rectangle 30">
            <a:extLst>
              <a:ext uri="{FF2B5EF4-FFF2-40B4-BE49-F238E27FC236}">
                <a16:creationId xmlns:a16="http://schemas.microsoft.com/office/drawing/2014/main" id="{E8BCA53F-DEDA-4465-AAD1-587D5D0D126F}"/>
              </a:ext>
            </a:extLst>
          </p:cNvPr>
          <p:cNvSpPr>
            <a:spLocks noGrp="1"/>
          </p:cNvSpPr>
          <p:nvPr/>
        </p:nvSpPr>
        <p:spPr>
          <a:xfrm>
            <a:off x="9048750" y="2133600"/>
            <a:ext cx="243840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Before one-time implementation cost</a:t>
            </a:r>
          </a:p>
        </p:txBody>
      </p:sp>
      <p:sp>
        <p:nvSpPr>
          <p:cNvPr id="32" name="Rectangle 31">
            <a:extLst>
              <a:ext uri="{FF2B5EF4-FFF2-40B4-BE49-F238E27FC236}">
                <a16:creationId xmlns:a16="http://schemas.microsoft.com/office/drawing/2014/main" id="{D0370533-5DAD-464E-B253-AC6BD67605B7}"/>
              </a:ext>
            </a:extLst>
          </p:cNvPr>
          <p:cNvSpPr>
            <a:spLocks noGrp="1"/>
          </p:cNvSpPr>
          <p:nvPr/>
        </p:nvSpPr>
        <p:spPr>
          <a:xfrm>
            <a:off x="533400" y="2781300"/>
            <a:ext cx="228600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INVESTMENT RESULT</a:t>
            </a:r>
          </a:p>
        </p:txBody>
      </p:sp>
      <p:sp>
        <p:nvSpPr>
          <p:cNvPr id="33" name="Rectangle 32">
            <a:extLst>
              <a:ext uri="{FF2B5EF4-FFF2-40B4-BE49-F238E27FC236}">
                <a16:creationId xmlns:a16="http://schemas.microsoft.com/office/drawing/2014/main" id="{D7948541-B3D4-4DAC-819A-72867306BBE9}"/>
              </a:ext>
            </a:extLst>
          </p:cNvPr>
          <p:cNvSpPr>
            <a:spLocks noGrp="1"/>
          </p:cNvSpPr>
          <p:nvPr/>
        </p:nvSpPr>
        <p:spPr>
          <a:xfrm>
            <a:off x="533400" y="3086100"/>
            <a:ext cx="7239000" cy="704850"/>
          </a:xfrm>
          <a:prstGeom prst="rect">
            <a:avLst/>
          </a:prstGeom>
          <a:noFill/>
          <a:ln w="0">
            <a:noFill/>
          </a:ln>
        </p:spPr>
        <p:txBody>
          <a:bodyPr>
            <a:normAutofit fontScale="94126"/>
          </a:bodyPr>
          <a:lstStyle/>
          <a:p>
            <a:pPr algn="l">
              <a:defRPr sz="1875" b="1">
                <a:solidFill>
                  <a:srgbClr val="17324D"/>
                </a:solidFill>
                <a:latin typeface="Arial"/>
                <a:ea typeface="Arial"/>
                <a:cs typeface="Arial"/>
              </a:defRPr>
            </a:pPr>
            <a:r>
              <a:rPr sz="1875" b="1">
                <a:solidFill>
                  <a:srgbClr val="17324D"/>
                </a:solidFill>
                <a:latin typeface="Arial"/>
                <a:ea typeface="Arial"/>
                <a:cs typeface="Arial"/>
              </a:rPr>
              <a:t>The model reaches payback in 2.4 months and produces $717.5K of net benefit in year one after the $175K implementation estimate.</a:t>
            </a:r>
          </a:p>
        </p:txBody>
      </p:sp>
      <p:sp>
        <p:nvSpPr>
          <p:cNvPr id="34" name="Rectangle: Rounded Corners 33">
            <a:extLst>
              <a:ext uri="{FF2B5EF4-FFF2-40B4-BE49-F238E27FC236}">
                <a16:creationId xmlns:a16="http://schemas.microsoft.com/office/drawing/2014/main" id="{3C404407-5DA4-4F53-BA3B-6D1E4ECF446E}"/>
              </a:ext>
            </a:extLst>
          </p:cNvPr>
          <p:cNvSpPr>
            <a:spLocks noGrp="1"/>
          </p:cNvSpPr>
          <p:nvPr/>
        </p:nvSpPr>
        <p:spPr>
          <a:xfrm>
            <a:off x="8153400" y="2914650"/>
            <a:ext cx="3505200" cy="1504950"/>
          </a:xfrm>
          <a:prstGeom prst="roundRect">
            <a:avLst>
              <a:gd name="adj" fmla="val 5063"/>
            </a:avLst>
          </a:prstGeom>
          <a:solidFill>
            <a:srgbClr val="EFF6FC"/>
          </a:solidFill>
          <a:ln w="9525">
            <a:solidFill>
              <a:srgbClr val="BAD7EF"/>
            </a:solidFill>
          </a:ln>
        </p:spPr>
        <p:txBody>
          <a:bodyPr/>
          <a:lstStyle/>
          <a:p>
            <a:endParaRPr lang="en-US"/>
          </a:p>
        </p:txBody>
      </p:sp>
      <p:sp>
        <p:nvSpPr>
          <p:cNvPr id="35" name="Rectangle 34">
            <a:extLst>
              <a:ext uri="{FF2B5EF4-FFF2-40B4-BE49-F238E27FC236}">
                <a16:creationId xmlns:a16="http://schemas.microsoft.com/office/drawing/2014/main" id="{8FE10358-8C54-414D-B658-DBCBE60D8699}"/>
              </a:ext>
            </a:extLst>
          </p:cNvPr>
          <p:cNvSpPr>
            <a:spLocks noGrp="1"/>
          </p:cNvSpPr>
          <p:nvPr/>
        </p:nvSpPr>
        <p:spPr>
          <a:xfrm>
            <a:off x="8401050" y="3143250"/>
            <a:ext cx="1428750" cy="228600"/>
          </a:xfrm>
          <a:prstGeom prst="rect">
            <a:avLst/>
          </a:prstGeom>
          <a:noFill/>
          <a:ln w="0">
            <a:noFill/>
          </a:ln>
        </p:spPr>
        <p:txBody>
          <a:bodyPr>
            <a:normAutofit fontScale="80000"/>
          </a:bodyPr>
          <a:lstStyle/>
          <a:p>
            <a:pPr algn="l">
              <a:defRPr sz="1125" b="1">
                <a:solidFill>
                  <a:srgbClr val="0F6CBD"/>
                </a:solidFill>
                <a:latin typeface="Arial"/>
                <a:ea typeface="Arial"/>
                <a:cs typeface="Arial"/>
              </a:defRPr>
            </a:pPr>
            <a:r>
              <a:rPr sz="1125" b="1">
                <a:solidFill>
                  <a:srgbClr val="0F6CBD"/>
                </a:solidFill>
                <a:latin typeface="Arial"/>
                <a:ea typeface="Arial"/>
                <a:cs typeface="Arial"/>
              </a:rPr>
              <a:t>Year-one ROI</a:t>
            </a:r>
          </a:p>
        </p:txBody>
      </p:sp>
      <p:sp>
        <p:nvSpPr>
          <p:cNvPr id="36" name="Rectangle 35">
            <a:extLst>
              <a:ext uri="{FF2B5EF4-FFF2-40B4-BE49-F238E27FC236}">
                <a16:creationId xmlns:a16="http://schemas.microsoft.com/office/drawing/2014/main" id="{316B1042-F391-479D-A090-4F334BD84BBD}"/>
              </a:ext>
            </a:extLst>
          </p:cNvPr>
          <p:cNvSpPr>
            <a:spLocks noGrp="1"/>
          </p:cNvSpPr>
          <p:nvPr/>
        </p:nvSpPr>
        <p:spPr>
          <a:xfrm>
            <a:off x="8401050" y="3429000"/>
            <a:ext cx="1428750" cy="514350"/>
          </a:xfrm>
          <a:prstGeom prst="rect">
            <a:avLst/>
          </a:prstGeom>
          <a:noFill/>
          <a:ln w="0">
            <a:noFill/>
          </a:ln>
        </p:spPr>
        <p:txBody>
          <a:bodyPr>
            <a:normAutofit fontScale="88095"/>
          </a:bodyPr>
          <a:lstStyle/>
          <a:p>
            <a:pPr algn="l">
              <a:defRPr sz="3150" b="1">
                <a:solidFill>
                  <a:srgbClr val="17324D"/>
                </a:solidFill>
                <a:latin typeface="Arial"/>
                <a:ea typeface="Arial"/>
                <a:cs typeface="Arial"/>
              </a:defRPr>
            </a:pPr>
            <a:r>
              <a:rPr sz="3150" b="1">
                <a:solidFill>
                  <a:srgbClr val="17324D"/>
                </a:solidFill>
                <a:latin typeface="Arial"/>
                <a:ea typeface="Arial"/>
                <a:cs typeface="Arial"/>
              </a:rPr>
              <a:t>243%</a:t>
            </a:r>
          </a:p>
        </p:txBody>
      </p:sp>
      <p:sp>
        <p:nvSpPr>
          <p:cNvPr id="37" name="Rectangle 36">
            <a:extLst>
              <a:ext uri="{FF2B5EF4-FFF2-40B4-BE49-F238E27FC236}">
                <a16:creationId xmlns:a16="http://schemas.microsoft.com/office/drawing/2014/main" id="{9D236D9B-1419-4C22-860C-08E46D496804}"/>
              </a:ext>
            </a:extLst>
          </p:cNvPr>
          <p:cNvSpPr>
            <a:spLocks noGrp="1"/>
          </p:cNvSpPr>
          <p:nvPr/>
        </p:nvSpPr>
        <p:spPr>
          <a:xfrm>
            <a:off x="8401050" y="3981450"/>
            <a:ext cx="2857500" cy="304800"/>
          </a:xfrm>
          <a:prstGeom prst="rect">
            <a:avLst/>
          </a:prstGeom>
          <a:noFill/>
          <a:ln w="0">
            <a:noFill/>
          </a:ln>
        </p:spPr>
        <p:txBody>
          <a:bodyPr>
            <a:normAutofit/>
          </a:bodyPr>
          <a:lstStyle/>
          <a:p>
            <a:pPr algn="l">
              <a:defRPr sz="1050" b="0">
                <a:solidFill>
                  <a:srgbClr val="526A80"/>
                </a:solidFill>
                <a:latin typeface="Arial"/>
                <a:ea typeface="Arial"/>
                <a:cs typeface="Arial"/>
              </a:defRPr>
            </a:pPr>
            <a:r>
              <a:rPr sz="1050" b="0">
                <a:solidFill>
                  <a:srgbClr val="526A80"/>
                </a:solidFill>
                <a:latin typeface="Arial"/>
                <a:ea typeface="Arial"/>
                <a:cs typeface="Arial"/>
              </a:rPr>
              <a:t>Net benefit divided by total year-one cost</a:t>
            </a:r>
          </a:p>
        </p:txBody>
      </p:sp>
      <p:sp>
        <p:nvSpPr>
          <p:cNvPr id="38" name="Rectangle 37">
            <a:extLst>
              <a:ext uri="{FF2B5EF4-FFF2-40B4-BE49-F238E27FC236}">
                <a16:creationId xmlns:a16="http://schemas.microsoft.com/office/drawing/2014/main" id="{9DB03AD6-C27F-4062-AF8C-70B3A853B571}"/>
              </a:ext>
            </a:extLst>
          </p:cNvPr>
          <p:cNvSpPr>
            <a:spLocks noGrp="1"/>
          </p:cNvSpPr>
          <p:nvPr/>
        </p:nvSpPr>
        <p:spPr>
          <a:xfrm>
            <a:off x="533400" y="4476750"/>
            <a:ext cx="11125200" cy="9525"/>
          </a:xfrm>
          <a:prstGeom prst="rect">
            <a:avLst/>
          </a:prstGeom>
          <a:solidFill>
            <a:srgbClr val="D5E2EE"/>
          </a:solidFill>
          <a:ln w="0">
            <a:solidFill>
              <a:srgbClr val="D5E2EE"/>
            </a:solidFill>
          </a:ln>
        </p:spPr>
        <p:txBody>
          <a:bodyPr/>
          <a:lstStyle/>
          <a:p>
            <a:endParaRPr lang="en-US"/>
          </a:p>
        </p:txBody>
      </p:sp>
      <p:sp>
        <p:nvSpPr>
          <p:cNvPr id="39" name="Rectangle 38">
            <a:extLst>
              <a:ext uri="{FF2B5EF4-FFF2-40B4-BE49-F238E27FC236}">
                <a16:creationId xmlns:a16="http://schemas.microsoft.com/office/drawing/2014/main" id="{F260DECC-08DA-40DA-B561-4C2B0011DB3B}"/>
              </a:ext>
            </a:extLst>
          </p:cNvPr>
          <p:cNvSpPr>
            <a:spLocks noGrp="1"/>
          </p:cNvSpPr>
          <p:nvPr/>
        </p:nvSpPr>
        <p:spPr>
          <a:xfrm>
            <a:off x="533400" y="4705350"/>
            <a:ext cx="11125200" cy="533400"/>
          </a:xfrm>
          <a:prstGeom prst="rect">
            <a:avLst/>
          </a:prstGeom>
          <a:noFill/>
          <a:ln w="0">
            <a:noFill/>
          </a:ln>
        </p:spPr>
        <p:txBody>
          <a:bodyPr>
            <a:normAutofit/>
          </a:bodyPr>
          <a:lstStyle/>
          <a:p>
            <a:pPr algn="l">
              <a:defRPr sz="1350" b="0">
                <a:solidFill>
                  <a:srgbClr val="526A80"/>
                </a:solidFill>
                <a:latin typeface="Arial"/>
                <a:ea typeface="Arial"/>
                <a:cs typeface="Arial"/>
              </a:defRPr>
            </a:pPr>
            <a:r>
              <a:rPr sz="1350" b="0">
                <a:solidFill>
                  <a:srgbClr val="526A80"/>
                </a:solidFill>
                <a:latin typeface="Arial"/>
                <a:ea typeface="Arial"/>
                <a:cs typeface="Arial"/>
              </a:rPr>
              <a:t>Financial value represents productive capacity that teams can redirect to selling, customer planning, operations, and decision support. It does not assume a payroll reduction.</a:t>
            </a:r>
          </a:p>
        </p:txBody>
      </p:sp>
      <p:sp>
        <p:nvSpPr>
          <p:cNvPr id="40" name="Rectangle 39">
            <a:extLst>
              <a:ext uri="{FF2B5EF4-FFF2-40B4-BE49-F238E27FC236}">
                <a16:creationId xmlns:a16="http://schemas.microsoft.com/office/drawing/2014/main" id="{44A3A19E-A378-4A8D-A6A9-BE7F5CE17A6C}"/>
              </a:ext>
            </a:extLst>
          </p:cNvPr>
          <p:cNvSpPr>
            <a:spLocks noGrp="1"/>
          </p:cNvSpPr>
          <p:nvPr/>
        </p:nvSpPr>
        <p:spPr>
          <a:xfrm>
            <a:off x="533400" y="5524500"/>
            <a:ext cx="1333500" cy="228600"/>
          </a:xfrm>
          <a:prstGeom prst="rect">
            <a:avLst/>
          </a:prstGeom>
          <a:noFill/>
          <a:ln w="0">
            <a:noFill/>
          </a:ln>
        </p:spPr>
        <p:txBody>
          <a:bodyPr>
            <a:normAutofit fontScale="85714"/>
          </a:bodyPr>
          <a:lstStyle/>
          <a:p>
            <a:pPr algn="l">
              <a:defRPr sz="1050" b="1">
                <a:solidFill>
                  <a:srgbClr val="0F6CBD"/>
                </a:solidFill>
                <a:latin typeface="Arial"/>
                <a:ea typeface="Arial"/>
                <a:cs typeface="Arial"/>
              </a:defRPr>
            </a:pPr>
            <a:r>
              <a:rPr sz="1050" b="1">
                <a:solidFill>
                  <a:srgbClr val="0F6CBD"/>
                </a:solidFill>
                <a:latin typeface="Arial"/>
                <a:ea typeface="Arial"/>
                <a:cs typeface="Arial"/>
              </a:rPr>
              <a:t>Base formula</a:t>
            </a:r>
          </a:p>
        </p:txBody>
      </p:sp>
      <p:sp>
        <p:nvSpPr>
          <p:cNvPr id="41" name="Rectangle 40">
            <a:extLst>
              <a:ext uri="{FF2B5EF4-FFF2-40B4-BE49-F238E27FC236}">
                <a16:creationId xmlns:a16="http://schemas.microsoft.com/office/drawing/2014/main" id="{ED6477FF-428E-433D-971B-5530FB762F9C}"/>
              </a:ext>
            </a:extLst>
          </p:cNvPr>
          <p:cNvSpPr>
            <a:spLocks noGrp="1"/>
          </p:cNvSpPr>
          <p:nvPr/>
        </p:nvSpPr>
        <p:spPr>
          <a:xfrm>
            <a:off x="1809750" y="5486400"/>
            <a:ext cx="8763000" cy="323850"/>
          </a:xfrm>
          <a:prstGeom prst="rect">
            <a:avLst/>
          </a:prstGeom>
          <a:noFill/>
          <a:ln w="0">
            <a:noFill/>
          </a:ln>
        </p:spPr>
        <p:txBody>
          <a:bodyPr>
            <a:normAutofit/>
          </a:bodyPr>
          <a:lstStyle/>
          <a:p>
            <a:pPr algn="l">
              <a:defRPr sz="1500" b="1">
                <a:solidFill>
                  <a:srgbClr val="17324D"/>
                </a:solidFill>
                <a:latin typeface="Arial"/>
                <a:ea typeface="Arial"/>
                <a:cs typeface="Arial"/>
              </a:defRPr>
            </a:pPr>
            <a:r>
              <a:rPr sz="1500" b="1">
                <a:solidFill>
                  <a:srgbClr val="17324D"/>
                </a:solidFill>
                <a:latin typeface="Arial"/>
                <a:ea typeface="Arial"/>
                <a:cs typeface="Arial"/>
              </a:rPr>
              <a:t>100 users × 5 decks per month × 3 hours saved × $75 per hour × 75% productive usage</a:t>
            </a:r>
          </a:p>
        </p:txBody>
      </p:sp>
    </p:spTree>
    <p:extLst>
      <p:ext uri="{BB962C8B-B14F-4D97-AF65-F5344CB8AC3E}">
        <p14:creationId xmlns:p14="http://schemas.microsoft.com/office/powerpoint/2010/main" val="2089700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D3911915-6704-477E-90D0-77E1E5CD4BAB}"/>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1C53BEBD-74FD-4B31-8783-FA2B1C018400}"/>
              </a:ext>
            </a:extLst>
          </p:cNvPr>
          <p:cNvSpPr>
            <a:spLocks noGrp="1"/>
          </p:cNvSpPr>
          <p:nvPr/>
        </p:nvSpPr>
        <p:spPr>
          <a:xfrm>
            <a:off x="533400" y="323850"/>
            <a:ext cx="9334500" cy="495300"/>
          </a:xfrm>
          <a:prstGeom prst="rect">
            <a:avLst/>
          </a:prstGeom>
          <a:noFill/>
          <a:ln w="0">
            <a:noFill/>
          </a:ln>
        </p:spPr>
        <p:txBody>
          <a:bodyPr>
            <a:normAutofit fontScale="89111"/>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Each completed deck releases about three hours of employee capacity</a:t>
            </a:r>
          </a:p>
        </p:txBody>
      </p:sp>
      <p:sp>
        <p:nvSpPr>
          <p:cNvPr id="3" name="Rectangle 2">
            <a:extLst>
              <a:ext uri="{FF2B5EF4-FFF2-40B4-BE49-F238E27FC236}">
                <a16:creationId xmlns:a16="http://schemas.microsoft.com/office/drawing/2014/main" id="{431E016A-65A0-4572-B050-03B9E0456658}"/>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The largest savings come from data preparation, chart creation, and revision cycles</a:t>
            </a:r>
          </a:p>
        </p:txBody>
      </p:sp>
      <p:sp>
        <p:nvSpPr>
          <p:cNvPr id="4" name="Rectangle 3">
            <a:extLst>
              <a:ext uri="{FF2B5EF4-FFF2-40B4-BE49-F238E27FC236}">
                <a16:creationId xmlns:a16="http://schemas.microsoft.com/office/drawing/2014/main" id="{39F61CCB-A529-4AA0-AE69-BD21C0738104}"/>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B03E5812-79E3-4596-9FE4-09927086C812}"/>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D3AD8602-8D3C-46BC-8E97-62FF595DE906}"/>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3616633A-5AA6-494B-A5D2-8CD909760836}"/>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D0EDD32A-6C2D-4F16-983F-067A7B22D5F8}"/>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CD02C98D-F86F-4D81-9802-5F9A58DEF364}"/>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EC487054-474C-4FCA-BEA4-6BF20CB5ECAB}"/>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B929CF76-7034-4B59-A123-AC32AA076EEA}"/>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03</a:t>
            </a:r>
          </a:p>
        </p:txBody>
      </p:sp>
      <p:graphicFrame>
        <p:nvGraphicFramePr>
          <p:cNvPr id="39" name="Chart"/>
          <p:cNvGraphicFramePr/>
          <p:nvPr/>
        </p:nvGraphicFramePr>
        <p:xfrm>
          <a:off x="666750" y="1524000"/>
          <a:ext cx="66675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id="{E20346AF-64B3-4CB0-A0EA-9B5D020C74C9}"/>
              </a:ext>
            </a:extLst>
          </p:cNvPr>
          <p:cNvSpPr>
            <a:spLocks noGrp="1"/>
          </p:cNvSpPr>
          <p:nvPr/>
        </p:nvSpPr>
        <p:spPr>
          <a:xfrm>
            <a:off x="7905750" y="1476375"/>
            <a:ext cx="285750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WHAT CHANGES</a:t>
            </a:r>
          </a:p>
        </p:txBody>
      </p:sp>
      <p:sp>
        <p:nvSpPr>
          <p:cNvPr id="14" name="Rectangle: Rounded Corners 13">
            <a:extLst>
              <a:ext uri="{FF2B5EF4-FFF2-40B4-BE49-F238E27FC236}">
                <a16:creationId xmlns:a16="http://schemas.microsoft.com/office/drawing/2014/main" id="{73E72AF9-CDF1-49CE-8B94-2B48291E0C11}"/>
              </a:ext>
            </a:extLst>
          </p:cNvPr>
          <p:cNvSpPr>
            <a:spLocks noGrp="1"/>
          </p:cNvSpPr>
          <p:nvPr/>
        </p:nvSpPr>
        <p:spPr>
          <a:xfrm>
            <a:off x="7905750" y="1809750"/>
            <a:ext cx="3752850" cy="685800"/>
          </a:xfrm>
          <a:prstGeom prst="roundRect">
            <a:avLst>
              <a:gd name="adj" fmla="val 11111"/>
            </a:avLst>
          </a:prstGeom>
          <a:solidFill>
            <a:srgbClr val="F7FAFD"/>
          </a:solidFill>
          <a:ln w="9525">
            <a:solidFill>
              <a:srgbClr val="D5E2EE"/>
            </a:solidFill>
          </a:ln>
        </p:spPr>
        <p:txBody>
          <a:bodyPr/>
          <a:lstStyle/>
          <a:p>
            <a:endParaRPr lang="en-US"/>
          </a:p>
        </p:txBody>
      </p:sp>
      <p:sp>
        <p:nvSpPr>
          <p:cNvPr id="15" name="Rectangle 14">
            <a:extLst>
              <a:ext uri="{FF2B5EF4-FFF2-40B4-BE49-F238E27FC236}">
                <a16:creationId xmlns:a16="http://schemas.microsoft.com/office/drawing/2014/main" id="{254D370A-16C1-4F75-9402-5CC094956F96}"/>
              </a:ext>
            </a:extLst>
          </p:cNvPr>
          <p:cNvSpPr>
            <a:spLocks noGrp="1"/>
          </p:cNvSpPr>
          <p:nvPr/>
        </p:nvSpPr>
        <p:spPr>
          <a:xfrm>
            <a:off x="8115300" y="1943100"/>
            <a:ext cx="1143000" cy="209550"/>
          </a:xfrm>
          <a:prstGeom prst="rect">
            <a:avLst/>
          </a:prstGeom>
          <a:noFill/>
          <a:ln w="0">
            <a:noFill/>
          </a:ln>
        </p:spPr>
        <p:txBody>
          <a:bodyPr>
            <a:normAutofit fontScale="6458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Data preparation</a:t>
            </a:r>
          </a:p>
        </p:txBody>
      </p:sp>
      <p:sp>
        <p:nvSpPr>
          <p:cNvPr id="16" name="Rectangle 15">
            <a:extLst>
              <a:ext uri="{FF2B5EF4-FFF2-40B4-BE49-F238E27FC236}">
                <a16:creationId xmlns:a16="http://schemas.microsoft.com/office/drawing/2014/main" id="{F9603106-F151-412F-AAD3-A807BC7DE334}"/>
              </a:ext>
            </a:extLst>
          </p:cNvPr>
          <p:cNvSpPr>
            <a:spLocks noGrp="1"/>
          </p:cNvSpPr>
          <p:nvPr/>
        </p:nvSpPr>
        <p:spPr>
          <a:xfrm>
            <a:off x="9258300" y="1933575"/>
            <a:ext cx="2171700" cy="419100"/>
          </a:xfrm>
          <a:prstGeom prst="rect">
            <a:avLst/>
          </a:prstGeom>
          <a:noFill/>
          <a:ln w="0">
            <a:noFill/>
          </a:ln>
        </p:spPr>
        <p:txBody>
          <a:bodyPr>
            <a:normAutofit fontScale="95556"/>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Agent calls governed APIs instead of manual exports</a:t>
            </a:r>
          </a:p>
        </p:txBody>
      </p:sp>
      <p:sp>
        <p:nvSpPr>
          <p:cNvPr id="17" name="Rectangle: Rounded Corners 16">
            <a:extLst>
              <a:ext uri="{FF2B5EF4-FFF2-40B4-BE49-F238E27FC236}">
                <a16:creationId xmlns:a16="http://schemas.microsoft.com/office/drawing/2014/main" id="{034BCFAD-6D7B-4D7E-8968-0566DAEC3998}"/>
              </a:ext>
            </a:extLst>
          </p:cNvPr>
          <p:cNvSpPr>
            <a:spLocks noGrp="1"/>
          </p:cNvSpPr>
          <p:nvPr/>
        </p:nvSpPr>
        <p:spPr>
          <a:xfrm>
            <a:off x="7905750" y="2647950"/>
            <a:ext cx="3752850" cy="685800"/>
          </a:xfrm>
          <a:prstGeom prst="roundRect">
            <a:avLst>
              <a:gd name="adj" fmla="val 11111"/>
            </a:avLst>
          </a:prstGeom>
          <a:solidFill>
            <a:srgbClr val="F7FAFD"/>
          </a:solidFill>
          <a:ln w="9525">
            <a:solidFill>
              <a:srgbClr val="D5E2EE"/>
            </a:solidFill>
          </a:ln>
        </p:spPr>
        <p:txBody>
          <a:bodyPr/>
          <a:lstStyle/>
          <a:p>
            <a:endParaRPr lang="en-US"/>
          </a:p>
        </p:txBody>
      </p:sp>
      <p:sp>
        <p:nvSpPr>
          <p:cNvPr id="18" name="Rectangle 17">
            <a:extLst>
              <a:ext uri="{FF2B5EF4-FFF2-40B4-BE49-F238E27FC236}">
                <a16:creationId xmlns:a16="http://schemas.microsoft.com/office/drawing/2014/main" id="{272A1F6E-32F1-444C-A1C9-7E45B1360D6B}"/>
              </a:ext>
            </a:extLst>
          </p:cNvPr>
          <p:cNvSpPr>
            <a:spLocks noGrp="1"/>
          </p:cNvSpPr>
          <p:nvPr/>
        </p:nvSpPr>
        <p:spPr>
          <a:xfrm>
            <a:off x="8115300" y="2781300"/>
            <a:ext cx="1143000" cy="209550"/>
          </a:xfrm>
          <a:prstGeom prst="rect">
            <a:avLst/>
          </a:prstGeom>
          <a:noFill/>
          <a:ln w="0">
            <a:noFill/>
          </a:ln>
        </p:spPr>
        <p:txBody>
          <a:bodyPr>
            <a:normAutofit fontScale="6458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Analysis</a:t>
            </a:r>
          </a:p>
        </p:txBody>
      </p:sp>
      <p:sp>
        <p:nvSpPr>
          <p:cNvPr id="19" name="Rectangle 18">
            <a:extLst>
              <a:ext uri="{FF2B5EF4-FFF2-40B4-BE49-F238E27FC236}">
                <a16:creationId xmlns:a16="http://schemas.microsoft.com/office/drawing/2014/main" id="{1B6F2DA6-7712-4442-8EB4-5C8904CFEE6A}"/>
              </a:ext>
            </a:extLst>
          </p:cNvPr>
          <p:cNvSpPr>
            <a:spLocks noGrp="1"/>
          </p:cNvSpPr>
          <p:nvPr/>
        </p:nvSpPr>
        <p:spPr>
          <a:xfrm>
            <a:off x="9258300" y="2771775"/>
            <a:ext cx="2171700" cy="419100"/>
          </a:xfrm>
          <a:prstGeom prst="rect">
            <a:avLst/>
          </a:prstGeom>
          <a:noFill/>
          <a:ln w="0">
            <a:noFill/>
          </a:ln>
        </p:spPr>
        <p:txBody>
          <a:bodyPr>
            <a:normAutofit fontScale="95556"/>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Genie translates business questions into governed queries</a:t>
            </a:r>
          </a:p>
        </p:txBody>
      </p:sp>
      <p:sp>
        <p:nvSpPr>
          <p:cNvPr id="20" name="Rectangle: Rounded Corners 19">
            <a:extLst>
              <a:ext uri="{FF2B5EF4-FFF2-40B4-BE49-F238E27FC236}">
                <a16:creationId xmlns:a16="http://schemas.microsoft.com/office/drawing/2014/main" id="{B1CC3269-A6F0-4214-B2D0-6C6C58C866FD}"/>
              </a:ext>
            </a:extLst>
          </p:cNvPr>
          <p:cNvSpPr>
            <a:spLocks noGrp="1"/>
          </p:cNvSpPr>
          <p:nvPr/>
        </p:nvSpPr>
        <p:spPr>
          <a:xfrm>
            <a:off x="7905750" y="3486150"/>
            <a:ext cx="3752850" cy="685800"/>
          </a:xfrm>
          <a:prstGeom prst="roundRect">
            <a:avLst>
              <a:gd name="adj" fmla="val 11111"/>
            </a:avLst>
          </a:prstGeom>
          <a:solidFill>
            <a:srgbClr val="F7FAFD"/>
          </a:solidFill>
          <a:ln w="9525">
            <a:solidFill>
              <a:srgbClr val="D5E2EE"/>
            </a:solidFill>
          </a:ln>
        </p:spPr>
        <p:txBody>
          <a:bodyPr/>
          <a:lstStyle/>
          <a:p>
            <a:endParaRPr lang="en-US"/>
          </a:p>
        </p:txBody>
      </p:sp>
      <p:sp>
        <p:nvSpPr>
          <p:cNvPr id="21" name="Rectangle 20">
            <a:extLst>
              <a:ext uri="{FF2B5EF4-FFF2-40B4-BE49-F238E27FC236}">
                <a16:creationId xmlns:a16="http://schemas.microsoft.com/office/drawing/2014/main" id="{0A483605-1133-4D45-BD38-5ABBD9D6536B}"/>
              </a:ext>
            </a:extLst>
          </p:cNvPr>
          <p:cNvSpPr>
            <a:spLocks noGrp="1"/>
          </p:cNvSpPr>
          <p:nvPr/>
        </p:nvSpPr>
        <p:spPr>
          <a:xfrm>
            <a:off x="8115300" y="3619500"/>
            <a:ext cx="1143000" cy="209550"/>
          </a:xfrm>
          <a:prstGeom prst="rect">
            <a:avLst/>
          </a:prstGeom>
          <a:noFill/>
          <a:ln w="0">
            <a:noFill/>
          </a:ln>
        </p:spPr>
        <p:txBody>
          <a:bodyPr>
            <a:normAutofit fontScale="6458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Presentation</a:t>
            </a:r>
          </a:p>
        </p:txBody>
      </p:sp>
      <p:sp>
        <p:nvSpPr>
          <p:cNvPr id="22" name="Rectangle 21">
            <a:extLst>
              <a:ext uri="{FF2B5EF4-FFF2-40B4-BE49-F238E27FC236}">
                <a16:creationId xmlns:a16="http://schemas.microsoft.com/office/drawing/2014/main" id="{5BC0C83F-EB5F-4432-AE49-E891208DE097}"/>
              </a:ext>
            </a:extLst>
          </p:cNvPr>
          <p:cNvSpPr>
            <a:spLocks noGrp="1"/>
          </p:cNvSpPr>
          <p:nvPr/>
        </p:nvSpPr>
        <p:spPr>
          <a:xfrm>
            <a:off x="9258300" y="3609975"/>
            <a:ext cx="2171700" cy="419100"/>
          </a:xfrm>
          <a:prstGeom prst="rect">
            <a:avLst/>
          </a:prstGeom>
          <a:noFill/>
          <a:ln w="0">
            <a:noFill/>
          </a:ln>
        </p:spPr>
        <p:txBody>
          <a:bodyPr>
            <a:normAutofit fontScale="95556"/>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The deck skill creates native slides and charts</a:t>
            </a:r>
          </a:p>
        </p:txBody>
      </p:sp>
      <p:sp>
        <p:nvSpPr>
          <p:cNvPr id="23" name="Rectangle: Rounded Corners 22">
            <a:extLst>
              <a:ext uri="{FF2B5EF4-FFF2-40B4-BE49-F238E27FC236}">
                <a16:creationId xmlns:a16="http://schemas.microsoft.com/office/drawing/2014/main" id="{CD0FB012-8762-47AC-B2CD-82B32A8EB59C}"/>
              </a:ext>
            </a:extLst>
          </p:cNvPr>
          <p:cNvSpPr>
            <a:spLocks noGrp="1"/>
          </p:cNvSpPr>
          <p:nvPr/>
        </p:nvSpPr>
        <p:spPr>
          <a:xfrm>
            <a:off x="7905750" y="4324350"/>
            <a:ext cx="3752850" cy="685800"/>
          </a:xfrm>
          <a:prstGeom prst="roundRect">
            <a:avLst>
              <a:gd name="adj" fmla="val 11111"/>
            </a:avLst>
          </a:prstGeom>
          <a:solidFill>
            <a:srgbClr val="F7FAFD"/>
          </a:solidFill>
          <a:ln w="9525">
            <a:solidFill>
              <a:srgbClr val="D5E2EE"/>
            </a:solidFill>
          </a:ln>
        </p:spPr>
        <p:txBody>
          <a:bodyPr/>
          <a:lstStyle/>
          <a:p>
            <a:endParaRPr lang="en-US"/>
          </a:p>
        </p:txBody>
      </p:sp>
      <p:sp>
        <p:nvSpPr>
          <p:cNvPr id="24" name="Rectangle 23">
            <a:extLst>
              <a:ext uri="{FF2B5EF4-FFF2-40B4-BE49-F238E27FC236}">
                <a16:creationId xmlns:a16="http://schemas.microsoft.com/office/drawing/2014/main" id="{51EAD6A1-6CA7-4947-805F-427BD720F517}"/>
              </a:ext>
            </a:extLst>
          </p:cNvPr>
          <p:cNvSpPr>
            <a:spLocks noGrp="1"/>
          </p:cNvSpPr>
          <p:nvPr/>
        </p:nvSpPr>
        <p:spPr>
          <a:xfrm>
            <a:off x="8115300" y="4457700"/>
            <a:ext cx="1143000" cy="209550"/>
          </a:xfrm>
          <a:prstGeom prst="rect">
            <a:avLst/>
          </a:prstGeom>
          <a:noFill/>
          <a:ln w="0">
            <a:noFill/>
          </a:ln>
        </p:spPr>
        <p:txBody>
          <a:bodyPr>
            <a:normAutofit fontScale="6458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Review</a:t>
            </a:r>
          </a:p>
        </p:txBody>
      </p:sp>
      <p:sp>
        <p:nvSpPr>
          <p:cNvPr id="25" name="Rectangle 24">
            <a:extLst>
              <a:ext uri="{FF2B5EF4-FFF2-40B4-BE49-F238E27FC236}">
                <a16:creationId xmlns:a16="http://schemas.microsoft.com/office/drawing/2014/main" id="{A587CB51-952A-436C-B7F2-521801139D61}"/>
              </a:ext>
            </a:extLst>
          </p:cNvPr>
          <p:cNvSpPr>
            <a:spLocks noGrp="1"/>
          </p:cNvSpPr>
          <p:nvPr/>
        </p:nvSpPr>
        <p:spPr>
          <a:xfrm>
            <a:off x="9258300" y="4448175"/>
            <a:ext cx="2171700" cy="419100"/>
          </a:xfrm>
          <a:prstGeom prst="rect">
            <a:avLst/>
          </a:prstGeom>
          <a:noFill/>
          <a:ln w="0">
            <a:noFill/>
          </a:ln>
        </p:spPr>
        <p:txBody>
          <a:bodyPr>
            <a:normAutofit fontScale="95556"/>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Users validate insights and refine the narrative</a:t>
            </a:r>
          </a:p>
        </p:txBody>
      </p:sp>
      <p:sp>
        <p:nvSpPr>
          <p:cNvPr id="26" name="Rectangle: Rounded Corners 25">
            <a:extLst>
              <a:ext uri="{FF2B5EF4-FFF2-40B4-BE49-F238E27FC236}">
                <a16:creationId xmlns:a16="http://schemas.microsoft.com/office/drawing/2014/main" id="{B61457AE-3F6E-4385-921A-F83C4DDEEAD0}"/>
              </a:ext>
            </a:extLst>
          </p:cNvPr>
          <p:cNvSpPr>
            <a:spLocks noGrp="1"/>
          </p:cNvSpPr>
          <p:nvPr/>
        </p:nvSpPr>
        <p:spPr>
          <a:xfrm>
            <a:off x="7905750" y="5276850"/>
            <a:ext cx="3752850" cy="666750"/>
          </a:xfrm>
          <a:prstGeom prst="roundRect">
            <a:avLst>
              <a:gd name="adj" fmla="val 11429"/>
            </a:avLst>
          </a:prstGeom>
          <a:solidFill>
            <a:srgbClr val="EAF7E8"/>
          </a:solidFill>
          <a:ln w="9525">
            <a:solidFill>
              <a:srgbClr val="A8D8A4"/>
            </a:solidFill>
          </a:ln>
        </p:spPr>
        <p:txBody>
          <a:bodyPr/>
          <a:lstStyle/>
          <a:p>
            <a:endParaRPr lang="en-US"/>
          </a:p>
        </p:txBody>
      </p:sp>
      <p:sp>
        <p:nvSpPr>
          <p:cNvPr id="27" name="Rectangle 26">
            <a:extLst>
              <a:ext uri="{FF2B5EF4-FFF2-40B4-BE49-F238E27FC236}">
                <a16:creationId xmlns:a16="http://schemas.microsoft.com/office/drawing/2014/main" id="{DD1402F3-A54B-4331-A393-F84D7136362C}"/>
              </a:ext>
            </a:extLst>
          </p:cNvPr>
          <p:cNvSpPr>
            <a:spLocks noGrp="1"/>
          </p:cNvSpPr>
          <p:nvPr/>
        </p:nvSpPr>
        <p:spPr>
          <a:xfrm>
            <a:off x="8096250" y="5476875"/>
            <a:ext cx="3371850" cy="257175"/>
          </a:xfrm>
          <a:prstGeom prst="rect">
            <a:avLst/>
          </a:prstGeom>
          <a:noFill/>
          <a:ln w="0">
            <a:noFill/>
          </a:ln>
        </p:spPr>
        <p:txBody>
          <a:bodyPr>
            <a:normAutofit fontScale="72500"/>
          </a:bodyPr>
          <a:lstStyle/>
          <a:p>
            <a:pPr algn="ctr">
              <a:defRPr sz="1500" b="1">
                <a:solidFill>
                  <a:srgbClr val="107C10"/>
                </a:solidFill>
                <a:latin typeface="Arial"/>
                <a:ea typeface="Arial"/>
                <a:cs typeface="Arial"/>
              </a:defRPr>
            </a:pPr>
            <a:r>
              <a:rPr sz="1500" b="1">
                <a:solidFill>
                  <a:srgbClr val="107C10"/>
                </a:solidFill>
                <a:latin typeface="Arial"/>
                <a:ea typeface="Arial"/>
                <a:cs typeface="Arial"/>
              </a:rPr>
              <a:t>60% less employee time per deck</a:t>
            </a:r>
          </a:p>
        </p:txBody>
      </p:sp>
    </p:spTree>
    <p:extLst>
      <p:ext uri="{BB962C8B-B14F-4D97-AF65-F5344CB8AC3E}">
        <p14:creationId xmlns:p14="http://schemas.microsoft.com/office/powerpoint/2010/main" val="5125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8DF66574-62CB-432A-8DBF-CC5AF2322695}"/>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43BF41EB-59C5-408E-AF74-286BB74FE676}"/>
              </a:ext>
            </a:extLst>
          </p:cNvPr>
          <p:cNvSpPr>
            <a:spLocks noGrp="1"/>
          </p:cNvSpPr>
          <p:nvPr/>
        </p:nvSpPr>
        <p:spPr>
          <a:xfrm>
            <a:off x="533400" y="323850"/>
            <a:ext cx="9334500" cy="495300"/>
          </a:xfrm>
          <a:prstGeom prst="rect">
            <a:avLst/>
          </a:prstGeom>
          <a:noFill/>
          <a:ln w="0">
            <a:noFill/>
          </a:ln>
        </p:spPr>
        <p:txBody>
          <a:bodyPr>
            <a:normAutofit/>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Low-code access keeps Databricks private</a:t>
            </a:r>
          </a:p>
        </p:txBody>
      </p:sp>
      <p:sp>
        <p:nvSpPr>
          <p:cNvPr id="3" name="Rectangle 2">
            <a:extLst>
              <a:ext uri="{FF2B5EF4-FFF2-40B4-BE49-F238E27FC236}">
                <a16:creationId xmlns:a16="http://schemas.microsoft.com/office/drawing/2014/main" id="{3D2BB70A-8B40-418A-A180-1E94249A742D}"/>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A managed connector and APIM gateway provide a governed path from business users to private data</a:t>
            </a:r>
          </a:p>
        </p:txBody>
      </p:sp>
      <p:sp>
        <p:nvSpPr>
          <p:cNvPr id="4" name="Rectangle 3">
            <a:extLst>
              <a:ext uri="{FF2B5EF4-FFF2-40B4-BE49-F238E27FC236}">
                <a16:creationId xmlns:a16="http://schemas.microsoft.com/office/drawing/2014/main" id="{A3711870-7104-48B0-A8A7-8B03C669381A}"/>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DF11A3C9-A2DE-42F2-8B3A-BD38915216C2}"/>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233FC794-14D7-41AA-8D9C-54853BEBAE8D}"/>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5EE25ABE-732D-4AFC-B943-7F1DDC1F8EB1}"/>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982E41BA-EFB0-409C-877D-E86EF2EB6BAB}"/>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71292B42-13AA-44E2-9D1E-044F38660098}"/>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C9B5302B-A1F9-4D40-812E-AF08A683EF0D}"/>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A1E8CFA5-3320-42DE-BF21-A1368BAFF4E9}"/>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04</a:t>
            </a:r>
          </a:p>
        </p:txBody>
      </p:sp>
      <p:sp>
        <p:nvSpPr>
          <p:cNvPr id="12" name="Rectangle: Rounded Corners 11">
            <a:extLst>
              <a:ext uri="{FF2B5EF4-FFF2-40B4-BE49-F238E27FC236}">
                <a16:creationId xmlns:a16="http://schemas.microsoft.com/office/drawing/2014/main" id="{EC97BF55-48D0-4B70-A6A2-4AA9341FE6AF}"/>
              </a:ext>
            </a:extLst>
          </p:cNvPr>
          <p:cNvSpPr>
            <a:spLocks noGrp="1"/>
          </p:cNvSpPr>
          <p:nvPr/>
        </p:nvSpPr>
        <p:spPr>
          <a:xfrm>
            <a:off x="533400" y="2000250"/>
            <a:ext cx="1828800" cy="2324100"/>
          </a:xfrm>
          <a:prstGeom prst="roundRect">
            <a:avLst>
              <a:gd name="adj" fmla="val 4167"/>
            </a:avLst>
          </a:prstGeom>
          <a:solidFill>
            <a:srgbClr val="FFFFFF"/>
          </a:solidFill>
          <a:ln w="9525">
            <a:solidFill>
              <a:srgbClr val="D5E2EE"/>
            </a:solidFill>
          </a:ln>
        </p:spPr>
        <p:txBody>
          <a:bodyPr/>
          <a:lstStyle/>
          <a:p>
            <a:endParaRPr lang="en-US"/>
          </a:p>
        </p:txBody>
      </p:sp>
      <p:sp>
        <p:nvSpPr>
          <p:cNvPr id="13" name="Rectangle 12">
            <a:extLst>
              <a:ext uri="{FF2B5EF4-FFF2-40B4-BE49-F238E27FC236}">
                <a16:creationId xmlns:a16="http://schemas.microsoft.com/office/drawing/2014/main" id="{741070C9-52BF-4C4B-8888-D6C52627855A}"/>
              </a:ext>
            </a:extLst>
          </p:cNvPr>
          <p:cNvSpPr>
            <a:spLocks noGrp="1"/>
          </p:cNvSpPr>
          <p:nvPr/>
        </p:nvSpPr>
        <p:spPr>
          <a:xfrm>
            <a:off x="533400" y="2000250"/>
            <a:ext cx="1828800" cy="76200"/>
          </a:xfrm>
          <a:prstGeom prst="rect">
            <a:avLst/>
          </a:prstGeom>
          <a:solidFill>
            <a:srgbClr val="0F6CBD"/>
          </a:solidFill>
          <a:ln w="0">
            <a:solidFill>
              <a:srgbClr val="0F6CBD"/>
            </a:solidFill>
          </a:ln>
        </p:spPr>
        <p:txBody>
          <a:bodyPr/>
          <a:lstStyle/>
          <a:p>
            <a:endParaRPr lang="en-US"/>
          </a:p>
        </p:txBody>
      </p:sp>
      <p:sp>
        <p:nvSpPr>
          <p:cNvPr id="14" name="Rectangle 13">
            <a:extLst>
              <a:ext uri="{FF2B5EF4-FFF2-40B4-BE49-F238E27FC236}">
                <a16:creationId xmlns:a16="http://schemas.microsoft.com/office/drawing/2014/main" id="{DF7C887F-2008-4320-A85F-1895641C1164}"/>
              </a:ext>
            </a:extLst>
          </p:cNvPr>
          <p:cNvSpPr>
            <a:spLocks noGrp="1"/>
          </p:cNvSpPr>
          <p:nvPr/>
        </p:nvSpPr>
        <p:spPr>
          <a:xfrm>
            <a:off x="685800" y="2266950"/>
            <a:ext cx="1524000" cy="304800"/>
          </a:xfrm>
          <a:prstGeom prst="rect">
            <a:avLst/>
          </a:prstGeom>
          <a:noFill/>
          <a:ln w="0">
            <a:noFill/>
          </a:ln>
        </p:spPr>
        <p:txBody>
          <a:bodyPr>
            <a:normAutofit fontScale="98246"/>
          </a:bodyPr>
          <a:lstStyle/>
          <a:p>
            <a:pPr algn="ctr">
              <a:defRPr sz="1425" b="1">
                <a:solidFill>
                  <a:srgbClr val="17324D"/>
                </a:solidFill>
                <a:latin typeface="Arial"/>
                <a:ea typeface="Arial"/>
                <a:cs typeface="Arial"/>
              </a:defRPr>
            </a:pPr>
            <a:r>
              <a:rPr sz="1425" b="1">
                <a:solidFill>
                  <a:srgbClr val="17324D"/>
                </a:solidFill>
                <a:latin typeface="Arial"/>
                <a:ea typeface="Arial"/>
                <a:cs typeface="Arial"/>
              </a:rPr>
              <a:t>Microsoft 365</a:t>
            </a:r>
          </a:p>
        </p:txBody>
      </p:sp>
      <p:sp>
        <p:nvSpPr>
          <p:cNvPr id="15" name="Rectangle 14">
            <a:extLst>
              <a:ext uri="{FF2B5EF4-FFF2-40B4-BE49-F238E27FC236}">
                <a16:creationId xmlns:a16="http://schemas.microsoft.com/office/drawing/2014/main" id="{0840717B-526E-4757-9E34-21EF31CDB390}"/>
              </a:ext>
            </a:extLst>
          </p:cNvPr>
          <p:cNvSpPr>
            <a:spLocks noGrp="1"/>
          </p:cNvSpPr>
          <p:nvPr/>
        </p:nvSpPr>
        <p:spPr>
          <a:xfrm>
            <a:off x="685800" y="2743200"/>
            <a:ext cx="1524000" cy="266700"/>
          </a:xfrm>
          <a:prstGeom prst="rect">
            <a:avLst/>
          </a:prstGeom>
          <a:noFill/>
          <a:ln w="0">
            <a:noFill/>
          </a:ln>
        </p:spPr>
        <p:txBody>
          <a:bodyPr>
            <a:normAutofit fontScale="95833"/>
          </a:bodyPr>
          <a:lstStyle/>
          <a:p>
            <a:pPr algn="ctr">
              <a:defRPr sz="1200" b="1">
                <a:solidFill>
                  <a:srgbClr val="0F6CBD"/>
                </a:solidFill>
                <a:latin typeface="Arial"/>
                <a:ea typeface="Arial"/>
                <a:cs typeface="Arial"/>
              </a:defRPr>
            </a:pPr>
            <a:r>
              <a:rPr sz="1200" b="1">
                <a:solidFill>
                  <a:srgbClr val="0F6CBD"/>
                </a:solidFill>
                <a:latin typeface="Arial"/>
                <a:ea typeface="Arial"/>
                <a:cs typeface="Arial"/>
              </a:rPr>
              <a:t>Business user</a:t>
            </a:r>
          </a:p>
        </p:txBody>
      </p:sp>
      <p:sp>
        <p:nvSpPr>
          <p:cNvPr id="16" name="Rectangle 15">
            <a:extLst>
              <a:ext uri="{FF2B5EF4-FFF2-40B4-BE49-F238E27FC236}">
                <a16:creationId xmlns:a16="http://schemas.microsoft.com/office/drawing/2014/main" id="{C51051ED-FFCB-4586-BBDA-05132BE82769}"/>
              </a:ext>
            </a:extLst>
          </p:cNvPr>
          <p:cNvSpPr>
            <a:spLocks noGrp="1"/>
          </p:cNvSpPr>
          <p:nvPr/>
        </p:nvSpPr>
        <p:spPr>
          <a:xfrm>
            <a:off x="723900" y="3162300"/>
            <a:ext cx="1447800" cy="571500"/>
          </a:xfrm>
          <a:prstGeom prst="rect">
            <a:avLst/>
          </a:prstGeom>
          <a:noFill/>
          <a:ln w="0">
            <a:noFill/>
          </a:ln>
        </p:spPr>
        <p:txBody>
          <a:bodyPr>
            <a:normAutofit/>
          </a:bodyPr>
          <a:lstStyle/>
          <a:p>
            <a:pPr algn="ctr">
              <a:defRPr sz="1125" b="0">
                <a:solidFill>
                  <a:srgbClr val="526A80"/>
                </a:solidFill>
                <a:latin typeface="Arial"/>
                <a:ea typeface="Arial"/>
                <a:cs typeface="Arial"/>
              </a:defRPr>
            </a:pPr>
            <a:r>
              <a:rPr sz="1125" b="0">
                <a:solidFill>
                  <a:srgbClr val="526A80"/>
                </a:solidFill>
                <a:latin typeface="Arial"/>
                <a:ea typeface="Arial"/>
                <a:cs typeface="Arial"/>
              </a:rPr>
              <a:t>Requests an executive deck</a:t>
            </a:r>
          </a:p>
        </p:txBody>
      </p:sp>
      <p:sp>
        <p:nvSpPr>
          <p:cNvPr id="17" name="Rectangle 16">
            <a:extLst>
              <a:ext uri="{FF2B5EF4-FFF2-40B4-BE49-F238E27FC236}">
                <a16:creationId xmlns:a16="http://schemas.microsoft.com/office/drawing/2014/main" id="{DE3E3760-254F-42CB-9936-A8CA87F93B45}"/>
              </a:ext>
            </a:extLst>
          </p:cNvPr>
          <p:cNvSpPr>
            <a:spLocks noGrp="1"/>
          </p:cNvSpPr>
          <p:nvPr/>
        </p:nvSpPr>
        <p:spPr>
          <a:xfrm>
            <a:off x="2419350" y="2886075"/>
            <a:ext cx="381000" cy="552450"/>
          </a:xfrm>
          <a:prstGeom prst="rect">
            <a:avLst/>
          </a:prstGeom>
          <a:noFill/>
          <a:ln w="0">
            <a:noFill/>
          </a:ln>
        </p:spPr>
        <p:txBody>
          <a:bodyPr>
            <a:normAutofit/>
          </a:bodyPr>
          <a:lstStyle/>
          <a:p>
            <a:pPr algn="ctr">
              <a:defRPr sz="3000" b="1">
                <a:solidFill>
                  <a:srgbClr val="0F6CBD"/>
                </a:solidFill>
                <a:latin typeface="Arial"/>
                <a:ea typeface="Arial"/>
                <a:cs typeface="Arial"/>
              </a:defRPr>
            </a:pPr>
            <a:r>
              <a:rPr sz="3000" b="1">
                <a:solidFill>
                  <a:srgbClr val="0F6CBD"/>
                </a:solidFill>
                <a:latin typeface="Arial"/>
                <a:ea typeface="Arial"/>
                <a:cs typeface="Arial"/>
              </a:rPr>
              <a:t>›</a:t>
            </a:r>
          </a:p>
        </p:txBody>
      </p:sp>
      <p:sp>
        <p:nvSpPr>
          <p:cNvPr id="18" name="Rectangle: Rounded Corners 17">
            <a:extLst>
              <a:ext uri="{FF2B5EF4-FFF2-40B4-BE49-F238E27FC236}">
                <a16:creationId xmlns:a16="http://schemas.microsoft.com/office/drawing/2014/main" id="{A902A595-E516-4FA9-A803-E157557254BB}"/>
              </a:ext>
            </a:extLst>
          </p:cNvPr>
          <p:cNvSpPr>
            <a:spLocks noGrp="1"/>
          </p:cNvSpPr>
          <p:nvPr/>
        </p:nvSpPr>
        <p:spPr>
          <a:xfrm>
            <a:off x="2857500" y="2000250"/>
            <a:ext cx="1828800" cy="2324100"/>
          </a:xfrm>
          <a:prstGeom prst="roundRect">
            <a:avLst>
              <a:gd name="adj" fmla="val 4167"/>
            </a:avLst>
          </a:prstGeom>
          <a:solidFill>
            <a:srgbClr val="FFFFFF"/>
          </a:solidFill>
          <a:ln w="9525">
            <a:solidFill>
              <a:srgbClr val="D5E2EE"/>
            </a:solidFill>
          </a:ln>
        </p:spPr>
        <p:txBody>
          <a:bodyPr/>
          <a:lstStyle/>
          <a:p>
            <a:endParaRPr lang="en-US"/>
          </a:p>
        </p:txBody>
      </p:sp>
      <p:sp>
        <p:nvSpPr>
          <p:cNvPr id="19" name="Rectangle 18">
            <a:extLst>
              <a:ext uri="{FF2B5EF4-FFF2-40B4-BE49-F238E27FC236}">
                <a16:creationId xmlns:a16="http://schemas.microsoft.com/office/drawing/2014/main" id="{8ED97648-0141-401D-9F2E-12D93C9FD264}"/>
              </a:ext>
            </a:extLst>
          </p:cNvPr>
          <p:cNvSpPr>
            <a:spLocks noGrp="1"/>
          </p:cNvSpPr>
          <p:nvPr/>
        </p:nvSpPr>
        <p:spPr>
          <a:xfrm>
            <a:off x="2857500" y="2000250"/>
            <a:ext cx="1828800" cy="76200"/>
          </a:xfrm>
          <a:prstGeom prst="rect">
            <a:avLst/>
          </a:prstGeom>
          <a:solidFill>
            <a:srgbClr val="742774"/>
          </a:solidFill>
          <a:ln w="0">
            <a:solidFill>
              <a:srgbClr val="742774"/>
            </a:solidFill>
          </a:ln>
        </p:spPr>
        <p:txBody>
          <a:bodyPr/>
          <a:lstStyle/>
          <a:p>
            <a:endParaRPr lang="en-US"/>
          </a:p>
        </p:txBody>
      </p:sp>
      <p:sp>
        <p:nvSpPr>
          <p:cNvPr id="20" name="Rectangle 19">
            <a:extLst>
              <a:ext uri="{FF2B5EF4-FFF2-40B4-BE49-F238E27FC236}">
                <a16:creationId xmlns:a16="http://schemas.microsoft.com/office/drawing/2014/main" id="{D38DEB3D-B19F-4FF5-88AB-67C59F403316}"/>
              </a:ext>
            </a:extLst>
          </p:cNvPr>
          <p:cNvSpPr>
            <a:spLocks noGrp="1"/>
          </p:cNvSpPr>
          <p:nvPr/>
        </p:nvSpPr>
        <p:spPr>
          <a:xfrm>
            <a:off x="3009900" y="2266950"/>
            <a:ext cx="1524000" cy="304800"/>
          </a:xfrm>
          <a:prstGeom prst="rect">
            <a:avLst/>
          </a:prstGeom>
          <a:noFill/>
          <a:ln w="0">
            <a:noFill/>
          </a:ln>
        </p:spPr>
        <p:txBody>
          <a:bodyPr>
            <a:normAutofit fontScale="98246"/>
          </a:bodyPr>
          <a:lstStyle/>
          <a:p>
            <a:pPr algn="ctr">
              <a:defRPr sz="1425" b="1">
                <a:solidFill>
                  <a:srgbClr val="17324D"/>
                </a:solidFill>
                <a:latin typeface="Arial"/>
                <a:ea typeface="Arial"/>
                <a:cs typeface="Arial"/>
              </a:defRPr>
            </a:pPr>
            <a:r>
              <a:rPr sz="1425" b="1">
                <a:solidFill>
                  <a:srgbClr val="17324D"/>
                </a:solidFill>
                <a:latin typeface="Arial"/>
                <a:ea typeface="Arial"/>
                <a:cs typeface="Arial"/>
              </a:rPr>
              <a:t>Copilot Studio</a:t>
            </a:r>
          </a:p>
        </p:txBody>
      </p:sp>
      <p:sp>
        <p:nvSpPr>
          <p:cNvPr id="21" name="Rectangle 20">
            <a:extLst>
              <a:ext uri="{FF2B5EF4-FFF2-40B4-BE49-F238E27FC236}">
                <a16:creationId xmlns:a16="http://schemas.microsoft.com/office/drawing/2014/main" id="{15A958EB-DD60-4073-8BF8-15E9688C6386}"/>
              </a:ext>
            </a:extLst>
          </p:cNvPr>
          <p:cNvSpPr>
            <a:spLocks noGrp="1"/>
          </p:cNvSpPr>
          <p:nvPr/>
        </p:nvSpPr>
        <p:spPr>
          <a:xfrm>
            <a:off x="3009900" y="2743200"/>
            <a:ext cx="1524000" cy="266700"/>
          </a:xfrm>
          <a:prstGeom prst="rect">
            <a:avLst/>
          </a:prstGeom>
          <a:noFill/>
          <a:ln w="0">
            <a:noFill/>
          </a:ln>
        </p:spPr>
        <p:txBody>
          <a:bodyPr>
            <a:normAutofit fontScale="95833"/>
          </a:bodyPr>
          <a:lstStyle/>
          <a:p>
            <a:pPr algn="ctr">
              <a:defRPr sz="1200" b="1">
                <a:solidFill>
                  <a:srgbClr val="742774"/>
                </a:solidFill>
                <a:latin typeface="Arial"/>
                <a:ea typeface="Arial"/>
                <a:cs typeface="Arial"/>
              </a:defRPr>
            </a:pPr>
            <a:r>
              <a:rPr sz="1200" b="1">
                <a:solidFill>
                  <a:srgbClr val="742774"/>
                </a:solidFill>
                <a:latin typeface="Arial"/>
                <a:ea typeface="Arial"/>
                <a:cs typeface="Arial"/>
              </a:rPr>
              <a:t>Low-code agent</a:t>
            </a:r>
          </a:p>
        </p:txBody>
      </p:sp>
      <p:sp>
        <p:nvSpPr>
          <p:cNvPr id="22" name="Rectangle 21">
            <a:extLst>
              <a:ext uri="{FF2B5EF4-FFF2-40B4-BE49-F238E27FC236}">
                <a16:creationId xmlns:a16="http://schemas.microsoft.com/office/drawing/2014/main" id="{7AF5EE53-85CB-4D8B-90A9-5598DF8EFA44}"/>
              </a:ext>
            </a:extLst>
          </p:cNvPr>
          <p:cNvSpPr>
            <a:spLocks noGrp="1"/>
          </p:cNvSpPr>
          <p:nvPr/>
        </p:nvSpPr>
        <p:spPr>
          <a:xfrm>
            <a:off x="3048000" y="3162300"/>
            <a:ext cx="1447800" cy="571500"/>
          </a:xfrm>
          <a:prstGeom prst="rect">
            <a:avLst/>
          </a:prstGeom>
          <a:noFill/>
          <a:ln w="0">
            <a:noFill/>
          </a:ln>
        </p:spPr>
        <p:txBody>
          <a:bodyPr>
            <a:normAutofit/>
          </a:bodyPr>
          <a:lstStyle/>
          <a:p>
            <a:pPr algn="ctr">
              <a:defRPr sz="1125" b="0">
                <a:solidFill>
                  <a:srgbClr val="526A80"/>
                </a:solidFill>
                <a:latin typeface="Arial"/>
                <a:ea typeface="Arial"/>
                <a:cs typeface="Arial"/>
              </a:defRPr>
            </a:pPr>
            <a:r>
              <a:rPr sz="1125" b="0">
                <a:solidFill>
                  <a:srgbClr val="526A80"/>
                </a:solidFill>
                <a:latin typeface="Arial"/>
                <a:ea typeface="Arial"/>
                <a:cs typeface="Arial"/>
              </a:rPr>
              <a:t>Uses the approved deck skill</a:t>
            </a:r>
          </a:p>
        </p:txBody>
      </p:sp>
      <p:sp>
        <p:nvSpPr>
          <p:cNvPr id="23" name="Rectangle 22">
            <a:extLst>
              <a:ext uri="{FF2B5EF4-FFF2-40B4-BE49-F238E27FC236}">
                <a16:creationId xmlns:a16="http://schemas.microsoft.com/office/drawing/2014/main" id="{C14B5DA7-8C07-46E9-B727-38176CAB3663}"/>
              </a:ext>
            </a:extLst>
          </p:cNvPr>
          <p:cNvSpPr>
            <a:spLocks noGrp="1"/>
          </p:cNvSpPr>
          <p:nvPr/>
        </p:nvSpPr>
        <p:spPr>
          <a:xfrm>
            <a:off x="4743450" y="2886075"/>
            <a:ext cx="381000" cy="552450"/>
          </a:xfrm>
          <a:prstGeom prst="rect">
            <a:avLst/>
          </a:prstGeom>
          <a:noFill/>
          <a:ln w="0">
            <a:noFill/>
          </a:ln>
        </p:spPr>
        <p:txBody>
          <a:bodyPr>
            <a:normAutofit/>
          </a:bodyPr>
          <a:lstStyle/>
          <a:p>
            <a:pPr algn="ctr">
              <a:defRPr sz="3000" b="1">
                <a:solidFill>
                  <a:srgbClr val="0F6CBD"/>
                </a:solidFill>
                <a:latin typeface="Arial"/>
                <a:ea typeface="Arial"/>
                <a:cs typeface="Arial"/>
              </a:defRPr>
            </a:pPr>
            <a:r>
              <a:rPr sz="3000" b="1">
                <a:solidFill>
                  <a:srgbClr val="0F6CBD"/>
                </a:solidFill>
                <a:latin typeface="Arial"/>
                <a:ea typeface="Arial"/>
                <a:cs typeface="Arial"/>
              </a:rPr>
              <a:t>›</a:t>
            </a:r>
          </a:p>
        </p:txBody>
      </p:sp>
      <p:sp>
        <p:nvSpPr>
          <p:cNvPr id="24" name="Rectangle: Rounded Corners 23">
            <a:extLst>
              <a:ext uri="{FF2B5EF4-FFF2-40B4-BE49-F238E27FC236}">
                <a16:creationId xmlns:a16="http://schemas.microsoft.com/office/drawing/2014/main" id="{96341F9D-448D-49D6-9195-F765A4B24F8F}"/>
              </a:ext>
            </a:extLst>
          </p:cNvPr>
          <p:cNvSpPr>
            <a:spLocks noGrp="1"/>
          </p:cNvSpPr>
          <p:nvPr/>
        </p:nvSpPr>
        <p:spPr>
          <a:xfrm>
            <a:off x="5181600" y="2000250"/>
            <a:ext cx="1828800" cy="2324100"/>
          </a:xfrm>
          <a:prstGeom prst="roundRect">
            <a:avLst>
              <a:gd name="adj" fmla="val 4167"/>
            </a:avLst>
          </a:prstGeom>
          <a:solidFill>
            <a:srgbClr val="FFFFFF"/>
          </a:solidFill>
          <a:ln w="9525">
            <a:solidFill>
              <a:srgbClr val="D5E2EE"/>
            </a:solidFill>
          </a:ln>
        </p:spPr>
        <p:txBody>
          <a:bodyPr/>
          <a:lstStyle/>
          <a:p>
            <a:endParaRPr lang="en-US"/>
          </a:p>
        </p:txBody>
      </p:sp>
      <p:sp>
        <p:nvSpPr>
          <p:cNvPr id="25" name="Rectangle 24">
            <a:extLst>
              <a:ext uri="{FF2B5EF4-FFF2-40B4-BE49-F238E27FC236}">
                <a16:creationId xmlns:a16="http://schemas.microsoft.com/office/drawing/2014/main" id="{B9AFF6BA-DF47-4FE0-94A7-28CA24AD5D08}"/>
              </a:ext>
            </a:extLst>
          </p:cNvPr>
          <p:cNvSpPr>
            <a:spLocks noGrp="1"/>
          </p:cNvSpPr>
          <p:nvPr/>
        </p:nvSpPr>
        <p:spPr>
          <a:xfrm>
            <a:off x="5181600" y="2000250"/>
            <a:ext cx="1828800" cy="76200"/>
          </a:xfrm>
          <a:prstGeom prst="rect">
            <a:avLst/>
          </a:prstGeom>
          <a:solidFill>
            <a:srgbClr val="0078D4"/>
          </a:solidFill>
          <a:ln w="0">
            <a:solidFill>
              <a:srgbClr val="0078D4"/>
            </a:solidFill>
          </a:ln>
        </p:spPr>
        <p:txBody>
          <a:bodyPr/>
          <a:lstStyle/>
          <a:p>
            <a:endParaRPr lang="en-US"/>
          </a:p>
        </p:txBody>
      </p:sp>
      <p:sp>
        <p:nvSpPr>
          <p:cNvPr id="26" name="Rectangle 25">
            <a:extLst>
              <a:ext uri="{FF2B5EF4-FFF2-40B4-BE49-F238E27FC236}">
                <a16:creationId xmlns:a16="http://schemas.microsoft.com/office/drawing/2014/main" id="{BF39091C-7408-43CD-969D-D9A5A224BA49}"/>
              </a:ext>
            </a:extLst>
          </p:cNvPr>
          <p:cNvSpPr>
            <a:spLocks noGrp="1"/>
          </p:cNvSpPr>
          <p:nvPr/>
        </p:nvSpPr>
        <p:spPr>
          <a:xfrm>
            <a:off x="5334000" y="2266950"/>
            <a:ext cx="1524000" cy="304800"/>
          </a:xfrm>
          <a:prstGeom prst="rect">
            <a:avLst/>
          </a:prstGeom>
          <a:noFill/>
          <a:ln w="0">
            <a:noFill/>
          </a:ln>
        </p:spPr>
        <p:txBody>
          <a:bodyPr>
            <a:normAutofit fontScale="98246"/>
          </a:bodyPr>
          <a:lstStyle/>
          <a:p>
            <a:pPr algn="ctr">
              <a:defRPr sz="1425" b="1">
                <a:solidFill>
                  <a:srgbClr val="17324D"/>
                </a:solidFill>
                <a:latin typeface="Arial"/>
                <a:ea typeface="Arial"/>
                <a:cs typeface="Arial"/>
              </a:defRPr>
            </a:pPr>
            <a:r>
              <a:rPr sz="1425" b="1">
                <a:solidFill>
                  <a:srgbClr val="17324D"/>
                </a:solidFill>
                <a:latin typeface="Arial"/>
                <a:ea typeface="Arial"/>
                <a:cs typeface="Arial"/>
              </a:rPr>
              <a:t>Power Platform</a:t>
            </a:r>
          </a:p>
        </p:txBody>
      </p:sp>
      <p:sp>
        <p:nvSpPr>
          <p:cNvPr id="27" name="Rectangle 26">
            <a:extLst>
              <a:ext uri="{FF2B5EF4-FFF2-40B4-BE49-F238E27FC236}">
                <a16:creationId xmlns:a16="http://schemas.microsoft.com/office/drawing/2014/main" id="{D883E7F0-797D-43B1-8A59-4CB70A8F2C62}"/>
              </a:ext>
            </a:extLst>
          </p:cNvPr>
          <p:cNvSpPr>
            <a:spLocks noGrp="1"/>
          </p:cNvSpPr>
          <p:nvPr/>
        </p:nvSpPr>
        <p:spPr>
          <a:xfrm>
            <a:off x="5334000" y="2743200"/>
            <a:ext cx="1524000" cy="266700"/>
          </a:xfrm>
          <a:prstGeom prst="rect">
            <a:avLst/>
          </a:prstGeom>
          <a:noFill/>
          <a:ln w="0">
            <a:noFill/>
          </a:ln>
        </p:spPr>
        <p:txBody>
          <a:bodyPr>
            <a:normAutofit fontScale="95833"/>
          </a:bodyPr>
          <a:lstStyle/>
          <a:p>
            <a:pPr algn="ctr">
              <a:defRPr sz="1200" b="1">
                <a:solidFill>
                  <a:srgbClr val="0078D4"/>
                </a:solidFill>
                <a:latin typeface="Arial"/>
                <a:ea typeface="Arial"/>
                <a:cs typeface="Arial"/>
              </a:defRPr>
            </a:pPr>
            <a:r>
              <a:rPr sz="1200" b="1">
                <a:solidFill>
                  <a:srgbClr val="0078D4"/>
                </a:solidFill>
                <a:latin typeface="Arial"/>
                <a:ea typeface="Arial"/>
                <a:cs typeface="Arial"/>
              </a:rPr>
              <a:t>VNet injection</a:t>
            </a:r>
          </a:p>
        </p:txBody>
      </p:sp>
      <p:sp>
        <p:nvSpPr>
          <p:cNvPr id="28" name="Rectangle 27">
            <a:extLst>
              <a:ext uri="{FF2B5EF4-FFF2-40B4-BE49-F238E27FC236}">
                <a16:creationId xmlns:a16="http://schemas.microsoft.com/office/drawing/2014/main" id="{6C6D1851-E973-4709-A438-ACE1E11A3469}"/>
              </a:ext>
            </a:extLst>
          </p:cNvPr>
          <p:cNvSpPr>
            <a:spLocks noGrp="1"/>
          </p:cNvSpPr>
          <p:nvPr/>
        </p:nvSpPr>
        <p:spPr>
          <a:xfrm>
            <a:off x="5372100" y="3162300"/>
            <a:ext cx="1447800" cy="571500"/>
          </a:xfrm>
          <a:prstGeom prst="rect">
            <a:avLst/>
          </a:prstGeom>
          <a:noFill/>
          <a:ln w="0">
            <a:noFill/>
          </a:ln>
        </p:spPr>
        <p:txBody>
          <a:bodyPr>
            <a:normAutofit/>
          </a:bodyPr>
          <a:lstStyle/>
          <a:p>
            <a:pPr algn="ctr">
              <a:defRPr sz="1125" b="0">
                <a:solidFill>
                  <a:srgbClr val="526A80"/>
                </a:solidFill>
                <a:latin typeface="Arial"/>
                <a:ea typeface="Arial"/>
                <a:cs typeface="Arial"/>
              </a:defRPr>
            </a:pPr>
            <a:r>
              <a:rPr sz="1125" b="0">
                <a:solidFill>
                  <a:srgbClr val="526A80"/>
                </a:solidFill>
                <a:latin typeface="Arial"/>
                <a:ea typeface="Arial"/>
                <a:cs typeface="Arial"/>
              </a:rPr>
              <a:t>Routes connector traffic privately</a:t>
            </a:r>
          </a:p>
        </p:txBody>
      </p:sp>
      <p:sp>
        <p:nvSpPr>
          <p:cNvPr id="29" name="Rectangle 28">
            <a:extLst>
              <a:ext uri="{FF2B5EF4-FFF2-40B4-BE49-F238E27FC236}">
                <a16:creationId xmlns:a16="http://schemas.microsoft.com/office/drawing/2014/main" id="{931638DD-5D48-4D86-B076-ED95C0483417}"/>
              </a:ext>
            </a:extLst>
          </p:cNvPr>
          <p:cNvSpPr>
            <a:spLocks noGrp="1"/>
          </p:cNvSpPr>
          <p:nvPr/>
        </p:nvSpPr>
        <p:spPr>
          <a:xfrm>
            <a:off x="7067550" y="2886075"/>
            <a:ext cx="381000" cy="552450"/>
          </a:xfrm>
          <a:prstGeom prst="rect">
            <a:avLst/>
          </a:prstGeom>
          <a:noFill/>
          <a:ln w="0">
            <a:noFill/>
          </a:ln>
        </p:spPr>
        <p:txBody>
          <a:bodyPr>
            <a:normAutofit/>
          </a:bodyPr>
          <a:lstStyle/>
          <a:p>
            <a:pPr algn="ctr">
              <a:defRPr sz="3000" b="1">
                <a:solidFill>
                  <a:srgbClr val="0F6CBD"/>
                </a:solidFill>
                <a:latin typeface="Arial"/>
                <a:ea typeface="Arial"/>
                <a:cs typeface="Arial"/>
              </a:defRPr>
            </a:pPr>
            <a:r>
              <a:rPr sz="3000" b="1">
                <a:solidFill>
                  <a:srgbClr val="0F6CBD"/>
                </a:solidFill>
                <a:latin typeface="Arial"/>
                <a:ea typeface="Arial"/>
                <a:cs typeface="Arial"/>
              </a:rPr>
              <a:t>›</a:t>
            </a:r>
          </a:p>
        </p:txBody>
      </p:sp>
      <p:sp>
        <p:nvSpPr>
          <p:cNvPr id="30" name="Rectangle: Rounded Corners 29">
            <a:extLst>
              <a:ext uri="{FF2B5EF4-FFF2-40B4-BE49-F238E27FC236}">
                <a16:creationId xmlns:a16="http://schemas.microsoft.com/office/drawing/2014/main" id="{944EF987-09E4-471A-9737-239D0EE2F2AA}"/>
              </a:ext>
            </a:extLst>
          </p:cNvPr>
          <p:cNvSpPr>
            <a:spLocks noGrp="1"/>
          </p:cNvSpPr>
          <p:nvPr/>
        </p:nvSpPr>
        <p:spPr>
          <a:xfrm>
            <a:off x="7505700" y="2000250"/>
            <a:ext cx="1828800" cy="2324100"/>
          </a:xfrm>
          <a:prstGeom prst="roundRect">
            <a:avLst>
              <a:gd name="adj" fmla="val 4167"/>
            </a:avLst>
          </a:prstGeom>
          <a:solidFill>
            <a:srgbClr val="FFFFFF"/>
          </a:solidFill>
          <a:ln w="9525">
            <a:solidFill>
              <a:srgbClr val="D5E2EE"/>
            </a:solidFill>
          </a:ln>
        </p:spPr>
        <p:txBody>
          <a:bodyPr/>
          <a:lstStyle/>
          <a:p>
            <a:endParaRPr lang="en-US"/>
          </a:p>
        </p:txBody>
      </p:sp>
      <p:sp>
        <p:nvSpPr>
          <p:cNvPr id="31" name="Rectangle 30">
            <a:extLst>
              <a:ext uri="{FF2B5EF4-FFF2-40B4-BE49-F238E27FC236}">
                <a16:creationId xmlns:a16="http://schemas.microsoft.com/office/drawing/2014/main" id="{16376672-A3AC-42FB-9642-DDDCC33C3993}"/>
              </a:ext>
            </a:extLst>
          </p:cNvPr>
          <p:cNvSpPr>
            <a:spLocks noGrp="1"/>
          </p:cNvSpPr>
          <p:nvPr/>
        </p:nvSpPr>
        <p:spPr>
          <a:xfrm>
            <a:off x="7505700" y="2000250"/>
            <a:ext cx="1828800" cy="76200"/>
          </a:xfrm>
          <a:prstGeom prst="rect">
            <a:avLst/>
          </a:prstGeom>
          <a:solidFill>
            <a:srgbClr val="0F6CBD"/>
          </a:solidFill>
          <a:ln w="0">
            <a:solidFill>
              <a:srgbClr val="0F6CBD"/>
            </a:solidFill>
          </a:ln>
        </p:spPr>
        <p:txBody>
          <a:bodyPr/>
          <a:lstStyle/>
          <a:p>
            <a:endParaRPr lang="en-US"/>
          </a:p>
        </p:txBody>
      </p:sp>
      <p:sp>
        <p:nvSpPr>
          <p:cNvPr id="32" name="Rectangle 31">
            <a:extLst>
              <a:ext uri="{FF2B5EF4-FFF2-40B4-BE49-F238E27FC236}">
                <a16:creationId xmlns:a16="http://schemas.microsoft.com/office/drawing/2014/main" id="{477BFE77-A0C9-4E58-BF48-99A4C31FDD7E}"/>
              </a:ext>
            </a:extLst>
          </p:cNvPr>
          <p:cNvSpPr>
            <a:spLocks noGrp="1"/>
          </p:cNvSpPr>
          <p:nvPr/>
        </p:nvSpPr>
        <p:spPr>
          <a:xfrm>
            <a:off x="7658100" y="2266950"/>
            <a:ext cx="1524000" cy="304800"/>
          </a:xfrm>
          <a:prstGeom prst="rect">
            <a:avLst/>
          </a:prstGeom>
          <a:noFill/>
          <a:ln w="0">
            <a:noFill/>
          </a:ln>
        </p:spPr>
        <p:txBody>
          <a:bodyPr>
            <a:normAutofit fontScale="92271"/>
          </a:bodyPr>
          <a:lstStyle/>
          <a:p>
            <a:pPr algn="ctr">
              <a:defRPr sz="1425" b="1">
                <a:solidFill>
                  <a:srgbClr val="17324D"/>
                </a:solidFill>
                <a:latin typeface="Arial"/>
                <a:ea typeface="Arial"/>
                <a:cs typeface="Arial"/>
              </a:defRPr>
            </a:pPr>
            <a:r>
              <a:rPr sz="1425" b="1">
                <a:solidFill>
                  <a:srgbClr val="17324D"/>
                </a:solidFill>
                <a:latin typeface="Arial"/>
                <a:ea typeface="Arial"/>
                <a:cs typeface="Arial"/>
              </a:rPr>
              <a:t>API Management</a:t>
            </a:r>
          </a:p>
        </p:txBody>
      </p:sp>
      <p:sp>
        <p:nvSpPr>
          <p:cNvPr id="33" name="Rectangle 32">
            <a:extLst>
              <a:ext uri="{FF2B5EF4-FFF2-40B4-BE49-F238E27FC236}">
                <a16:creationId xmlns:a16="http://schemas.microsoft.com/office/drawing/2014/main" id="{719B3849-35A9-4A24-A62E-133CD68D95A3}"/>
              </a:ext>
            </a:extLst>
          </p:cNvPr>
          <p:cNvSpPr>
            <a:spLocks noGrp="1"/>
          </p:cNvSpPr>
          <p:nvPr/>
        </p:nvSpPr>
        <p:spPr>
          <a:xfrm>
            <a:off x="7658100" y="2743200"/>
            <a:ext cx="1524000" cy="266700"/>
          </a:xfrm>
          <a:prstGeom prst="rect">
            <a:avLst/>
          </a:prstGeom>
          <a:noFill/>
          <a:ln w="0">
            <a:noFill/>
          </a:ln>
        </p:spPr>
        <p:txBody>
          <a:bodyPr>
            <a:normAutofit fontScale="95833"/>
          </a:bodyPr>
          <a:lstStyle/>
          <a:p>
            <a:pPr algn="ctr">
              <a:defRPr sz="1200" b="1">
                <a:solidFill>
                  <a:srgbClr val="0F6CBD"/>
                </a:solidFill>
                <a:latin typeface="Arial"/>
                <a:ea typeface="Arial"/>
                <a:cs typeface="Arial"/>
              </a:defRPr>
            </a:pPr>
            <a:r>
              <a:rPr sz="1200" b="1">
                <a:solidFill>
                  <a:srgbClr val="0F6CBD"/>
                </a:solidFill>
                <a:latin typeface="Arial"/>
                <a:ea typeface="Arial"/>
                <a:cs typeface="Arial"/>
              </a:rPr>
              <a:t>Private AI Gateway</a:t>
            </a:r>
          </a:p>
        </p:txBody>
      </p:sp>
      <p:sp>
        <p:nvSpPr>
          <p:cNvPr id="34" name="Rectangle 33">
            <a:extLst>
              <a:ext uri="{FF2B5EF4-FFF2-40B4-BE49-F238E27FC236}">
                <a16:creationId xmlns:a16="http://schemas.microsoft.com/office/drawing/2014/main" id="{0C59958C-A27A-4B08-A036-7070105D36F1}"/>
              </a:ext>
            </a:extLst>
          </p:cNvPr>
          <p:cNvSpPr>
            <a:spLocks noGrp="1"/>
          </p:cNvSpPr>
          <p:nvPr/>
        </p:nvSpPr>
        <p:spPr>
          <a:xfrm>
            <a:off x="7696200" y="3162300"/>
            <a:ext cx="1447800" cy="571500"/>
          </a:xfrm>
          <a:prstGeom prst="rect">
            <a:avLst/>
          </a:prstGeom>
          <a:noFill/>
          <a:ln w="0">
            <a:noFill/>
          </a:ln>
        </p:spPr>
        <p:txBody>
          <a:bodyPr>
            <a:normAutofit/>
          </a:bodyPr>
          <a:lstStyle/>
          <a:p>
            <a:pPr algn="ctr">
              <a:defRPr sz="1125" b="0">
                <a:solidFill>
                  <a:srgbClr val="526A80"/>
                </a:solidFill>
                <a:latin typeface="Arial"/>
                <a:ea typeface="Arial"/>
                <a:cs typeface="Arial"/>
              </a:defRPr>
            </a:pPr>
            <a:r>
              <a:rPr sz="1125" b="0">
                <a:solidFill>
                  <a:srgbClr val="526A80"/>
                </a:solidFill>
                <a:latin typeface="Arial"/>
                <a:ea typeface="Arial"/>
                <a:cs typeface="Arial"/>
              </a:rPr>
              <a:t>Applies policies and identity</a:t>
            </a:r>
          </a:p>
        </p:txBody>
      </p:sp>
      <p:sp>
        <p:nvSpPr>
          <p:cNvPr id="35" name="Rectangle 34">
            <a:extLst>
              <a:ext uri="{FF2B5EF4-FFF2-40B4-BE49-F238E27FC236}">
                <a16:creationId xmlns:a16="http://schemas.microsoft.com/office/drawing/2014/main" id="{27FFEAAD-89EC-44E1-9E17-ED51BFCCEEAA}"/>
              </a:ext>
            </a:extLst>
          </p:cNvPr>
          <p:cNvSpPr>
            <a:spLocks noGrp="1"/>
          </p:cNvSpPr>
          <p:nvPr/>
        </p:nvSpPr>
        <p:spPr>
          <a:xfrm>
            <a:off x="9391650" y="2886075"/>
            <a:ext cx="381000" cy="552450"/>
          </a:xfrm>
          <a:prstGeom prst="rect">
            <a:avLst/>
          </a:prstGeom>
          <a:noFill/>
          <a:ln w="0">
            <a:noFill/>
          </a:ln>
        </p:spPr>
        <p:txBody>
          <a:bodyPr>
            <a:normAutofit/>
          </a:bodyPr>
          <a:lstStyle/>
          <a:p>
            <a:pPr algn="ctr">
              <a:defRPr sz="3000" b="1">
                <a:solidFill>
                  <a:srgbClr val="0F6CBD"/>
                </a:solidFill>
                <a:latin typeface="Arial"/>
                <a:ea typeface="Arial"/>
                <a:cs typeface="Arial"/>
              </a:defRPr>
            </a:pPr>
            <a:r>
              <a:rPr sz="3000" b="1">
                <a:solidFill>
                  <a:srgbClr val="0F6CBD"/>
                </a:solidFill>
                <a:latin typeface="Arial"/>
                <a:ea typeface="Arial"/>
                <a:cs typeface="Arial"/>
              </a:rPr>
              <a:t>›</a:t>
            </a:r>
          </a:p>
        </p:txBody>
      </p:sp>
      <p:sp>
        <p:nvSpPr>
          <p:cNvPr id="36" name="Rectangle: Rounded Corners 35">
            <a:extLst>
              <a:ext uri="{FF2B5EF4-FFF2-40B4-BE49-F238E27FC236}">
                <a16:creationId xmlns:a16="http://schemas.microsoft.com/office/drawing/2014/main" id="{BBFD4B20-BE29-4620-8F8C-7FA2DC665671}"/>
              </a:ext>
            </a:extLst>
          </p:cNvPr>
          <p:cNvSpPr>
            <a:spLocks noGrp="1"/>
          </p:cNvSpPr>
          <p:nvPr/>
        </p:nvSpPr>
        <p:spPr>
          <a:xfrm>
            <a:off x="9829800" y="2000250"/>
            <a:ext cx="1828800" cy="2324100"/>
          </a:xfrm>
          <a:prstGeom prst="roundRect">
            <a:avLst>
              <a:gd name="adj" fmla="val 4167"/>
            </a:avLst>
          </a:prstGeom>
          <a:solidFill>
            <a:srgbClr val="FFFFFF"/>
          </a:solidFill>
          <a:ln w="9525">
            <a:solidFill>
              <a:srgbClr val="D5E2EE"/>
            </a:solidFill>
          </a:ln>
        </p:spPr>
        <p:txBody>
          <a:bodyPr/>
          <a:lstStyle/>
          <a:p>
            <a:endParaRPr lang="en-US"/>
          </a:p>
        </p:txBody>
      </p:sp>
      <p:sp>
        <p:nvSpPr>
          <p:cNvPr id="37" name="Rectangle 36">
            <a:extLst>
              <a:ext uri="{FF2B5EF4-FFF2-40B4-BE49-F238E27FC236}">
                <a16:creationId xmlns:a16="http://schemas.microsoft.com/office/drawing/2014/main" id="{851DD24C-98F5-4103-91F8-6345558713A2}"/>
              </a:ext>
            </a:extLst>
          </p:cNvPr>
          <p:cNvSpPr>
            <a:spLocks noGrp="1"/>
          </p:cNvSpPr>
          <p:nvPr/>
        </p:nvSpPr>
        <p:spPr>
          <a:xfrm>
            <a:off x="9829800" y="2000250"/>
            <a:ext cx="1828800" cy="76200"/>
          </a:xfrm>
          <a:prstGeom prst="rect">
            <a:avLst/>
          </a:prstGeom>
          <a:solidFill>
            <a:srgbClr val="E5532D"/>
          </a:solidFill>
          <a:ln w="0">
            <a:solidFill>
              <a:srgbClr val="E5532D"/>
            </a:solidFill>
          </a:ln>
        </p:spPr>
        <p:txBody>
          <a:bodyPr/>
          <a:lstStyle/>
          <a:p>
            <a:endParaRPr lang="en-US"/>
          </a:p>
        </p:txBody>
      </p:sp>
      <p:sp>
        <p:nvSpPr>
          <p:cNvPr id="38" name="Rectangle 37">
            <a:extLst>
              <a:ext uri="{FF2B5EF4-FFF2-40B4-BE49-F238E27FC236}">
                <a16:creationId xmlns:a16="http://schemas.microsoft.com/office/drawing/2014/main" id="{902B70F7-FD1D-48B6-BFE3-DBE18190B247}"/>
              </a:ext>
            </a:extLst>
          </p:cNvPr>
          <p:cNvSpPr>
            <a:spLocks noGrp="1"/>
          </p:cNvSpPr>
          <p:nvPr/>
        </p:nvSpPr>
        <p:spPr>
          <a:xfrm>
            <a:off x="9982200" y="2266950"/>
            <a:ext cx="1524000" cy="304800"/>
          </a:xfrm>
          <a:prstGeom prst="rect">
            <a:avLst/>
          </a:prstGeom>
          <a:noFill/>
          <a:ln w="0">
            <a:noFill/>
          </a:ln>
        </p:spPr>
        <p:txBody>
          <a:bodyPr>
            <a:normAutofit fontScale="90792"/>
          </a:bodyPr>
          <a:lstStyle/>
          <a:p>
            <a:pPr algn="ctr">
              <a:defRPr sz="1425" b="1">
                <a:solidFill>
                  <a:srgbClr val="17324D"/>
                </a:solidFill>
                <a:latin typeface="Arial"/>
                <a:ea typeface="Arial"/>
                <a:cs typeface="Arial"/>
              </a:defRPr>
            </a:pPr>
            <a:r>
              <a:rPr sz="1425" b="1">
                <a:solidFill>
                  <a:srgbClr val="17324D"/>
                </a:solidFill>
                <a:latin typeface="Arial"/>
                <a:ea typeface="Arial"/>
                <a:cs typeface="Arial"/>
              </a:rPr>
              <a:t>Azure Databricks</a:t>
            </a:r>
          </a:p>
        </p:txBody>
      </p:sp>
      <p:sp>
        <p:nvSpPr>
          <p:cNvPr id="39" name="Rectangle 38">
            <a:extLst>
              <a:ext uri="{FF2B5EF4-FFF2-40B4-BE49-F238E27FC236}">
                <a16:creationId xmlns:a16="http://schemas.microsoft.com/office/drawing/2014/main" id="{09F10F11-FE79-4904-B48E-7EA7EB18D1E7}"/>
              </a:ext>
            </a:extLst>
          </p:cNvPr>
          <p:cNvSpPr>
            <a:spLocks noGrp="1"/>
          </p:cNvSpPr>
          <p:nvPr/>
        </p:nvSpPr>
        <p:spPr>
          <a:xfrm>
            <a:off x="9982200" y="2743200"/>
            <a:ext cx="1524000" cy="266700"/>
          </a:xfrm>
          <a:prstGeom prst="rect">
            <a:avLst/>
          </a:prstGeom>
          <a:noFill/>
          <a:ln w="0">
            <a:noFill/>
          </a:ln>
        </p:spPr>
        <p:txBody>
          <a:bodyPr>
            <a:normAutofit fontScale="95833"/>
          </a:bodyPr>
          <a:lstStyle/>
          <a:p>
            <a:pPr algn="ctr">
              <a:defRPr sz="1200" b="1">
                <a:solidFill>
                  <a:srgbClr val="E5532D"/>
                </a:solidFill>
                <a:latin typeface="Arial"/>
                <a:ea typeface="Arial"/>
                <a:cs typeface="Arial"/>
              </a:defRPr>
            </a:pPr>
            <a:r>
              <a:rPr sz="1200" b="1">
                <a:solidFill>
                  <a:srgbClr val="E5532D"/>
                </a:solidFill>
                <a:latin typeface="Arial"/>
                <a:ea typeface="Arial"/>
                <a:cs typeface="Arial"/>
              </a:rPr>
              <a:t>Genie and SQL</a:t>
            </a:r>
          </a:p>
        </p:txBody>
      </p:sp>
      <p:sp>
        <p:nvSpPr>
          <p:cNvPr id="40" name="Rectangle 39">
            <a:extLst>
              <a:ext uri="{FF2B5EF4-FFF2-40B4-BE49-F238E27FC236}">
                <a16:creationId xmlns:a16="http://schemas.microsoft.com/office/drawing/2014/main" id="{A8F7731A-C7FD-4893-85B1-47CDC7EB22A4}"/>
              </a:ext>
            </a:extLst>
          </p:cNvPr>
          <p:cNvSpPr>
            <a:spLocks noGrp="1"/>
          </p:cNvSpPr>
          <p:nvPr/>
        </p:nvSpPr>
        <p:spPr>
          <a:xfrm>
            <a:off x="10020300" y="3162300"/>
            <a:ext cx="1447800" cy="571500"/>
          </a:xfrm>
          <a:prstGeom prst="rect">
            <a:avLst/>
          </a:prstGeom>
          <a:noFill/>
          <a:ln w="0">
            <a:noFill/>
          </a:ln>
        </p:spPr>
        <p:txBody>
          <a:bodyPr>
            <a:normAutofit/>
          </a:bodyPr>
          <a:lstStyle/>
          <a:p>
            <a:pPr algn="ctr">
              <a:defRPr sz="1125" b="0">
                <a:solidFill>
                  <a:srgbClr val="526A80"/>
                </a:solidFill>
                <a:latin typeface="Arial"/>
                <a:ea typeface="Arial"/>
                <a:cs typeface="Arial"/>
              </a:defRPr>
            </a:pPr>
            <a:r>
              <a:rPr sz="1125" b="0">
                <a:solidFill>
                  <a:srgbClr val="526A80"/>
                </a:solidFill>
                <a:latin typeface="Arial"/>
                <a:ea typeface="Arial"/>
                <a:cs typeface="Arial"/>
              </a:rPr>
              <a:t>Returns governed data</a:t>
            </a:r>
          </a:p>
        </p:txBody>
      </p:sp>
      <p:sp>
        <p:nvSpPr>
          <p:cNvPr id="41" name="Rectangle: Rounded Corners 40">
            <a:extLst>
              <a:ext uri="{FF2B5EF4-FFF2-40B4-BE49-F238E27FC236}">
                <a16:creationId xmlns:a16="http://schemas.microsoft.com/office/drawing/2014/main" id="{048B75EE-ACFA-4736-9E67-C73EC7E5EA86}"/>
              </a:ext>
            </a:extLst>
          </p:cNvPr>
          <p:cNvSpPr>
            <a:spLocks noGrp="1"/>
          </p:cNvSpPr>
          <p:nvPr/>
        </p:nvSpPr>
        <p:spPr>
          <a:xfrm>
            <a:off x="533400" y="4762500"/>
            <a:ext cx="3429000" cy="990600"/>
          </a:xfrm>
          <a:prstGeom prst="roundRect">
            <a:avLst>
              <a:gd name="adj" fmla="val 7692"/>
            </a:avLst>
          </a:prstGeom>
          <a:solidFill>
            <a:srgbClr val="EFF6FC"/>
          </a:solidFill>
          <a:ln w="9525">
            <a:solidFill>
              <a:srgbClr val="BAD7EF"/>
            </a:solidFill>
          </a:ln>
        </p:spPr>
        <p:txBody>
          <a:bodyPr/>
          <a:lstStyle/>
          <a:p>
            <a:endParaRPr lang="en-US"/>
          </a:p>
        </p:txBody>
      </p:sp>
      <p:sp>
        <p:nvSpPr>
          <p:cNvPr id="42" name="Rectangle 41">
            <a:extLst>
              <a:ext uri="{FF2B5EF4-FFF2-40B4-BE49-F238E27FC236}">
                <a16:creationId xmlns:a16="http://schemas.microsoft.com/office/drawing/2014/main" id="{24C84D73-72FD-4F74-A39C-BFAEF9423BEC}"/>
              </a:ext>
            </a:extLst>
          </p:cNvPr>
          <p:cNvSpPr>
            <a:spLocks noGrp="1"/>
          </p:cNvSpPr>
          <p:nvPr/>
        </p:nvSpPr>
        <p:spPr>
          <a:xfrm>
            <a:off x="723900" y="497205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Private networking</a:t>
            </a:r>
          </a:p>
        </p:txBody>
      </p:sp>
      <p:sp>
        <p:nvSpPr>
          <p:cNvPr id="43" name="Rectangle 42">
            <a:extLst>
              <a:ext uri="{FF2B5EF4-FFF2-40B4-BE49-F238E27FC236}">
                <a16:creationId xmlns:a16="http://schemas.microsoft.com/office/drawing/2014/main" id="{13351689-D98A-497C-914E-55C06E563505}"/>
              </a:ext>
            </a:extLst>
          </p:cNvPr>
          <p:cNvSpPr>
            <a:spLocks noGrp="1"/>
          </p:cNvSpPr>
          <p:nvPr/>
        </p:nvSpPr>
        <p:spPr>
          <a:xfrm>
            <a:off x="723900" y="5286375"/>
            <a:ext cx="3048000" cy="342900"/>
          </a:xfrm>
          <a:prstGeom prst="rect">
            <a:avLst/>
          </a:prstGeom>
          <a:noFill/>
          <a:ln w="0">
            <a:noFill/>
          </a:ln>
        </p:spPr>
        <p:txBody>
          <a:bodyPr>
            <a:normAutofit fontScale="73333"/>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Managed Environment, delegated subnets, private endpoints, and DNS</a:t>
            </a:r>
          </a:p>
        </p:txBody>
      </p:sp>
      <p:sp>
        <p:nvSpPr>
          <p:cNvPr id="44" name="Rectangle: Rounded Corners 43">
            <a:extLst>
              <a:ext uri="{FF2B5EF4-FFF2-40B4-BE49-F238E27FC236}">
                <a16:creationId xmlns:a16="http://schemas.microsoft.com/office/drawing/2014/main" id="{18819F33-291E-44CF-A073-4FB84F95A98A}"/>
              </a:ext>
            </a:extLst>
          </p:cNvPr>
          <p:cNvSpPr>
            <a:spLocks noGrp="1"/>
          </p:cNvSpPr>
          <p:nvPr/>
        </p:nvSpPr>
        <p:spPr>
          <a:xfrm>
            <a:off x="4381500" y="4762500"/>
            <a:ext cx="3429000" cy="990600"/>
          </a:xfrm>
          <a:prstGeom prst="roundRect">
            <a:avLst>
              <a:gd name="adj" fmla="val 7692"/>
            </a:avLst>
          </a:prstGeom>
          <a:solidFill>
            <a:srgbClr val="EAF7E8"/>
          </a:solidFill>
          <a:ln w="9525">
            <a:solidFill>
              <a:srgbClr val="A8D8A4"/>
            </a:solidFill>
          </a:ln>
        </p:spPr>
        <p:txBody>
          <a:bodyPr/>
          <a:lstStyle/>
          <a:p>
            <a:endParaRPr lang="en-US"/>
          </a:p>
        </p:txBody>
      </p:sp>
      <p:sp>
        <p:nvSpPr>
          <p:cNvPr id="45" name="Rectangle 44">
            <a:extLst>
              <a:ext uri="{FF2B5EF4-FFF2-40B4-BE49-F238E27FC236}">
                <a16:creationId xmlns:a16="http://schemas.microsoft.com/office/drawing/2014/main" id="{5DC58884-DD24-48B7-9EC6-97DC56E027B8}"/>
              </a:ext>
            </a:extLst>
          </p:cNvPr>
          <p:cNvSpPr>
            <a:spLocks noGrp="1"/>
          </p:cNvSpPr>
          <p:nvPr/>
        </p:nvSpPr>
        <p:spPr>
          <a:xfrm>
            <a:off x="4572000" y="4972050"/>
            <a:ext cx="3048000" cy="247650"/>
          </a:xfrm>
          <a:prstGeom prst="rect">
            <a:avLst/>
          </a:prstGeom>
          <a:noFill/>
          <a:ln w="0">
            <a:noFill/>
          </a:ln>
        </p:spPr>
        <p:txBody>
          <a:bodyPr>
            <a:normAutofit fontScale="80392"/>
          </a:bodyPr>
          <a:lstStyle/>
          <a:p>
            <a:pPr algn="l">
              <a:defRPr sz="1275" b="1">
                <a:solidFill>
                  <a:srgbClr val="107C10"/>
                </a:solidFill>
                <a:latin typeface="Arial"/>
                <a:ea typeface="Arial"/>
                <a:cs typeface="Arial"/>
              </a:defRPr>
            </a:pPr>
            <a:r>
              <a:rPr sz="1275" b="1">
                <a:solidFill>
                  <a:srgbClr val="107C10"/>
                </a:solidFill>
                <a:latin typeface="Arial"/>
                <a:ea typeface="Arial"/>
                <a:cs typeface="Arial"/>
              </a:rPr>
              <a:t>Managed identity</a:t>
            </a:r>
          </a:p>
        </p:txBody>
      </p:sp>
      <p:sp>
        <p:nvSpPr>
          <p:cNvPr id="46" name="Rectangle 45">
            <a:extLst>
              <a:ext uri="{FF2B5EF4-FFF2-40B4-BE49-F238E27FC236}">
                <a16:creationId xmlns:a16="http://schemas.microsoft.com/office/drawing/2014/main" id="{094AA698-7088-4BE5-9603-C0C234FB46A2}"/>
              </a:ext>
            </a:extLst>
          </p:cNvPr>
          <p:cNvSpPr>
            <a:spLocks noGrp="1"/>
          </p:cNvSpPr>
          <p:nvPr/>
        </p:nvSpPr>
        <p:spPr>
          <a:xfrm>
            <a:off x="4572000" y="5286375"/>
            <a:ext cx="3048000" cy="342900"/>
          </a:xfrm>
          <a:prstGeom prst="rect">
            <a:avLst/>
          </a:prstGeom>
          <a:noFill/>
          <a:ln w="0">
            <a:noFill/>
          </a:ln>
        </p:spPr>
        <p:txBody>
          <a:bodyPr>
            <a:normAutofit fontScale="73333"/>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APIM obtains the Databricks token. Power Platform stores no Databricks secret.</a:t>
            </a:r>
          </a:p>
        </p:txBody>
      </p:sp>
      <p:sp>
        <p:nvSpPr>
          <p:cNvPr id="47" name="Rectangle: Rounded Corners 46">
            <a:extLst>
              <a:ext uri="{FF2B5EF4-FFF2-40B4-BE49-F238E27FC236}">
                <a16:creationId xmlns:a16="http://schemas.microsoft.com/office/drawing/2014/main" id="{67C41CF5-D50E-47A2-BA6C-710550F5D21D}"/>
              </a:ext>
            </a:extLst>
          </p:cNvPr>
          <p:cNvSpPr>
            <a:spLocks noGrp="1"/>
          </p:cNvSpPr>
          <p:nvPr/>
        </p:nvSpPr>
        <p:spPr>
          <a:xfrm>
            <a:off x="8229600" y="4762500"/>
            <a:ext cx="3429000" cy="990600"/>
          </a:xfrm>
          <a:prstGeom prst="roundRect">
            <a:avLst>
              <a:gd name="adj" fmla="val 7692"/>
            </a:avLst>
          </a:prstGeom>
          <a:solidFill>
            <a:srgbClr val="FFF8E8"/>
          </a:solidFill>
          <a:ln w="9525">
            <a:solidFill>
              <a:srgbClr val="EFD69A"/>
            </a:solidFill>
          </a:ln>
        </p:spPr>
        <p:txBody>
          <a:bodyPr/>
          <a:lstStyle/>
          <a:p>
            <a:endParaRPr lang="en-US"/>
          </a:p>
        </p:txBody>
      </p:sp>
      <p:sp>
        <p:nvSpPr>
          <p:cNvPr id="48" name="Rectangle 47">
            <a:extLst>
              <a:ext uri="{FF2B5EF4-FFF2-40B4-BE49-F238E27FC236}">
                <a16:creationId xmlns:a16="http://schemas.microsoft.com/office/drawing/2014/main" id="{18EA1DB9-245C-40FB-9BAA-DDAA97E29EBD}"/>
              </a:ext>
            </a:extLst>
          </p:cNvPr>
          <p:cNvSpPr>
            <a:spLocks noGrp="1"/>
          </p:cNvSpPr>
          <p:nvPr/>
        </p:nvSpPr>
        <p:spPr>
          <a:xfrm>
            <a:off x="8420100" y="4972050"/>
            <a:ext cx="3048000" cy="247650"/>
          </a:xfrm>
          <a:prstGeom prst="rect">
            <a:avLst/>
          </a:prstGeom>
          <a:noFill/>
          <a:ln w="0">
            <a:noFill/>
          </a:ln>
        </p:spPr>
        <p:txBody>
          <a:bodyPr>
            <a:normAutofit fontScale="80392"/>
          </a:bodyPr>
          <a:lstStyle/>
          <a:p>
            <a:pPr algn="l">
              <a:defRPr sz="1275" b="1">
                <a:solidFill>
                  <a:srgbClr val="7A5200"/>
                </a:solidFill>
                <a:latin typeface="Arial"/>
                <a:ea typeface="Arial"/>
                <a:cs typeface="Arial"/>
              </a:defRPr>
            </a:pPr>
            <a:r>
              <a:rPr sz="1275" b="1">
                <a:solidFill>
                  <a:srgbClr val="7A5200"/>
                </a:solidFill>
                <a:latin typeface="Arial"/>
                <a:ea typeface="Arial"/>
                <a:cs typeface="Arial"/>
              </a:rPr>
              <a:t>Governed PowerPoint output</a:t>
            </a:r>
          </a:p>
        </p:txBody>
      </p:sp>
      <p:sp>
        <p:nvSpPr>
          <p:cNvPr id="49" name="Rectangle 48">
            <a:extLst>
              <a:ext uri="{FF2B5EF4-FFF2-40B4-BE49-F238E27FC236}">
                <a16:creationId xmlns:a16="http://schemas.microsoft.com/office/drawing/2014/main" id="{73A31C3B-4A8A-4866-AE3D-CE7104BE3B15}"/>
              </a:ext>
            </a:extLst>
          </p:cNvPr>
          <p:cNvSpPr>
            <a:spLocks noGrp="1"/>
          </p:cNvSpPr>
          <p:nvPr/>
        </p:nvSpPr>
        <p:spPr>
          <a:xfrm>
            <a:off x="8420100" y="5286375"/>
            <a:ext cx="3048000" cy="342900"/>
          </a:xfrm>
          <a:prstGeom prst="rect">
            <a:avLst/>
          </a:prstGeom>
          <a:noFill/>
          <a:ln w="0">
            <a:noFill/>
          </a:ln>
        </p:spPr>
        <p:txBody>
          <a:bodyPr>
            <a:normAutofit fontScale="73333"/>
          </a:bodyPr>
          <a:lstStyle/>
          <a:p>
            <a:pPr algn="l">
              <a:defRPr sz="1125" b="0">
                <a:solidFill>
                  <a:srgbClr val="17324D"/>
                </a:solidFill>
                <a:latin typeface="Arial"/>
                <a:ea typeface="Arial"/>
                <a:cs typeface="Arial"/>
              </a:defRPr>
            </a:pPr>
            <a:r>
              <a:rPr sz="1125" b="0">
                <a:solidFill>
                  <a:srgbClr val="17324D"/>
                </a:solidFill>
                <a:latin typeface="Arial"/>
                <a:ea typeface="Arial"/>
                <a:cs typeface="Arial"/>
              </a:rPr>
              <a:t>The agent creates a verified deck with native charts and speaker notes.</a:t>
            </a:r>
          </a:p>
        </p:txBody>
      </p:sp>
    </p:spTree>
    <p:extLst>
      <p:ext uri="{BB962C8B-B14F-4D97-AF65-F5344CB8AC3E}">
        <p14:creationId xmlns:p14="http://schemas.microsoft.com/office/powerpoint/2010/main" val="1875946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4E27896-60E1-49FD-8555-0A9DC91033F5}"/>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1CBBFCB4-B8DA-463E-83F2-D04EFF7AAA84}"/>
              </a:ext>
            </a:extLst>
          </p:cNvPr>
          <p:cNvSpPr>
            <a:spLocks noGrp="1"/>
          </p:cNvSpPr>
          <p:nvPr/>
        </p:nvSpPr>
        <p:spPr>
          <a:xfrm>
            <a:off x="533400" y="323850"/>
            <a:ext cx="9334500" cy="495300"/>
          </a:xfrm>
          <a:prstGeom prst="rect">
            <a:avLst/>
          </a:prstGeom>
          <a:noFill/>
          <a:ln w="0">
            <a:noFill/>
          </a:ln>
        </p:spPr>
        <p:txBody>
          <a:bodyPr>
            <a:normAutofit fontScale="94336"/>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One reusable low-code pattern can serve many business functions</a:t>
            </a:r>
          </a:p>
        </p:txBody>
      </p:sp>
      <p:sp>
        <p:nvSpPr>
          <p:cNvPr id="3" name="Rectangle 2">
            <a:extLst>
              <a:ext uri="{FF2B5EF4-FFF2-40B4-BE49-F238E27FC236}">
                <a16:creationId xmlns:a16="http://schemas.microsoft.com/office/drawing/2014/main" id="{45D0B379-2420-4E6B-886C-882E389516E4}"/>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Teams use the same governed connector and deck skill while changing prompts, data permissions, and presentation templates</a:t>
            </a:r>
          </a:p>
        </p:txBody>
      </p:sp>
      <p:sp>
        <p:nvSpPr>
          <p:cNvPr id="4" name="Rectangle 3">
            <a:extLst>
              <a:ext uri="{FF2B5EF4-FFF2-40B4-BE49-F238E27FC236}">
                <a16:creationId xmlns:a16="http://schemas.microsoft.com/office/drawing/2014/main" id="{B9315A30-C7C6-4578-81AF-B7F5D8947955}"/>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9CD417F3-D380-4614-B297-896CBA0A4FEE}"/>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FFE7E648-B0A9-45F9-9B6F-8BF6EE68E98E}"/>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97F8AE2F-BA88-4623-A1F7-963C902301C7}"/>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A0461B95-55C6-4784-8E68-88D27C5937EF}"/>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CB82CAAF-9A82-4C59-9A0D-3B976219D7C1}"/>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53867C75-38E9-4C78-B052-FC28E84D872A}"/>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D18B6DDC-1A9E-4B73-B1C7-2205B4ADE6E6}"/>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05</a:t>
            </a:r>
          </a:p>
        </p:txBody>
      </p:sp>
      <p:sp>
        <p:nvSpPr>
          <p:cNvPr id="12" name="Rectangle: Rounded Corners 11">
            <a:extLst>
              <a:ext uri="{FF2B5EF4-FFF2-40B4-BE49-F238E27FC236}">
                <a16:creationId xmlns:a16="http://schemas.microsoft.com/office/drawing/2014/main" id="{2DB7BDD6-F6AF-4AA2-8C28-13CF60BBCBDE}"/>
              </a:ext>
            </a:extLst>
          </p:cNvPr>
          <p:cNvSpPr>
            <a:spLocks noGrp="1"/>
          </p:cNvSpPr>
          <p:nvPr/>
        </p:nvSpPr>
        <p:spPr>
          <a:xfrm>
            <a:off x="533400" y="1504950"/>
            <a:ext cx="3505200" cy="1543050"/>
          </a:xfrm>
          <a:prstGeom prst="roundRect">
            <a:avLst>
              <a:gd name="adj" fmla="val 4938"/>
            </a:avLst>
          </a:prstGeom>
          <a:solidFill>
            <a:srgbClr val="FFFFFF"/>
          </a:solidFill>
          <a:ln w="9525">
            <a:solidFill>
              <a:srgbClr val="D5E2EE"/>
            </a:solidFill>
          </a:ln>
        </p:spPr>
        <p:txBody>
          <a:bodyPr/>
          <a:lstStyle/>
          <a:p>
            <a:endParaRPr lang="en-US"/>
          </a:p>
        </p:txBody>
      </p:sp>
      <p:sp>
        <p:nvSpPr>
          <p:cNvPr id="13" name="Rectangle 12">
            <a:extLst>
              <a:ext uri="{FF2B5EF4-FFF2-40B4-BE49-F238E27FC236}">
                <a16:creationId xmlns:a16="http://schemas.microsoft.com/office/drawing/2014/main" id="{7630B915-75D6-49C5-9A41-8BFA2E09BA46}"/>
              </a:ext>
            </a:extLst>
          </p:cNvPr>
          <p:cNvSpPr>
            <a:spLocks noGrp="1"/>
          </p:cNvSpPr>
          <p:nvPr/>
        </p:nvSpPr>
        <p:spPr>
          <a:xfrm>
            <a:off x="533400" y="1504950"/>
            <a:ext cx="3505200" cy="66675"/>
          </a:xfrm>
          <a:prstGeom prst="rect">
            <a:avLst/>
          </a:prstGeom>
          <a:solidFill>
            <a:srgbClr val="0F6CBD"/>
          </a:solidFill>
          <a:ln w="0">
            <a:solidFill>
              <a:srgbClr val="0F6CBD"/>
            </a:solidFill>
          </a:ln>
        </p:spPr>
        <p:txBody>
          <a:bodyPr/>
          <a:lstStyle/>
          <a:p>
            <a:endParaRPr lang="en-US"/>
          </a:p>
        </p:txBody>
      </p:sp>
      <p:sp>
        <p:nvSpPr>
          <p:cNvPr id="14" name="Rectangle 13">
            <a:extLst>
              <a:ext uri="{FF2B5EF4-FFF2-40B4-BE49-F238E27FC236}">
                <a16:creationId xmlns:a16="http://schemas.microsoft.com/office/drawing/2014/main" id="{E8AA13BE-E5E5-47B0-BD5F-B50A1469235B}"/>
              </a:ext>
            </a:extLst>
          </p:cNvPr>
          <p:cNvSpPr>
            <a:spLocks noGrp="1"/>
          </p:cNvSpPr>
          <p:nvPr/>
        </p:nvSpPr>
        <p:spPr>
          <a:xfrm>
            <a:off x="762000" y="1733550"/>
            <a:ext cx="3048000" cy="285750"/>
          </a:xfrm>
          <a:prstGeom prst="rect">
            <a:avLst/>
          </a:prstGeom>
          <a:noFill/>
          <a:ln w="0">
            <a:noFill/>
          </a:ln>
        </p:spPr>
        <p:txBody>
          <a:bodyPr>
            <a:normAutofit fontScale="73913"/>
          </a:bodyPr>
          <a:lstStyle/>
          <a:p>
            <a:pPr algn="l">
              <a:defRPr sz="1725" b="1">
                <a:solidFill>
                  <a:srgbClr val="17324D"/>
                </a:solidFill>
                <a:latin typeface="Arial"/>
                <a:ea typeface="Arial"/>
                <a:cs typeface="Arial"/>
              </a:defRPr>
            </a:pPr>
            <a:r>
              <a:rPr sz="1725" b="1">
                <a:solidFill>
                  <a:srgbClr val="17324D"/>
                </a:solidFill>
                <a:latin typeface="Arial"/>
                <a:ea typeface="Arial"/>
                <a:cs typeface="Arial"/>
              </a:rPr>
              <a:t>Sales</a:t>
            </a:r>
          </a:p>
        </p:txBody>
      </p:sp>
      <p:sp>
        <p:nvSpPr>
          <p:cNvPr id="15" name="Rectangle 14">
            <a:extLst>
              <a:ext uri="{FF2B5EF4-FFF2-40B4-BE49-F238E27FC236}">
                <a16:creationId xmlns:a16="http://schemas.microsoft.com/office/drawing/2014/main" id="{C2244E4E-E49F-408D-ADAE-7F643273CEE0}"/>
              </a:ext>
            </a:extLst>
          </p:cNvPr>
          <p:cNvSpPr>
            <a:spLocks noGrp="1"/>
          </p:cNvSpPr>
          <p:nvPr/>
        </p:nvSpPr>
        <p:spPr>
          <a:xfrm>
            <a:off x="762000" y="213360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Pipeline reviews</a:t>
            </a:r>
          </a:p>
        </p:txBody>
      </p:sp>
      <p:sp>
        <p:nvSpPr>
          <p:cNvPr id="16" name="Rectangle 15">
            <a:extLst>
              <a:ext uri="{FF2B5EF4-FFF2-40B4-BE49-F238E27FC236}">
                <a16:creationId xmlns:a16="http://schemas.microsoft.com/office/drawing/2014/main" id="{1B0E8E7F-978E-41E8-91AA-A4A590552050}"/>
              </a:ext>
            </a:extLst>
          </p:cNvPr>
          <p:cNvSpPr>
            <a:spLocks noGrp="1"/>
          </p:cNvSpPr>
          <p:nvPr/>
        </p:nvSpPr>
        <p:spPr>
          <a:xfrm>
            <a:off x="762000" y="2438400"/>
            <a:ext cx="3048000" cy="400050"/>
          </a:xfrm>
          <a:prstGeom prst="rect">
            <a:avLst/>
          </a:prstGeom>
          <a:noFill/>
          <a:ln w="0">
            <a:noFill/>
          </a:ln>
        </p:spPr>
        <p:txBody>
          <a:bodyPr>
            <a:normAutofit/>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Account plans and forecast decks</a:t>
            </a:r>
          </a:p>
        </p:txBody>
      </p:sp>
      <p:sp>
        <p:nvSpPr>
          <p:cNvPr id="17" name="Rectangle: Rounded Corners 16">
            <a:extLst>
              <a:ext uri="{FF2B5EF4-FFF2-40B4-BE49-F238E27FC236}">
                <a16:creationId xmlns:a16="http://schemas.microsoft.com/office/drawing/2014/main" id="{24E9BA16-B96E-4D69-B8FD-C51D718CFB80}"/>
              </a:ext>
            </a:extLst>
          </p:cNvPr>
          <p:cNvSpPr>
            <a:spLocks noGrp="1"/>
          </p:cNvSpPr>
          <p:nvPr/>
        </p:nvSpPr>
        <p:spPr>
          <a:xfrm>
            <a:off x="4343400" y="1504950"/>
            <a:ext cx="3505200" cy="1543050"/>
          </a:xfrm>
          <a:prstGeom prst="roundRect">
            <a:avLst>
              <a:gd name="adj" fmla="val 4938"/>
            </a:avLst>
          </a:prstGeom>
          <a:solidFill>
            <a:srgbClr val="FFFFFF"/>
          </a:solidFill>
          <a:ln w="9525">
            <a:solidFill>
              <a:srgbClr val="D5E2EE"/>
            </a:solidFill>
          </a:ln>
        </p:spPr>
        <p:txBody>
          <a:bodyPr/>
          <a:lstStyle/>
          <a:p>
            <a:endParaRPr lang="en-US"/>
          </a:p>
        </p:txBody>
      </p:sp>
      <p:sp>
        <p:nvSpPr>
          <p:cNvPr id="18" name="Rectangle 17">
            <a:extLst>
              <a:ext uri="{FF2B5EF4-FFF2-40B4-BE49-F238E27FC236}">
                <a16:creationId xmlns:a16="http://schemas.microsoft.com/office/drawing/2014/main" id="{0013175C-4117-4CD4-AA5D-99609A43264B}"/>
              </a:ext>
            </a:extLst>
          </p:cNvPr>
          <p:cNvSpPr>
            <a:spLocks noGrp="1"/>
          </p:cNvSpPr>
          <p:nvPr/>
        </p:nvSpPr>
        <p:spPr>
          <a:xfrm>
            <a:off x="4343400" y="1504950"/>
            <a:ext cx="3505200" cy="66675"/>
          </a:xfrm>
          <a:prstGeom prst="rect">
            <a:avLst/>
          </a:prstGeom>
          <a:solidFill>
            <a:srgbClr val="742774"/>
          </a:solidFill>
          <a:ln w="0">
            <a:solidFill>
              <a:srgbClr val="742774"/>
            </a:solidFill>
          </a:ln>
        </p:spPr>
        <p:txBody>
          <a:bodyPr/>
          <a:lstStyle/>
          <a:p>
            <a:endParaRPr lang="en-US"/>
          </a:p>
        </p:txBody>
      </p:sp>
      <p:sp>
        <p:nvSpPr>
          <p:cNvPr id="19" name="Rectangle 18">
            <a:extLst>
              <a:ext uri="{FF2B5EF4-FFF2-40B4-BE49-F238E27FC236}">
                <a16:creationId xmlns:a16="http://schemas.microsoft.com/office/drawing/2014/main" id="{F64A2764-EDD9-493C-BE0C-E522C9CDE776}"/>
              </a:ext>
            </a:extLst>
          </p:cNvPr>
          <p:cNvSpPr>
            <a:spLocks noGrp="1"/>
          </p:cNvSpPr>
          <p:nvPr/>
        </p:nvSpPr>
        <p:spPr>
          <a:xfrm>
            <a:off x="4572000" y="1733550"/>
            <a:ext cx="3048000" cy="285750"/>
          </a:xfrm>
          <a:prstGeom prst="rect">
            <a:avLst/>
          </a:prstGeom>
          <a:noFill/>
          <a:ln w="0">
            <a:noFill/>
          </a:ln>
        </p:spPr>
        <p:txBody>
          <a:bodyPr>
            <a:normAutofit fontScale="73913"/>
          </a:bodyPr>
          <a:lstStyle/>
          <a:p>
            <a:pPr algn="l">
              <a:defRPr sz="1725" b="1">
                <a:solidFill>
                  <a:srgbClr val="17324D"/>
                </a:solidFill>
                <a:latin typeface="Arial"/>
                <a:ea typeface="Arial"/>
                <a:cs typeface="Arial"/>
              </a:defRPr>
            </a:pPr>
            <a:r>
              <a:rPr sz="1725" b="1">
                <a:solidFill>
                  <a:srgbClr val="17324D"/>
                </a:solidFill>
                <a:latin typeface="Arial"/>
                <a:ea typeface="Arial"/>
                <a:cs typeface="Arial"/>
              </a:rPr>
              <a:t>Supply chain</a:t>
            </a:r>
          </a:p>
        </p:txBody>
      </p:sp>
      <p:sp>
        <p:nvSpPr>
          <p:cNvPr id="20" name="Rectangle 19">
            <a:extLst>
              <a:ext uri="{FF2B5EF4-FFF2-40B4-BE49-F238E27FC236}">
                <a16:creationId xmlns:a16="http://schemas.microsoft.com/office/drawing/2014/main" id="{4D9A1782-45B5-4E95-86E1-DA31B64C7E23}"/>
              </a:ext>
            </a:extLst>
          </p:cNvPr>
          <p:cNvSpPr>
            <a:spLocks noGrp="1"/>
          </p:cNvSpPr>
          <p:nvPr/>
        </p:nvSpPr>
        <p:spPr>
          <a:xfrm>
            <a:off x="4572000" y="213360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Inventory and demand</a:t>
            </a:r>
          </a:p>
        </p:txBody>
      </p:sp>
      <p:sp>
        <p:nvSpPr>
          <p:cNvPr id="21" name="Rectangle 20">
            <a:extLst>
              <a:ext uri="{FF2B5EF4-FFF2-40B4-BE49-F238E27FC236}">
                <a16:creationId xmlns:a16="http://schemas.microsoft.com/office/drawing/2014/main" id="{96254A32-3274-48F8-847D-B3FFB751F41D}"/>
              </a:ext>
            </a:extLst>
          </p:cNvPr>
          <p:cNvSpPr>
            <a:spLocks noGrp="1"/>
          </p:cNvSpPr>
          <p:nvPr/>
        </p:nvSpPr>
        <p:spPr>
          <a:xfrm>
            <a:off x="4572000" y="2438400"/>
            <a:ext cx="3048000" cy="400050"/>
          </a:xfrm>
          <a:prstGeom prst="rect">
            <a:avLst/>
          </a:prstGeom>
          <a:noFill/>
          <a:ln w="0">
            <a:noFill/>
          </a:ln>
        </p:spPr>
        <p:txBody>
          <a:bodyPr>
            <a:normAutofit/>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Supplier and fulfillment reviews</a:t>
            </a:r>
          </a:p>
        </p:txBody>
      </p:sp>
      <p:sp>
        <p:nvSpPr>
          <p:cNvPr id="22" name="Rectangle: Rounded Corners 21">
            <a:extLst>
              <a:ext uri="{FF2B5EF4-FFF2-40B4-BE49-F238E27FC236}">
                <a16:creationId xmlns:a16="http://schemas.microsoft.com/office/drawing/2014/main" id="{031D160E-7CE3-4A21-9884-98C7020F5B88}"/>
              </a:ext>
            </a:extLst>
          </p:cNvPr>
          <p:cNvSpPr>
            <a:spLocks noGrp="1"/>
          </p:cNvSpPr>
          <p:nvPr/>
        </p:nvSpPr>
        <p:spPr>
          <a:xfrm>
            <a:off x="8153400" y="1504950"/>
            <a:ext cx="3505200" cy="1543050"/>
          </a:xfrm>
          <a:prstGeom prst="roundRect">
            <a:avLst>
              <a:gd name="adj" fmla="val 4938"/>
            </a:avLst>
          </a:prstGeom>
          <a:solidFill>
            <a:srgbClr val="FFFFFF"/>
          </a:solidFill>
          <a:ln w="9525">
            <a:solidFill>
              <a:srgbClr val="D5E2EE"/>
            </a:solidFill>
          </a:ln>
        </p:spPr>
        <p:txBody>
          <a:bodyPr/>
          <a:lstStyle/>
          <a:p>
            <a:endParaRPr lang="en-US"/>
          </a:p>
        </p:txBody>
      </p:sp>
      <p:sp>
        <p:nvSpPr>
          <p:cNvPr id="23" name="Rectangle 22">
            <a:extLst>
              <a:ext uri="{FF2B5EF4-FFF2-40B4-BE49-F238E27FC236}">
                <a16:creationId xmlns:a16="http://schemas.microsoft.com/office/drawing/2014/main" id="{4E405736-BBE8-4655-84DA-C5FF716D1E05}"/>
              </a:ext>
            </a:extLst>
          </p:cNvPr>
          <p:cNvSpPr>
            <a:spLocks noGrp="1"/>
          </p:cNvSpPr>
          <p:nvPr/>
        </p:nvSpPr>
        <p:spPr>
          <a:xfrm>
            <a:off x="8153400" y="1504950"/>
            <a:ext cx="3505200" cy="66675"/>
          </a:xfrm>
          <a:prstGeom prst="rect">
            <a:avLst/>
          </a:prstGeom>
          <a:solidFill>
            <a:srgbClr val="107C10"/>
          </a:solidFill>
          <a:ln w="0">
            <a:solidFill>
              <a:srgbClr val="107C10"/>
            </a:solidFill>
          </a:ln>
        </p:spPr>
        <p:txBody>
          <a:bodyPr/>
          <a:lstStyle/>
          <a:p>
            <a:endParaRPr lang="en-US"/>
          </a:p>
        </p:txBody>
      </p:sp>
      <p:sp>
        <p:nvSpPr>
          <p:cNvPr id="24" name="Rectangle 23">
            <a:extLst>
              <a:ext uri="{FF2B5EF4-FFF2-40B4-BE49-F238E27FC236}">
                <a16:creationId xmlns:a16="http://schemas.microsoft.com/office/drawing/2014/main" id="{E9E87C4B-E261-4617-AA8A-379FB3C8CC6F}"/>
              </a:ext>
            </a:extLst>
          </p:cNvPr>
          <p:cNvSpPr>
            <a:spLocks noGrp="1"/>
          </p:cNvSpPr>
          <p:nvPr/>
        </p:nvSpPr>
        <p:spPr>
          <a:xfrm>
            <a:off x="8382000" y="1733550"/>
            <a:ext cx="3048000" cy="285750"/>
          </a:xfrm>
          <a:prstGeom prst="rect">
            <a:avLst/>
          </a:prstGeom>
          <a:noFill/>
          <a:ln w="0">
            <a:noFill/>
          </a:ln>
        </p:spPr>
        <p:txBody>
          <a:bodyPr>
            <a:normAutofit fontScale="73913"/>
          </a:bodyPr>
          <a:lstStyle/>
          <a:p>
            <a:pPr algn="l">
              <a:defRPr sz="1725" b="1">
                <a:solidFill>
                  <a:srgbClr val="17324D"/>
                </a:solidFill>
                <a:latin typeface="Arial"/>
                <a:ea typeface="Arial"/>
                <a:cs typeface="Arial"/>
              </a:defRPr>
            </a:pPr>
            <a:r>
              <a:rPr sz="1725" b="1">
                <a:solidFill>
                  <a:srgbClr val="17324D"/>
                </a:solidFill>
                <a:latin typeface="Arial"/>
                <a:ea typeface="Arial"/>
                <a:cs typeface="Arial"/>
              </a:rPr>
              <a:t>Finance</a:t>
            </a:r>
          </a:p>
        </p:txBody>
      </p:sp>
      <p:sp>
        <p:nvSpPr>
          <p:cNvPr id="25" name="Rectangle 24">
            <a:extLst>
              <a:ext uri="{FF2B5EF4-FFF2-40B4-BE49-F238E27FC236}">
                <a16:creationId xmlns:a16="http://schemas.microsoft.com/office/drawing/2014/main" id="{EB3F707B-1266-4ECA-AFFD-5C9A6229ABB5}"/>
              </a:ext>
            </a:extLst>
          </p:cNvPr>
          <p:cNvSpPr>
            <a:spLocks noGrp="1"/>
          </p:cNvSpPr>
          <p:nvPr/>
        </p:nvSpPr>
        <p:spPr>
          <a:xfrm>
            <a:off x="8382000" y="213360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Performance analysis</a:t>
            </a:r>
          </a:p>
        </p:txBody>
      </p:sp>
      <p:sp>
        <p:nvSpPr>
          <p:cNvPr id="26" name="Rectangle 25">
            <a:extLst>
              <a:ext uri="{FF2B5EF4-FFF2-40B4-BE49-F238E27FC236}">
                <a16:creationId xmlns:a16="http://schemas.microsoft.com/office/drawing/2014/main" id="{26CACEA3-9E4F-49F5-92BC-B1311751AD50}"/>
              </a:ext>
            </a:extLst>
          </p:cNvPr>
          <p:cNvSpPr>
            <a:spLocks noGrp="1"/>
          </p:cNvSpPr>
          <p:nvPr/>
        </p:nvSpPr>
        <p:spPr>
          <a:xfrm>
            <a:off x="8382000" y="2438400"/>
            <a:ext cx="3048000" cy="400050"/>
          </a:xfrm>
          <a:prstGeom prst="rect">
            <a:avLst/>
          </a:prstGeom>
          <a:noFill/>
          <a:ln w="0">
            <a:noFill/>
          </a:ln>
        </p:spPr>
        <p:txBody>
          <a:bodyPr>
            <a:normAutofit/>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Budget and variance decks</a:t>
            </a:r>
          </a:p>
        </p:txBody>
      </p:sp>
      <p:sp>
        <p:nvSpPr>
          <p:cNvPr id="27" name="Rectangle: Rounded Corners 26">
            <a:extLst>
              <a:ext uri="{FF2B5EF4-FFF2-40B4-BE49-F238E27FC236}">
                <a16:creationId xmlns:a16="http://schemas.microsoft.com/office/drawing/2014/main" id="{9B3A792C-A349-4003-972B-4A5B23A62626}"/>
              </a:ext>
            </a:extLst>
          </p:cNvPr>
          <p:cNvSpPr>
            <a:spLocks noGrp="1"/>
          </p:cNvSpPr>
          <p:nvPr/>
        </p:nvSpPr>
        <p:spPr>
          <a:xfrm>
            <a:off x="533400" y="3352800"/>
            <a:ext cx="3505200" cy="1543050"/>
          </a:xfrm>
          <a:prstGeom prst="roundRect">
            <a:avLst>
              <a:gd name="adj" fmla="val 4938"/>
            </a:avLst>
          </a:prstGeom>
          <a:solidFill>
            <a:srgbClr val="FFFFFF"/>
          </a:solidFill>
          <a:ln w="9525">
            <a:solidFill>
              <a:srgbClr val="D5E2EE"/>
            </a:solidFill>
          </a:ln>
        </p:spPr>
        <p:txBody>
          <a:bodyPr/>
          <a:lstStyle/>
          <a:p>
            <a:endParaRPr lang="en-US"/>
          </a:p>
        </p:txBody>
      </p:sp>
      <p:sp>
        <p:nvSpPr>
          <p:cNvPr id="28" name="Rectangle 27">
            <a:extLst>
              <a:ext uri="{FF2B5EF4-FFF2-40B4-BE49-F238E27FC236}">
                <a16:creationId xmlns:a16="http://schemas.microsoft.com/office/drawing/2014/main" id="{962E22EA-55E5-4A11-BFF9-5D274171C5D9}"/>
              </a:ext>
            </a:extLst>
          </p:cNvPr>
          <p:cNvSpPr>
            <a:spLocks noGrp="1"/>
          </p:cNvSpPr>
          <p:nvPr/>
        </p:nvSpPr>
        <p:spPr>
          <a:xfrm>
            <a:off x="533400" y="3352800"/>
            <a:ext cx="3505200" cy="66675"/>
          </a:xfrm>
          <a:prstGeom prst="rect">
            <a:avLst/>
          </a:prstGeom>
          <a:solidFill>
            <a:srgbClr val="0F6CBD"/>
          </a:solidFill>
          <a:ln w="0">
            <a:solidFill>
              <a:srgbClr val="0F6CBD"/>
            </a:solidFill>
          </a:ln>
        </p:spPr>
        <p:txBody>
          <a:bodyPr/>
          <a:lstStyle/>
          <a:p>
            <a:endParaRPr lang="en-US"/>
          </a:p>
        </p:txBody>
      </p:sp>
      <p:sp>
        <p:nvSpPr>
          <p:cNvPr id="29" name="Rectangle 28">
            <a:extLst>
              <a:ext uri="{FF2B5EF4-FFF2-40B4-BE49-F238E27FC236}">
                <a16:creationId xmlns:a16="http://schemas.microsoft.com/office/drawing/2014/main" id="{A6354A07-F2A3-497B-9A83-942E7110C4D1}"/>
              </a:ext>
            </a:extLst>
          </p:cNvPr>
          <p:cNvSpPr>
            <a:spLocks noGrp="1"/>
          </p:cNvSpPr>
          <p:nvPr/>
        </p:nvSpPr>
        <p:spPr>
          <a:xfrm>
            <a:off x="762000" y="3581400"/>
            <a:ext cx="3048000" cy="285750"/>
          </a:xfrm>
          <a:prstGeom prst="rect">
            <a:avLst/>
          </a:prstGeom>
          <a:noFill/>
          <a:ln w="0">
            <a:noFill/>
          </a:ln>
        </p:spPr>
        <p:txBody>
          <a:bodyPr>
            <a:normAutofit fontScale="73913"/>
          </a:bodyPr>
          <a:lstStyle/>
          <a:p>
            <a:pPr algn="l">
              <a:defRPr sz="1725" b="1">
                <a:solidFill>
                  <a:srgbClr val="17324D"/>
                </a:solidFill>
                <a:latin typeface="Arial"/>
                <a:ea typeface="Arial"/>
                <a:cs typeface="Arial"/>
              </a:defRPr>
            </a:pPr>
            <a:r>
              <a:rPr sz="1725" b="1">
                <a:solidFill>
                  <a:srgbClr val="17324D"/>
                </a:solidFill>
                <a:latin typeface="Arial"/>
                <a:ea typeface="Arial"/>
                <a:cs typeface="Arial"/>
              </a:rPr>
              <a:t>Operations</a:t>
            </a:r>
          </a:p>
        </p:txBody>
      </p:sp>
      <p:sp>
        <p:nvSpPr>
          <p:cNvPr id="30" name="Rectangle 29">
            <a:extLst>
              <a:ext uri="{FF2B5EF4-FFF2-40B4-BE49-F238E27FC236}">
                <a16:creationId xmlns:a16="http://schemas.microsoft.com/office/drawing/2014/main" id="{56F6C70E-898E-46F9-A0EA-D00C680B7B24}"/>
              </a:ext>
            </a:extLst>
          </p:cNvPr>
          <p:cNvSpPr>
            <a:spLocks noGrp="1"/>
          </p:cNvSpPr>
          <p:nvPr/>
        </p:nvSpPr>
        <p:spPr>
          <a:xfrm>
            <a:off x="762000" y="398145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Service and quality</a:t>
            </a:r>
          </a:p>
        </p:txBody>
      </p:sp>
      <p:sp>
        <p:nvSpPr>
          <p:cNvPr id="31" name="Rectangle 30">
            <a:extLst>
              <a:ext uri="{FF2B5EF4-FFF2-40B4-BE49-F238E27FC236}">
                <a16:creationId xmlns:a16="http://schemas.microsoft.com/office/drawing/2014/main" id="{DDDF0302-CA87-4101-A4F1-8A20B7027025}"/>
              </a:ext>
            </a:extLst>
          </p:cNvPr>
          <p:cNvSpPr>
            <a:spLocks noGrp="1"/>
          </p:cNvSpPr>
          <p:nvPr/>
        </p:nvSpPr>
        <p:spPr>
          <a:xfrm>
            <a:off x="762000" y="4286250"/>
            <a:ext cx="3048000" cy="400050"/>
          </a:xfrm>
          <a:prstGeom prst="rect">
            <a:avLst/>
          </a:prstGeom>
          <a:noFill/>
          <a:ln w="0">
            <a:noFill/>
          </a:ln>
        </p:spPr>
        <p:txBody>
          <a:bodyPr>
            <a:normAutofit/>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Weekly operating reviews</a:t>
            </a:r>
          </a:p>
        </p:txBody>
      </p:sp>
      <p:sp>
        <p:nvSpPr>
          <p:cNvPr id="32" name="Rectangle: Rounded Corners 31">
            <a:extLst>
              <a:ext uri="{FF2B5EF4-FFF2-40B4-BE49-F238E27FC236}">
                <a16:creationId xmlns:a16="http://schemas.microsoft.com/office/drawing/2014/main" id="{0F54E4C7-05C0-4111-AAEC-39ECE2EF76D1}"/>
              </a:ext>
            </a:extLst>
          </p:cNvPr>
          <p:cNvSpPr>
            <a:spLocks noGrp="1"/>
          </p:cNvSpPr>
          <p:nvPr/>
        </p:nvSpPr>
        <p:spPr>
          <a:xfrm>
            <a:off x="4343400" y="3352800"/>
            <a:ext cx="3505200" cy="1543050"/>
          </a:xfrm>
          <a:prstGeom prst="roundRect">
            <a:avLst>
              <a:gd name="adj" fmla="val 4938"/>
            </a:avLst>
          </a:prstGeom>
          <a:solidFill>
            <a:srgbClr val="FFFFFF"/>
          </a:solidFill>
          <a:ln w="9525">
            <a:solidFill>
              <a:srgbClr val="D5E2EE"/>
            </a:solidFill>
          </a:ln>
        </p:spPr>
        <p:txBody>
          <a:bodyPr/>
          <a:lstStyle/>
          <a:p>
            <a:endParaRPr lang="en-US"/>
          </a:p>
        </p:txBody>
      </p:sp>
      <p:sp>
        <p:nvSpPr>
          <p:cNvPr id="33" name="Rectangle 32">
            <a:extLst>
              <a:ext uri="{FF2B5EF4-FFF2-40B4-BE49-F238E27FC236}">
                <a16:creationId xmlns:a16="http://schemas.microsoft.com/office/drawing/2014/main" id="{532ECE2A-B784-42C2-885A-9D781DA68348}"/>
              </a:ext>
            </a:extLst>
          </p:cNvPr>
          <p:cNvSpPr>
            <a:spLocks noGrp="1"/>
          </p:cNvSpPr>
          <p:nvPr/>
        </p:nvSpPr>
        <p:spPr>
          <a:xfrm>
            <a:off x="4343400" y="3352800"/>
            <a:ext cx="3505200" cy="66675"/>
          </a:xfrm>
          <a:prstGeom prst="rect">
            <a:avLst/>
          </a:prstGeom>
          <a:solidFill>
            <a:srgbClr val="742774"/>
          </a:solidFill>
          <a:ln w="0">
            <a:solidFill>
              <a:srgbClr val="742774"/>
            </a:solidFill>
          </a:ln>
        </p:spPr>
        <p:txBody>
          <a:bodyPr/>
          <a:lstStyle/>
          <a:p>
            <a:endParaRPr lang="en-US"/>
          </a:p>
        </p:txBody>
      </p:sp>
      <p:sp>
        <p:nvSpPr>
          <p:cNvPr id="34" name="Rectangle 33">
            <a:extLst>
              <a:ext uri="{FF2B5EF4-FFF2-40B4-BE49-F238E27FC236}">
                <a16:creationId xmlns:a16="http://schemas.microsoft.com/office/drawing/2014/main" id="{88805A08-FE90-4A93-BD28-88B9FE9BC595}"/>
              </a:ext>
            </a:extLst>
          </p:cNvPr>
          <p:cNvSpPr>
            <a:spLocks noGrp="1"/>
          </p:cNvSpPr>
          <p:nvPr/>
        </p:nvSpPr>
        <p:spPr>
          <a:xfrm>
            <a:off x="4572000" y="3581400"/>
            <a:ext cx="3048000" cy="285750"/>
          </a:xfrm>
          <a:prstGeom prst="rect">
            <a:avLst/>
          </a:prstGeom>
          <a:noFill/>
          <a:ln w="0">
            <a:noFill/>
          </a:ln>
        </p:spPr>
        <p:txBody>
          <a:bodyPr>
            <a:normAutofit fontScale="73913"/>
          </a:bodyPr>
          <a:lstStyle/>
          <a:p>
            <a:pPr algn="l">
              <a:defRPr sz="1725" b="1">
                <a:solidFill>
                  <a:srgbClr val="17324D"/>
                </a:solidFill>
                <a:latin typeface="Arial"/>
                <a:ea typeface="Arial"/>
                <a:cs typeface="Arial"/>
              </a:defRPr>
            </a:pPr>
            <a:r>
              <a:rPr sz="1725" b="1">
                <a:solidFill>
                  <a:srgbClr val="17324D"/>
                </a:solidFill>
                <a:latin typeface="Arial"/>
                <a:ea typeface="Arial"/>
                <a:cs typeface="Arial"/>
              </a:rPr>
              <a:t>Product</a:t>
            </a:r>
          </a:p>
        </p:txBody>
      </p:sp>
      <p:sp>
        <p:nvSpPr>
          <p:cNvPr id="35" name="Rectangle 34">
            <a:extLst>
              <a:ext uri="{FF2B5EF4-FFF2-40B4-BE49-F238E27FC236}">
                <a16:creationId xmlns:a16="http://schemas.microsoft.com/office/drawing/2014/main" id="{14F759FA-138D-42A7-ACEB-F921DF505E69}"/>
              </a:ext>
            </a:extLst>
          </p:cNvPr>
          <p:cNvSpPr>
            <a:spLocks noGrp="1"/>
          </p:cNvSpPr>
          <p:nvPr/>
        </p:nvSpPr>
        <p:spPr>
          <a:xfrm>
            <a:off x="4572000" y="398145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Portfolio performance</a:t>
            </a:r>
          </a:p>
        </p:txBody>
      </p:sp>
      <p:sp>
        <p:nvSpPr>
          <p:cNvPr id="36" name="Rectangle 35">
            <a:extLst>
              <a:ext uri="{FF2B5EF4-FFF2-40B4-BE49-F238E27FC236}">
                <a16:creationId xmlns:a16="http://schemas.microsoft.com/office/drawing/2014/main" id="{69290B04-7777-4720-B7F8-58730FBCA404}"/>
              </a:ext>
            </a:extLst>
          </p:cNvPr>
          <p:cNvSpPr>
            <a:spLocks noGrp="1"/>
          </p:cNvSpPr>
          <p:nvPr/>
        </p:nvSpPr>
        <p:spPr>
          <a:xfrm>
            <a:off x="4572000" y="4286250"/>
            <a:ext cx="3048000" cy="400050"/>
          </a:xfrm>
          <a:prstGeom prst="rect">
            <a:avLst/>
          </a:prstGeom>
          <a:noFill/>
          <a:ln w="0">
            <a:noFill/>
          </a:ln>
        </p:spPr>
        <p:txBody>
          <a:bodyPr>
            <a:normAutofit/>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Launch and adoption updates</a:t>
            </a:r>
          </a:p>
        </p:txBody>
      </p:sp>
      <p:sp>
        <p:nvSpPr>
          <p:cNvPr id="37" name="Rectangle: Rounded Corners 36">
            <a:extLst>
              <a:ext uri="{FF2B5EF4-FFF2-40B4-BE49-F238E27FC236}">
                <a16:creationId xmlns:a16="http://schemas.microsoft.com/office/drawing/2014/main" id="{D85AF7C8-8068-4EE0-92C8-20994C91D5D7}"/>
              </a:ext>
            </a:extLst>
          </p:cNvPr>
          <p:cNvSpPr>
            <a:spLocks noGrp="1"/>
          </p:cNvSpPr>
          <p:nvPr/>
        </p:nvSpPr>
        <p:spPr>
          <a:xfrm>
            <a:off x="8153400" y="3352800"/>
            <a:ext cx="3505200" cy="1543050"/>
          </a:xfrm>
          <a:prstGeom prst="roundRect">
            <a:avLst>
              <a:gd name="adj" fmla="val 4938"/>
            </a:avLst>
          </a:prstGeom>
          <a:solidFill>
            <a:srgbClr val="FFFFFF"/>
          </a:solidFill>
          <a:ln w="9525">
            <a:solidFill>
              <a:srgbClr val="D5E2EE"/>
            </a:solidFill>
          </a:ln>
        </p:spPr>
        <p:txBody>
          <a:bodyPr/>
          <a:lstStyle/>
          <a:p>
            <a:endParaRPr lang="en-US"/>
          </a:p>
        </p:txBody>
      </p:sp>
      <p:sp>
        <p:nvSpPr>
          <p:cNvPr id="38" name="Rectangle 37">
            <a:extLst>
              <a:ext uri="{FF2B5EF4-FFF2-40B4-BE49-F238E27FC236}">
                <a16:creationId xmlns:a16="http://schemas.microsoft.com/office/drawing/2014/main" id="{346ED9B0-B5C7-4618-91FD-2C39BB8F5ADE}"/>
              </a:ext>
            </a:extLst>
          </p:cNvPr>
          <p:cNvSpPr>
            <a:spLocks noGrp="1"/>
          </p:cNvSpPr>
          <p:nvPr/>
        </p:nvSpPr>
        <p:spPr>
          <a:xfrm>
            <a:off x="8153400" y="3352800"/>
            <a:ext cx="3505200" cy="66675"/>
          </a:xfrm>
          <a:prstGeom prst="rect">
            <a:avLst/>
          </a:prstGeom>
          <a:solidFill>
            <a:srgbClr val="107C10"/>
          </a:solidFill>
          <a:ln w="0">
            <a:solidFill>
              <a:srgbClr val="107C10"/>
            </a:solidFill>
          </a:ln>
        </p:spPr>
        <p:txBody>
          <a:bodyPr/>
          <a:lstStyle/>
          <a:p>
            <a:endParaRPr lang="en-US"/>
          </a:p>
        </p:txBody>
      </p:sp>
      <p:sp>
        <p:nvSpPr>
          <p:cNvPr id="39" name="Rectangle 38">
            <a:extLst>
              <a:ext uri="{FF2B5EF4-FFF2-40B4-BE49-F238E27FC236}">
                <a16:creationId xmlns:a16="http://schemas.microsoft.com/office/drawing/2014/main" id="{B379FBF8-51D7-4FFC-914A-CD8CA8DF2576}"/>
              </a:ext>
            </a:extLst>
          </p:cNvPr>
          <p:cNvSpPr>
            <a:spLocks noGrp="1"/>
          </p:cNvSpPr>
          <p:nvPr/>
        </p:nvSpPr>
        <p:spPr>
          <a:xfrm>
            <a:off x="8382000" y="3581400"/>
            <a:ext cx="3048000" cy="285750"/>
          </a:xfrm>
          <a:prstGeom prst="rect">
            <a:avLst/>
          </a:prstGeom>
          <a:noFill/>
          <a:ln w="0">
            <a:noFill/>
          </a:ln>
        </p:spPr>
        <p:txBody>
          <a:bodyPr>
            <a:normAutofit fontScale="73913"/>
          </a:bodyPr>
          <a:lstStyle/>
          <a:p>
            <a:pPr algn="l">
              <a:defRPr sz="1725" b="1">
                <a:solidFill>
                  <a:srgbClr val="17324D"/>
                </a:solidFill>
                <a:latin typeface="Arial"/>
                <a:ea typeface="Arial"/>
                <a:cs typeface="Arial"/>
              </a:defRPr>
            </a:pPr>
            <a:r>
              <a:rPr sz="1725" b="1">
                <a:solidFill>
                  <a:srgbClr val="17324D"/>
                </a:solidFill>
                <a:latin typeface="Arial"/>
                <a:ea typeface="Arial"/>
                <a:cs typeface="Arial"/>
              </a:rPr>
              <a:t>Leadership</a:t>
            </a:r>
          </a:p>
        </p:txBody>
      </p:sp>
      <p:sp>
        <p:nvSpPr>
          <p:cNvPr id="40" name="Rectangle 39">
            <a:extLst>
              <a:ext uri="{FF2B5EF4-FFF2-40B4-BE49-F238E27FC236}">
                <a16:creationId xmlns:a16="http://schemas.microsoft.com/office/drawing/2014/main" id="{EA31FB75-955B-42ED-9588-6752F04D0427}"/>
              </a:ext>
            </a:extLst>
          </p:cNvPr>
          <p:cNvSpPr>
            <a:spLocks noGrp="1"/>
          </p:cNvSpPr>
          <p:nvPr/>
        </p:nvSpPr>
        <p:spPr>
          <a:xfrm>
            <a:off x="8382000" y="3981450"/>
            <a:ext cx="3048000" cy="247650"/>
          </a:xfrm>
          <a:prstGeom prst="rect">
            <a:avLst/>
          </a:prstGeom>
          <a:noFill/>
          <a:ln w="0">
            <a:noFill/>
          </a:ln>
        </p:spPr>
        <p:txBody>
          <a:bodyPr>
            <a:normAutofit fontScale="80392"/>
          </a:bodyPr>
          <a:lstStyle/>
          <a:p>
            <a:pPr algn="l">
              <a:defRPr sz="1275" b="1">
                <a:solidFill>
                  <a:srgbClr val="0F6CBD"/>
                </a:solidFill>
                <a:latin typeface="Arial"/>
                <a:ea typeface="Arial"/>
                <a:cs typeface="Arial"/>
              </a:defRPr>
            </a:pPr>
            <a:r>
              <a:rPr sz="1275" b="1">
                <a:solidFill>
                  <a:srgbClr val="0F6CBD"/>
                </a:solidFill>
                <a:latin typeface="Arial"/>
                <a:ea typeface="Arial"/>
                <a:cs typeface="Arial"/>
              </a:rPr>
              <a:t>Cross-functional metrics</a:t>
            </a:r>
          </a:p>
        </p:txBody>
      </p:sp>
      <p:sp>
        <p:nvSpPr>
          <p:cNvPr id="41" name="Rectangle 40">
            <a:extLst>
              <a:ext uri="{FF2B5EF4-FFF2-40B4-BE49-F238E27FC236}">
                <a16:creationId xmlns:a16="http://schemas.microsoft.com/office/drawing/2014/main" id="{8C0245E7-F56E-4C03-B54B-B297D4C60BEC}"/>
              </a:ext>
            </a:extLst>
          </p:cNvPr>
          <p:cNvSpPr>
            <a:spLocks noGrp="1"/>
          </p:cNvSpPr>
          <p:nvPr/>
        </p:nvSpPr>
        <p:spPr>
          <a:xfrm>
            <a:off x="8382000" y="4286250"/>
            <a:ext cx="3048000" cy="400050"/>
          </a:xfrm>
          <a:prstGeom prst="rect">
            <a:avLst/>
          </a:prstGeom>
          <a:noFill/>
          <a:ln w="0">
            <a:noFill/>
          </a:ln>
        </p:spPr>
        <p:txBody>
          <a:bodyPr>
            <a:normAutofit/>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Executive and board briefings</a:t>
            </a:r>
          </a:p>
        </p:txBody>
      </p:sp>
      <p:sp>
        <p:nvSpPr>
          <p:cNvPr id="42" name="Rectangle: Rounded Corners 41">
            <a:extLst>
              <a:ext uri="{FF2B5EF4-FFF2-40B4-BE49-F238E27FC236}">
                <a16:creationId xmlns:a16="http://schemas.microsoft.com/office/drawing/2014/main" id="{47054D32-B0B4-4A0C-9FB3-6270A59402B1}"/>
              </a:ext>
            </a:extLst>
          </p:cNvPr>
          <p:cNvSpPr>
            <a:spLocks noGrp="1"/>
          </p:cNvSpPr>
          <p:nvPr/>
        </p:nvSpPr>
        <p:spPr>
          <a:xfrm>
            <a:off x="533400" y="5391150"/>
            <a:ext cx="11125200" cy="609600"/>
          </a:xfrm>
          <a:prstGeom prst="roundRect">
            <a:avLst>
              <a:gd name="adj" fmla="val 12500"/>
            </a:avLst>
          </a:prstGeom>
          <a:solidFill>
            <a:srgbClr val="EFF6FC"/>
          </a:solidFill>
          <a:ln w="9525">
            <a:solidFill>
              <a:srgbClr val="BAD7EF"/>
            </a:solidFill>
          </a:ln>
        </p:spPr>
        <p:txBody>
          <a:bodyPr/>
          <a:lstStyle/>
          <a:p>
            <a:endParaRPr lang="en-US"/>
          </a:p>
        </p:txBody>
      </p:sp>
      <p:sp>
        <p:nvSpPr>
          <p:cNvPr id="43" name="Rectangle 42">
            <a:extLst>
              <a:ext uri="{FF2B5EF4-FFF2-40B4-BE49-F238E27FC236}">
                <a16:creationId xmlns:a16="http://schemas.microsoft.com/office/drawing/2014/main" id="{C3FE1B15-7E7F-4D7C-829D-373A573BB147}"/>
              </a:ext>
            </a:extLst>
          </p:cNvPr>
          <p:cNvSpPr>
            <a:spLocks noGrp="1"/>
          </p:cNvSpPr>
          <p:nvPr/>
        </p:nvSpPr>
        <p:spPr>
          <a:xfrm>
            <a:off x="762000" y="5553075"/>
            <a:ext cx="10668000" cy="304800"/>
          </a:xfrm>
          <a:prstGeom prst="rect">
            <a:avLst/>
          </a:prstGeom>
          <a:noFill/>
          <a:ln w="0">
            <a:noFill/>
          </a:ln>
        </p:spPr>
        <p:txBody>
          <a:bodyPr>
            <a:normAutofit fontScale="84114"/>
          </a:bodyPr>
          <a:lstStyle/>
          <a:p>
            <a:pPr algn="ctr">
              <a:defRPr sz="1350" b="1">
                <a:solidFill>
                  <a:srgbClr val="17324D"/>
                </a:solidFill>
                <a:latin typeface="Arial"/>
                <a:ea typeface="Arial"/>
                <a:cs typeface="Arial"/>
              </a:defRPr>
            </a:pPr>
            <a:r>
              <a:rPr sz="1350" b="1">
                <a:solidFill>
                  <a:srgbClr val="17324D"/>
                </a:solidFill>
                <a:latin typeface="Arial"/>
                <a:ea typeface="Arial"/>
                <a:cs typeface="Arial"/>
              </a:rPr>
              <a:t>Low-code delivery expands the addressable audience because business teams can reuse approved tools without building separate integration services.</a:t>
            </a:r>
          </a:p>
        </p:txBody>
      </p:sp>
    </p:spTree>
    <p:extLst>
      <p:ext uri="{BB962C8B-B14F-4D97-AF65-F5344CB8AC3E}">
        <p14:creationId xmlns:p14="http://schemas.microsoft.com/office/powerpoint/2010/main" val="1090063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8E0B8A5-CD64-4929-9A71-E8CF173A9A6F}"/>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D65F9981-2EB3-4C9A-92FF-53124F12E4D0}"/>
              </a:ext>
            </a:extLst>
          </p:cNvPr>
          <p:cNvSpPr>
            <a:spLocks noGrp="1"/>
          </p:cNvSpPr>
          <p:nvPr/>
        </p:nvSpPr>
        <p:spPr>
          <a:xfrm>
            <a:off x="533400" y="323850"/>
            <a:ext cx="9334500" cy="495300"/>
          </a:xfrm>
          <a:prstGeom prst="rect">
            <a:avLst/>
          </a:prstGeom>
          <a:noFill/>
          <a:ln w="0">
            <a:noFill/>
          </a:ln>
        </p:spPr>
        <p:txBody>
          <a:bodyPr>
            <a:normAutofit/>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Five assumptions determine most of the financial value</a:t>
            </a:r>
          </a:p>
        </p:txBody>
      </p:sp>
      <p:sp>
        <p:nvSpPr>
          <p:cNvPr id="3" name="Rectangle 2">
            <a:extLst>
              <a:ext uri="{FF2B5EF4-FFF2-40B4-BE49-F238E27FC236}">
                <a16:creationId xmlns:a16="http://schemas.microsoft.com/office/drawing/2014/main" id="{058B83D7-7CA0-4B48-81D9-F21BD62AE128}"/>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The model is editable and should be recalibrated with pilot usage and time-study data</a:t>
            </a:r>
          </a:p>
        </p:txBody>
      </p:sp>
      <p:sp>
        <p:nvSpPr>
          <p:cNvPr id="4" name="Rectangle 3">
            <a:extLst>
              <a:ext uri="{FF2B5EF4-FFF2-40B4-BE49-F238E27FC236}">
                <a16:creationId xmlns:a16="http://schemas.microsoft.com/office/drawing/2014/main" id="{AA120AC4-67F7-4C89-AED2-B074FF94B9EB}"/>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5839E3C4-E79E-4215-B958-476ED3D720E6}"/>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4CCF8FB5-1670-4B13-85F9-70D770BAFED6}"/>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03AAC6D4-9CBE-4672-B1BD-C5C1F3339EF3}"/>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1A579D51-E15E-43DC-97B3-34E0612AE8C4}"/>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503D3D81-95A1-4FC4-B783-107C1F234EE7}"/>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7BEE815D-16AB-4BAF-B483-D9B74F6B987B}"/>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3D164E88-5EDE-44E3-A866-0FF8CDFA66C1}"/>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06</a:t>
            </a:r>
          </a:p>
        </p:txBody>
      </p:sp>
      <p:graphicFrame>
        <p:nvGraphicFramePr>
          <p:cNvPr id="30" name="Table 29"/>
          <p:cNvGraphicFramePr/>
          <p:nvPr/>
        </p:nvGraphicFramePr>
        <p:xfrm>
          <a:off x="533400" y="1409700"/>
          <a:ext cx="7810500" cy="4286250"/>
        </p:xfrm>
        <a:graphic>
          <a:graphicData uri="http://schemas.openxmlformats.org/drawingml/2006/table">
            <a:tbl>
              <a:tblPr firstRow="1" bandRow="1"/>
              <a:tblGrid>
                <a:gridCol w="2952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535781">
                <a:tc>
                  <a:txBody>
                    <a:bodyPr/>
                    <a:lstStyle/>
                    <a:p>
                      <a:r>
                        <a:rPr sz="1125" b="1">
                          <a:solidFill>
                            <a:srgbClr val="FFFFFF"/>
                          </a:solidFill>
                          <a:latin typeface="Arial"/>
                          <a:ea typeface="Arial"/>
                          <a:cs typeface="Arial"/>
                        </a:rPr>
                        <a:t>Assumption</a:t>
                      </a:r>
                    </a:p>
                  </a:txBody>
                  <a:tcPr marL="95250" marR="95250" marT="76200" marB="76200">
                    <a:solidFill>
                      <a:srgbClr val="102A43"/>
                    </a:solidFill>
                  </a:tcPr>
                </a:tc>
                <a:tc>
                  <a:txBody>
                    <a:bodyPr/>
                    <a:lstStyle/>
                    <a:p>
                      <a:r>
                        <a:rPr sz="1125" b="1">
                          <a:solidFill>
                            <a:srgbClr val="FFFFFF"/>
                          </a:solidFill>
                          <a:latin typeface="Arial"/>
                          <a:ea typeface="Arial"/>
                          <a:cs typeface="Arial"/>
                        </a:rPr>
                        <a:t>Pilot</a:t>
                      </a:r>
                    </a:p>
                  </a:txBody>
                  <a:tcPr marL="95250" marR="95250" marT="76200" marB="76200">
                    <a:solidFill>
                      <a:srgbClr val="102A43"/>
                    </a:solidFill>
                  </a:tcPr>
                </a:tc>
                <a:tc>
                  <a:txBody>
                    <a:bodyPr/>
                    <a:lstStyle/>
                    <a:p>
                      <a:r>
                        <a:rPr sz="1125" b="1">
                          <a:solidFill>
                            <a:srgbClr val="FFFFFF"/>
                          </a:solidFill>
                          <a:latin typeface="Arial"/>
                          <a:ea typeface="Arial"/>
                          <a:cs typeface="Arial"/>
                        </a:rPr>
                        <a:t>Business unit</a:t>
                      </a:r>
                    </a:p>
                  </a:txBody>
                  <a:tcPr marL="95250" marR="95250" marT="76200" marB="76200">
                    <a:solidFill>
                      <a:srgbClr val="102A43"/>
                    </a:solidFill>
                  </a:tcPr>
                </a:tc>
                <a:tc>
                  <a:txBody>
                    <a:bodyPr/>
                    <a:lstStyle/>
                    <a:p>
                      <a:r>
                        <a:rPr sz="1125" b="1">
                          <a:solidFill>
                            <a:srgbClr val="FFFFFF"/>
                          </a:solidFill>
                          <a:latin typeface="Arial"/>
                          <a:ea typeface="Arial"/>
                          <a:cs typeface="Arial"/>
                        </a:rPr>
                        <a:t>Enterprise</a:t>
                      </a:r>
                    </a:p>
                  </a:txBody>
                  <a:tcPr marL="95250" marR="95250" marT="76200" marB="76200">
                    <a:solidFill>
                      <a:srgbClr val="102A43"/>
                    </a:solidFill>
                  </a:tcPr>
                </a:tc>
                <a:extLst>
                  <a:ext uri="{0D108BD9-81ED-4DB2-BD59-A6C34878D82A}">
                    <a16:rowId xmlns:a16="http://schemas.microsoft.com/office/drawing/2014/main" val="10000"/>
                  </a:ext>
                </a:extLst>
              </a:tr>
              <a:tr h="535781">
                <a:tc>
                  <a:txBody>
                    <a:bodyPr/>
                    <a:lstStyle/>
                    <a:p>
                      <a:r>
                        <a:rPr sz="1050" b="1">
                          <a:solidFill>
                            <a:srgbClr val="17324D"/>
                          </a:solidFill>
                          <a:latin typeface="Arial"/>
                          <a:ea typeface="Arial"/>
                          <a:cs typeface="Arial"/>
                        </a:rPr>
                        <a:t>Active users</a:t>
                      </a:r>
                    </a:p>
                  </a:txBody>
                  <a:tcPr marL="95250" marR="95250" marT="66675" marB="66675"/>
                </a:tc>
                <a:tc>
                  <a:txBody>
                    <a:bodyPr/>
                    <a:lstStyle/>
                    <a:p>
                      <a:r>
                        <a:rPr sz="1050">
                          <a:solidFill>
                            <a:srgbClr val="17324D"/>
                          </a:solidFill>
                          <a:latin typeface="Arial"/>
                          <a:ea typeface="Arial"/>
                          <a:cs typeface="Arial"/>
                        </a:rPr>
                        <a:t>25</a:t>
                      </a:r>
                    </a:p>
                  </a:txBody>
                  <a:tcPr marL="95250" marR="95250" marT="66675" marB="66675"/>
                </a:tc>
                <a:tc>
                  <a:txBody>
                    <a:bodyPr/>
                    <a:lstStyle/>
                    <a:p>
                      <a:r>
                        <a:rPr sz="1050">
                          <a:solidFill>
                            <a:srgbClr val="17324D"/>
                          </a:solidFill>
                          <a:latin typeface="Arial"/>
                          <a:ea typeface="Arial"/>
                          <a:cs typeface="Arial"/>
                        </a:rPr>
                        <a:t>100</a:t>
                      </a:r>
                    </a:p>
                  </a:txBody>
                  <a:tcPr marL="95250" marR="95250" marT="66675" marB="66675"/>
                </a:tc>
                <a:tc>
                  <a:txBody>
                    <a:bodyPr/>
                    <a:lstStyle/>
                    <a:p>
                      <a:r>
                        <a:rPr sz="1050">
                          <a:solidFill>
                            <a:srgbClr val="17324D"/>
                          </a:solidFill>
                          <a:latin typeface="Arial"/>
                          <a:ea typeface="Arial"/>
                          <a:cs typeface="Arial"/>
                        </a:rPr>
                        <a:t>300</a:t>
                      </a:r>
                    </a:p>
                  </a:txBody>
                  <a:tcPr marL="95250" marR="95250" marT="66675" marB="66675"/>
                </a:tc>
                <a:extLst>
                  <a:ext uri="{0D108BD9-81ED-4DB2-BD59-A6C34878D82A}">
                    <a16:rowId xmlns:a16="http://schemas.microsoft.com/office/drawing/2014/main" val="10001"/>
                  </a:ext>
                </a:extLst>
              </a:tr>
              <a:tr h="535781">
                <a:tc>
                  <a:txBody>
                    <a:bodyPr/>
                    <a:lstStyle/>
                    <a:p>
                      <a:r>
                        <a:rPr sz="1050" b="1">
                          <a:solidFill>
                            <a:srgbClr val="17324D"/>
                          </a:solidFill>
                          <a:latin typeface="Arial"/>
                          <a:ea typeface="Arial"/>
                          <a:cs typeface="Arial"/>
                        </a:rPr>
                        <a:t>Decks per user per month</a:t>
                      </a:r>
                    </a:p>
                  </a:txBody>
                  <a:tcPr marL="95250" marR="95250" marT="66675" marB="66675"/>
                </a:tc>
                <a:tc>
                  <a:txBody>
                    <a:bodyPr/>
                    <a:lstStyle/>
                    <a:p>
                      <a:r>
                        <a:rPr sz="1050">
                          <a:solidFill>
                            <a:srgbClr val="17324D"/>
                          </a:solidFill>
                          <a:latin typeface="Arial"/>
                          <a:ea typeface="Arial"/>
                          <a:cs typeface="Arial"/>
                        </a:rPr>
                        <a:t>4</a:t>
                      </a:r>
                    </a:p>
                  </a:txBody>
                  <a:tcPr marL="95250" marR="95250" marT="66675" marB="66675"/>
                </a:tc>
                <a:tc>
                  <a:txBody>
                    <a:bodyPr/>
                    <a:lstStyle/>
                    <a:p>
                      <a:r>
                        <a:rPr sz="1050">
                          <a:solidFill>
                            <a:srgbClr val="17324D"/>
                          </a:solidFill>
                          <a:latin typeface="Arial"/>
                          <a:ea typeface="Arial"/>
                          <a:cs typeface="Arial"/>
                        </a:rPr>
                        <a:t>5</a:t>
                      </a:r>
                    </a:p>
                  </a:txBody>
                  <a:tcPr marL="95250" marR="95250" marT="66675" marB="66675"/>
                </a:tc>
                <a:tc>
                  <a:txBody>
                    <a:bodyPr/>
                    <a:lstStyle/>
                    <a:p>
                      <a:r>
                        <a:rPr sz="1050">
                          <a:solidFill>
                            <a:srgbClr val="17324D"/>
                          </a:solidFill>
                          <a:latin typeface="Arial"/>
                          <a:ea typeface="Arial"/>
                          <a:cs typeface="Arial"/>
                        </a:rPr>
                        <a:t>5</a:t>
                      </a:r>
                    </a:p>
                  </a:txBody>
                  <a:tcPr marL="95250" marR="95250" marT="66675" marB="66675"/>
                </a:tc>
                <a:extLst>
                  <a:ext uri="{0D108BD9-81ED-4DB2-BD59-A6C34878D82A}">
                    <a16:rowId xmlns:a16="http://schemas.microsoft.com/office/drawing/2014/main" val="10002"/>
                  </a:ext>
                </a:extLst>
              </a:tr>
              <a:tr h="535781">
                <a:tc>
                  <a:txBody>
                    <a:bodyPr/>
                    <a:lstStyle/>
                    <a:p>
                      <a:r>
                        <a:rPr sz="1050" b="1">
                          <a:solidFill>
                            <a:srgbClr val="17324D"/>
                          </a:solidFill>
                          <a:latin typeface="Arial"/>
                          <a:ea typeface="Arial"/>
                          <a:cs typeface="Arial"/>
                        </a:rPr>
                        <a:t>Hours saved per deck</a:t>
                      </a:r>
                    </a:p>
                  </a:txBody>
                  <a:tcPr marL="95250" marR="95250" marT="66675" marB="66675"/>
                </a:tc>
                <a:tc>
                  <a:txBody>
                    <a:bodyPr/>
                    <a:lstStyle/>
                    <a:p>
                      <a:r>
                        <a:rPr sz="1050">
                          <a:solidFill>
                            <a:srgbClr val="17324D"/>
                          </a:solidFill>
                          <a:latin typeface="Arial"/>
                          <a:ea typeface="Arial"/>
                          <a:cs typeface="Arial"/>
                        </a:rPr>
                        <a:t>2.5</a:t>
                      </a:r>
                    </a:p>
                  </a:txBody>
                  <a:tcPr marL="95250" marR="95250" marT="66675" marB="66675"/>
                </a:tc>
                <a:tc>
                  <a:txBody>
                    <a:bodyPr/>
                    <a:lstStyle/>
                    <a:p>
                      <a:r>
                        <a:rPr sz="1050">
                          <a:solidFill>
                            <a:srgbClr val="17324D"/>
                          </a:solidFill>
                          <a:latin typeface="Arial"/>
                          <a:ea typeface="Arial"/>
                          <a:cs typeface="Arial"/>
                        </a:rPr>
                        <a:t>3.0</a:t>
                      </a:r>
                    </a:p>
                  </a:txBody>
                  <a:tcPr marL="95250" marR="95250" marT="66675" marB="66675"/>
                </a:tc>
                <a:tc>
                  <a:txBody>
                    <a:bodyPr/>
                    <a:lstStyle/>
                    <a:p>
                      <a:r>
                        <a:rPr sz="1050">
                          <a:solidFill>
                            <a:srgbClr val="17324D"/>
                          </a:solidFill>
                          <a:latin typeface="Arial"/>
                          <a:ea typeface="Arial"/>
                          <a:cs typeface="Arial"/>
                        </a:rPr>
                        <a:t>3.5</a:t>
                      </a:r>
                    </a:p>
                  </a:txBody>
                  <a:tcPr marL="95250" marR="95250" marT="66675" marB="66675"/>
                </a:tc>
                <a:extLst>
                  <a:ext uri="{0D108BD9-81ED-4DB2-BD59-A6C34878D82A}">
                    <a16:rowId xmlns:a16="http://schemas.microsoft.com/office/drawing/2014/main" val="10003"/>
                  </a:ext>
                </a:extLst>
              </a:tr>
              <a:tr h="535781">
                <a:tc>
                  <a:txBody>
                    <a:bodyPr/>
                    <a:lstStyle/>
                    <a:p>
                      <a:r>
                        <a:rPr sz="1050" b="1">
                          <a:solidFill>
                            <a:srgbClr val="17324D"/>
                          </a:solidFill>
                          <a:latin typeface="Arial"/>
                          <a:ea typeface="Arial"/>
                          <a:cs typeface="Arial"/>
                        </a:rPr>
                        <a:t>Loaded labor cost</a:t>
                      </a:r>
                    </a:p>
                  </a:txBody>
                  <a:tcPr marL="95250" marR="95250" marT="66675" marB="66675"/>
                </a:tc>
                <a:tc>
                  <a:txBody>
                    <a:bodyPr/>
                    <a:lstStyle/>
                    <a:p>
                      <a:r>
                        <a:rPr sz="1050">
                          <a:solidFill>
                            <a:srgbClr val="17324D"/>
                          </a:solidFill>
                          <a:latin typeface="Arial"/>
                          <a:ea typeface="Arial"/>
                          <a:cs typeface="Arial"/>
                        </a:rPr>
                        <a:t>$75/hour</a:t>
                      </a:r>
                    </a:p>
                  </a:txBody>
                  <a:tcPr marL="95250" marR="95250" marT="66675" marB="66675"/>
                </a:tc>
                <a:tc>
                  <a:txBody>
                    <a:bodyPr/>
                    <a:lstStyle/>
                    <a:p>
                      <a:r>
                        <a:rPr sz="1050">
                          <a:solidFill>
                            <a:srgbClr val="17324D"/>
                          </a:solidFill>
                          <a:latin typeface="Arial"/>
                          <a:ea typeface="Arial"/>
                          <a:cs typeface="Arial"/>
                        </a:rPr>
                        <a:t>$75/hour</a:t>
                      </a:r>
                    </a:p>
                  </a:txBody>
                  <a:tcPr marL="95250" marR="95250" marT="66675" marB="66675"/>
                </a:tc>
                <a:tc>
                  <a:txBody>
                    <a:bodyPr/>
                    <a:lstStyle/>
                    <a:p>
                      <a:r>
                        <a:rPr sz="1050">
                          <a:solidFill>
                            <a:srgbClr val="17324D"/>
                          </a:solidFill>
                          <a:latin typeface="Arial"/>
                          <a:ea typeface="Arial"/>
                          <a:cs typeface="Arial"/>
                        </a:rPr>
                        <a:t>$75/hour</a:t>
                      </a:r>
                    </a:p>
                  </a:txBody>
                  <a:tcPr marL="95250" marR="95250" marT="66675" marB="66675"/>
                </a:tc>
                <a:extLst>
                  <a:ext uri="{0D108BD9-81ED-4DB2-BD59-A6C34878D82A}">
                    <a16:rowId xmlns:a16="http://schemas.microsoft.com/office/drawing/2014/main" val="10004"/>
                  </a:ext>
                </a:extLst>
              </a:tr>
              <a:tr h="535781">
                <a:tc>
                  <a:txBody>
                    <a:bodyPr/>
                    <a:lstStyle/>
                    <a:p>
                      <a:r>
                        <a:rPr sz="1050" b="1">
                          <a:solidFill>
                            <a:srgbClr val="17324D"/>
                          </a:solidFill>
                          <a:latin typeface="Arial"/>
                          <a:ea typeface="Arial"/>
                          <a:cs typeface="Arial"/>
                        </a:rPr>
                        <a:t>Productive usage factor</a:t>
                      </a:r>
                    </a:p>
                  </a:txBody>
                  <a:tcPr marL="95250" marR="95250" marT="66675" marB="66675"/>
                </a:tc>
                <a:tc>
                  <a:txBody>
                    <a:bodyPr/>
                    <a:lstStyle/>
                    <a:p>
                      <a:r>
                        <a:rPr sz="1050">
                          <a:solidFill>
                            <a:srgbClr val="17324D"/>
                          </a:solidFill>
                          <a:latin typeface="Arial"/>
                          <a:ea typeface="Arial"/>
                          <a:cs typeface="Arial"/>
                        </a:rPr>
                        <a:t>70%</a:t>
                      </a:r>
                    </a:p>
                  </a:txBody>
                  <a:tcPr marL="95250" marR="95250" marT="66675" marB="66675"/>
                </a:tc>
                <a:tc>
                  <a:txBody>
                    <a:bodyPr/>
                    <a:lstStyle/>
                    <a:p>
                      <a:r>
                        <a:rPr sz="1050">
                          <a:solidFill>
                            <a:srgbClr val="17324D"/>
                          </a:solidFill>
                          <a:latin typeface="Arial"/>
                          <a:ea typeface="Arial"/>
                          <a:cs typeface="Arial"/>
                        </a:rPr>
                        <a:t>75%</a:t>
                      </a:r>
                    </a:p>
                  </a:txBody>
                  <a:tcPr marL="95250" marR="95250" marT="66675" marB="66675"/>
                </a:tc>
                <a:tc>
                  <a:txBody>
                    <a:bodyPr/>
                    <a:lstStyle/>
                    <a:p>
                      <a:r>
                        <a:rPr sz="1050">
                          <a:solidFill>
                            <a:srgbClr val="17324D"/>
                          </a:solidFill>
                          <a:latin typeface="Arial"/>
                          <a:ea typeface="Arial"/>
                          <a:cs typeface="Arial"/>
                        </a:rPr>
                        <a:t>80%</a:t>
                      </a:r>
                    </a:p>
                  </a:txBody>
                  <a:tcPr marL="95250" marR="95250" marT="66675" marB="66675"/>
                </a:tc>
                <a:extLst>
                  <a:ext uri="{0D108BD9-81ED-4DB2-BD59-A6C34878D82A}">
                    <a16:rowId xmlns:a16="http://schemas.microsoft.com/office/drawing/2014/main" val="10005"/>
                  </a:ext>
                </a:extLst>
              </a:tr>
              <a:tr h="535781">
                <a:tc>
                  <a:txBody>
                    <a:bodyPr/>
                    <a:lstStyle/>
                    <a:p>
                      <a:r>
                        <a:rPr sz="1050" b="1">
                          <a:solidFill>
                            <a:srgbClr val="17324D"/>
                          </a:solidFill>
                          <a:latin typeface="Arial"/>
                          <a:ea typeface="Arial"/>
                          <a:cs typeface="Arial"/>
                        </a:rPr>
                        <a:t>Monthly operating cost</a:t>
                      </a:r>
                    </a:p>
                  </a:txBody>
                  <a:tcPr marL="95250" marR="95250" marT="66675" marB="66675"/>
                </a:tc>
                <a:tc>
                  <a:txBody>
                    <a:bodyPr/>
                    <a:lstStyle/>
                    <a:p>
                      <a:r>
                        <a:rPr sz="1050">
                          <a:solidFill>
                            <a:srgbClr val="17324D"/>
                          </a:solidFill>
                          <a:latin typeface="Arial"/>
                          <a:ea typeface="Arial"/>
                          <a:cs typeface="Arial"/>
                        </a:rPr>
                        <a:t>$5,000</a:t>
                      </a:r>
                    </a:p>
                  </a:txBody>
                  <a:tcPr marL="95250" marR="95250" marT="66675" marB="66675"/>
                </a:tc>
                <a:tc>
                  <a:txBody>
                    <a:bodyPr/>
                    <a:lstStyle/>
                    <a:p>
                      <a:r>
                        <a:rPr sz="1050">
                          <a:solidFill>
                            <a:srgbClr val="17324D"/>
                          </a:solidFill>
                          <a:latin typeface="Arial"/>
                          <a:ea typeface="Arial"/>
                          <a:cs typeface="Arial"/>
                        </a:rPr>
                        <a:t>$10,000</a:t>
                      </a:r>
                    </a:p>
                  </a:txBody>
                  <a:tcPr marL="95250" marR="95250" marT="66675" marB="66675"/>
                </a:tc>
                <a:tc>
                  <a:txBody>
                    <a:bodyPr/>
                    <a:lstStyle/>
                    <a:p>
                      <a:r>
                        <a:rPr sz="1050">
                          <a:solidFill>
                            <a:srgbClr val="17324D"/>
                          </a:solidFill>
                          <a:latin typeface="Arial"/>
                          <a:ea typeface="Arial"/>
                          <a:cs typeface="Arial"/>
                        </a:rPr>
                        <a:t>$25,000</a:t>
                      </a:r>
                    </a:p>
                  </a:txBody>
                  <a:tcPr marL="95250" marR="95250" marT="66675" marB="66675"/>
                </a:tc>
                <a:extLst>
                  <a:ext uri="{0D108BD9-81ED-4DB2-BD59-A6C34878D82A}">
                    <a16:rowId xmlns:a16="http://schemas.microsoft.com/office/drawing/2014/main" val="10006"/>
                  </a:ext>
                </a:extLst>
              </a:tr>
              <a:tr h="535781">
                <a:tc>
                  <a:txBody>
                    <a:bodyPr/>
                    <a:lstStyle/>
                    <a:p>
                      <a:r>
                        <a:rPr sz="1050" b="1">
                          <a:solidFill>
                            <a:srgbClr val="17324D"/>
                          </a:solidFill>
                          <a:latin typeface="Arial"/>
                          <a:ea typeface="Arial"/>
                          <a:cs typeface="Arial"/>
                        </a:rPr>
                        <a:t>One-time implementation</a:t>
                      </a:r>
                    </a:p>
                  </a:txBody>
                  <a:tcPr marL="95250" marR="95250" marT="66675" marB="66675"/>
                </a:tc>
                <a:tc>
                  <a:txBody>
                    <a:bodyPr/>
                    <a:lstStyle/>
                    <a:p>
                      <a:r>
                        <a:rPr sz="1050">
                          <a:solidFill>
                            <a:srgbClr val="17324D"/>
                          </a:solidFill>
                          <a:latin typeface="Arial"/>
                          <a:ea typeface="Arial"/>
                          <a:cs typeface="Arial"/>
                        </a:rPr>
                        <a:t>$60,000</a:t>
                      </a:r>
                    </a:p>
                  </a:txBody>
                  <a:tcPr marL="95250" marR="95250" marT="66675" marB="66675"/>
                </a:tc>
                <a:tc>
                  <a:txBody>
                    <a:bodyPr/>
                    <a:lstStyle/>
                    <a:p>
                      <a:r>
                        <a:rPr sz="1050">
                          <a:solidFill>
                            <a:srgbClr val="17324D"/>
                          </a:solidFill>
                          <a:latin typeface="Arial"/>
                          <a:ea typeface="Arial"/>
                          <a:cs typeface="Arial"/>
                        </a:rPr>
                        <a:t>$175,000</a:t>
                      </a:r>
                    </a:p>
                  </a:txBody>
                  <a:tcPr marL="95250" marR="95250" marT="66675" marB="66675"/>
                </a:tc>
                <a:tc>
                  <a:txBody>
                    <a:bodyPr/>
                    <a:lstStyle/>
                    <a:p>
                      <a:r>
                        <a:rPr sz="1050">
                          <a:solidFill>
                            <a:srgbClr val="17324D"/>
                          </a:solidFill>
                          <a:latin typeface="Arial"/>
                          <a:ea typeface="Arial"/>
                          <a:cs typeface="Arial"/>
                        </a:rPr>
                        <a:t>$350,000</a:t>
                      </a:r>
                    </a:p>
                  </a:txBody>
                  <a:tcPr marL="95250" marR="95250" marT="66675" marB="66675"/>
                </a:tc>
                <a:extLst>
                  <a:ext uri="{0D108BD9-81ED-4DB2-BD59-A6C34878D82A}">
                    <a16:rowId xmlns:a16="http://schemas.microsoft.com/office/drawing/2014/main" val="10007"/>
                  </a:ext>
                </a:extLst>
              </a:tr>
            </a:tbl>
          </a:graphicData>
        </a:graphic>
      </p:graphicFrame>
      <p:sp>
        <p:nvSpPr>
          <p:cNvPr id="13" name="Rectangle: Rounded Corners 12">
            <a:extLst>
              <a:ext uri="{FF2B5EF4-FFF2-40B4-BE49-F238E27FC236}">
                <a16:creationId xmlns:a16="http://schemas.microsoft.com/office/drawing/2014/main" id="{4230DC14-0BC2-4532-B549-C02CFF618A53}"/>
              </a:ext>
            </a:extLst>
          </p:cNvPr>
          <p:cNvSpPr>
            <a:spLocks noGrp="1"/>
          </p:cNvSpPr>
          <p:nvPr/>
        </p:nvSpPr>
        <p:spPr>
          <a:xfrm>
            <a:off x="8763000" y="1409700"/>
            <a:ext cx="2895600" cy="2095500"/>
          </a:xfrm>
          <a:prstGeom prst="roundRect">
            <a:avLst>
              <a:gd name="adj" fmla="val 3636"/>
            </a:avLst>
          </a:prstGeom>
          <a:solidFill>
            <a:srgbClr val="EFF6FC"/>
          </a:solidFill>
          <a:ln w="9525">
            <a:solidFill>
              <a:srgbClr val="BAD7EF"/>
            </a:solidFill>
          </a:ln>
        </p:spPr>
        <p:txBody>
          <a:bodyPr/>
          <a:lstStyle/>
          <a:p>
            <a:endParaRPr lang="en-US"/>
          </a:p>
        </p:txBody>
      </p:sp>
      <p:sp>
        <p:nvSpPr>
          <p:cNvPr id="14" name="Rectangle 13">
            <a:extLst>
              <a:ext uri="{FF2B5EF4-FFF2-40B4-BE49-F238E27FC236}">
                <a16:creationId xmlns:a16="http://schemas.microsoft.com/office/drawing/2014/main" id="{7CA9DA2A-EE6B-440B-8893-E29EAC123E94}"/>
              </a:ext>
            </a:extLst>
          </p:cNvPr>
          <p:cNvSpPr>
            <a:spLocks noGrp="1"/>
          </p:cNvSpPr>
          <p:nvPr/>
        </p:nvSpPr>
        <p:spPr>
          <a:xfrm>
            <a:off x="8991600" y="1638300"/>
            <a:ext cx="238125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CORE FORMULA</a:t>
            </a:r>
          </a:p>
        </p:txBody>
      </p:sp>
      <p:sp>
        <p:nvSpPr>
          <p:cNvPr id="15" name="Rectangle 14">
            <a:extLst>
              <a:ext uri="{FF2B5EF4-FFF2-40B4-BE49-F238E27FC236}">
                <a16:creationId xmlns:a16="http://schemas.microsoft.com/office/drawing/2014/main" id="{335BF3EB-D2E4-419C-9210-2A39252FFAAF}"/>
              </a:ext>
            </a:extLst>
          </p:cNvPr>
          <p:cNvSpPr>
            <a:spLocks noGrp="1"/>
          </p:cNvSpPr>
          <p:nvPr/>
        </p:nvSpPr>
        <p:spPr>
          <a:xfrm>
            <a:off x="8991600" y="2000250"/>
            <a:ext cx="2438400" cy="914400"/>
          </a:xfrm>
          <a:prstGeom prst="rect">
            <a:avLst/>
          </a:prstGeom>
          <a:noFill/>
          <a:ln w="0">
            <a:noFill/>
          </a:ln>
        </p:spPr>
        <p:txBody>
          <a:bodyPr>
            <a:normAutofit fontScale="81818"/>
          </a:bodyPr>
          <a:lstStyle/>
          <a:p>
            <a:pPr algn="ctr">
              <a:defRPr sz="1650" b="1">
                <a:solidFill>
                  <a:srgbClr val="17324D"/>
                </a:solidFill>
                <a:latin typeface="Arial"/>
                <a:ea typeface="Arial"/>
                <a:cs typeface="Arial"/>
              </a:defRPr>
            </a:pPr>
            <a:r>
              <a:rPr sz="1650" b="1">
                <a:solidFill>
                  <a:srgbClr val="17324D"/>
                </a:solidFill>
                <a:latin typeface="Arial"/>
                <a:ea typeface="Arial"/>
                <a:cs typeface="Arial"/>
              </a:rPr>
              <a:t>Users × deck volume × hours saved × loaded hourly cost × productive usage</a:t>
            </a:r>
          </a:p>
        </p:txBody>
      </p:sp>
      <p:sp>
        <p:nvSpPr>
          <p:cNvPr id="16" name="Rectangle: Rounded Corners 15">
            <a:extLst>
              <a:ext uri="{FF2B5EF4-FFF2-40B4-BE49-F238E27FC236}">
                <a16:creationId xmlns:a16="http://schemas.microsoft.com/office/drawing/2014/main" id="{C69A8FC6-F674-4CA2-B6C8-25ECD835AFBB}"/>
              </a:ext>
            </a:extLst>
          </p:cNvPr>
          <p:cNvSpPr>
            <a:spLocks noGrp="1"/>
          </p:cNvSpPr>
          <p:nvPr/>
        </p:nvSpPr>
        <p:spPr>
          <a:xfrm>
            <a:off x="8763000" y="3714750"/>
            <a:ext cx="2895600" cy="1981200"/>
          </a:xfrm>
          <a:prstGeom prst="roundRect">
            <a:avLst>
              <a:gd name="adj" fmla="val 3846"/>
            </a:avLst>
          </a:prstGeom>
          <a:solidFill>
            <a:srgbClr val="EAF7E8"/>
          </a:solidFill>
          <a:ln w="9525">
            <a:solidFill>
              <a:srgbClr val="A8D8A4"/>
            </a:solidFill>
          </a:ln>
        </p:spPr>
        <p:txBody>
          <a:bodyPr/>
          <a:lstStyle/>
          <a:p>
            <a:endParaRPr lang="en-US"/>
          </a:p>
        </p:txBody>
      </p:sp>
      <p:sp>
        <p:nvSpPr>
          <p:cNvPr id="17" name="Rectangle 16">
            <a:extLst>
              <a:ext uri="{FF2B5EF4-FFF2-40B4-BE49-F238E27FC236}">
                <a16:creationId xmlns:a16="http://schemas.microsoft.com/office/drawing/2014/main" id="{B88A5CAD-7E2D-4B90-A5B2-B307B970DBBC}"/>
              </a:ext>
            </a:extLst>
          </p:cNvPr>
          <p:cNvSpPr>
            <a:spLocks noGrp="1"/>
          </p:cNvSpPr>
          <p:nvPr/>
        </p:nvSpPr>
        <p:spPr>
          <a:xfrm>
            <a:off x="8991600" y="3943350"/>
            <a:ext cx="2381250" cy="209550"/>
          </a:xfrm>
          <a:prstGeom prst="rect">
            <a:avLst/>
          </a:prstGeom>
          <a:noFill/>
          <a:ln w="0">
            <a:noFill/>
          </a:ln>
        </p:spPr>
        <p:txBody>
          <a:bodyPr>
            <a:normAutofit fontScale="79487"/>
          </a:bodyPr>
          <a:lstStyle/>
          <a:p>
            <a:pPr algn="l">
              <a:defRPr sz="975" b="1">
                <a:solidFill>
                  <a:srgbClr val="107C10"/>
                </a:solidFill>
                <a:latin typeface="Arial"/>
                <a:ea typeface="Arial"/>
                <a:cs typeface="Arial"/>
              </a:defRPr>
            </a:pPr>
            <a:r>
              <a:rPr sz="975" b="1">
                <a:solidFill>
                  <a:srgbClr val="107C10"/>
                </a:solidFill>
                <a:latin typeface="Arial"/>
                <a:ea typeface="Arial"/>
                <a:cs typeface="Arial"/>
              </a:rPr>
              <a:t>INTERPRETATION</a:t>
            </a:r>
          </a:p>
        </p:txBody>
      </p:sp>
      <p:sp>
        <p:nvSpPr>
          <p:cNvPr id="18" name="Rectangle 17">
            <a:extLst>
              <a:ext uri="{FF2B5EF4-FFF2-40B4-BE49-F238E27FC236}">
                <a16:creationId xmlns:a16="http://schemas.microsoft.com/office/drawing/2014/main" id="{4F203E3A-DDDE-4127-BA3F-B5294125D21A}"/>
              </a:ext>
            </a:extLst>
          </p:cNvPr>
          <p:cNvSpPr>
            <a:spLocks noGrp="1"/>
          </p:cNvSpPr>
          <p:nvPr/>
        </p:nvSpPr>
        <p:spPr>
          <a:xfrm>
            <a:off x="8991600" y="4324350"/>
            <a:ext cx="2438400" cy="1104900"/>
          </a:xfrm>
          <a:prstGeom prst="rect">
            <a:avLst/>
          </a:prstGeom>
          <a:noFill/>
          <a:ln w="0">
            <a:noFill/>
          </a:ln>
        </p:spPr>
        <p:txBody>
          <a:bodyPr>
            <a:normAutofit fontScale="86108"/>
          </a:bodyPr>
          <a:lstStyle/>
          <a:p>
            <a:pPr algn="l">
              <a:defRPr sz="1350" b="0">
                <a:solidFill>
                  <a:srgbClr val="17324D"/>
                </a:solidFill>
                <a:latin typeface="Arial"/>
                <a:ea typeface="Arial"/>
                <a:cs typeface="Arial"/>
              </a:defRPr>
            </a:pPr>
            <a:r>
              <a:rPr sz="1350" b="0">
                <a:solidFill>
                  <a:srgbClr val="17324D"/>
                </a:solidFill>
                <a:latin typeface="Arial"/>
                <a:ea typeface="Arial"/>
                <a:cs typeface="Arial"/>
              </a:rPr>
              <a:t>Capacity value measures time redirected to higher-value work. Convert it to hard-dollar savings only when staffing, contractor, or outsourcing costs actually decline.</a:t>
            </a:r>
          </a:p>
        </p:txBody>
      </p:sp>
    </p:spTree>
    <p:extLst>
      <p:ext uri="{BB962C8B-B14F-4D97-AF65-F5344CB8AC3E}">
        <p14:creationId xmlns:p14="http://schemas.microsoft.com/office/powerpoint/2010/main" val="1210385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5651F352-B2A2-4FF1-83AD-6301A9EC8717}"/>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CE831F55-BAF2-4CF2-9888-5D9F6BEAB6AF}"/>
              </a:ext>
            </a:extLst>
          </p:cNvPr>
          <p:cNvSpPr>
            <a:spLocks noGrp="1"/>
          </p:cNvSpPr>
          <p:nvPr/>
        </p:nvSpPr>
        <p:spPr>
          <a:xfrm>
            <a:off x="533400" y="323850"/>
            <a:ext cx="9334500" cy="495300"/>
          </a:xfrm>
          <a:prstGeom prst="rect">
            <a:avLst/>
          </a:prstGeom>
          <a:noFill/>
          <a:ln w="0">
            <a:noFill/>
          </a:ln>
        </p:spPr>
        <p:txBody>
          <a:bodyPr>
            <a:normAutofit/>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$98K pilot benefit scales to a $3.48M enterprise run rate</a:t>
            </a:r>
          </a:p>
        </p:txBody>
      </p:sp>
      <p:sp>
        <p:nvSpPr>
          <p:cNvPr id="3" name="Rectangle 2">
            <a:extLst>
              <a:ext uri="{FF2B5EF4-FFF2-40B4-BE49-F238E27FC236}">
                <a16:creationId xmlns:a16="http://schemas.microsoft.com/office/drawing/2014/main" id="{C8E44E79-D7A4-4AF3-8EA2-4CBD0F4EAA20}"/>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Net benefit equals released capacity value less estimated monthly operating cost</a:t>
            </a:r>
          </a:p>
        </p:txBody>
      </p:sp>
      <p:sp>
        <p:nvSpPr>
          <p:cNvPr id="4" name="Rectangle 3">
            <a:extLst>
              <a:ext uri="{FF2B5EF4-FFF2-40B4-BE49-F238E27FC236}">
                <a16:creationId xmlns:a16="http://schemas.microsoft.com/office/drawing/2014/main" id="{FD2FFF65-BA7D-470B-957C-6547A9796335}"/>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089F3D40-97A3-42AD-8961-00195BA668D1}"/>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78EEFD0C-1CEC-44EB-9602-1762F02B3F82}"/>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D7C4069D-EBFE-4AD3-ACA6-D9160486124A}"/>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24EAA02D-A368-4CB4-B3AA-7C82A9624BF4}"/>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4E0BA322-343F-43DE-B300-F2BDA38E31A8}"/>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C935562F-04A5-4F3D-B044-FF97D05CB23B}"/>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11961C0B-976E-49FD-8248-66369A8248C6}"/>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07</a:t>
            </a:r>
          </a:p>
        </p:txBody>
      </p:sp>
      <p:graphicFrame>
        <p:nvGraphicFramePr>
          <p:cNvPr id="38" name="Chart"/>
          <p:cNvGraphicFramePr/>
          <p:nvPr/>
        </p:nvGraphicFramePr>
        <p:xfrm>
          <a:off x="571500" y="1428750"/>
          <a:ext cx="7239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id="{4FF2CFD0-B046-415E-AB40-F8F9D4E1A0BD}"/>
              </a:ext>
            </a:extLst>
          </p:cNvPr>
          <p:cNvSpPr>
            <a:spLocks noGrp="1"/>
          </p:cNvSpPr>
          <p:nvPr/>
        </p:nvSpPr>
        <p:spPr>
          <a:xfrm>
            <a:off x="8172450" y="1447800"/>
            <a:ext cx="285750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SCENARIO RESULTS</a:t>
            </a:r>
          </a:p>
        </p:txBody>
      </p:sp>
      <p:sp>
        <p:nvSpPr>
          <p:cNvPr id="14" name="Rectangle: Rounded Corners 13">
            <a:extLst>
              <a:ext uri="{FF2B5EF4-FFF2-40B4-BE49-F238E27FC236}">
                <a16:creationId xmlns:a16="http://schemas.microsoft.com/office/drawing/2014/main" id="{17003DE3-2C6F-4A65-A5F1-EBC4A66C76D3}"/>
              </a:ext>
            </a:extLst>
          </p:cNvPr>
          <p:cNvSpPr>
            <a:spLocks noGrp="1"/>
          </p:cNvSpPr>
          <p:nvPr/>
        </p:nvSpPr>
        <p:spPr>
          <a:xfrm>
            <a:off x="8172450" y="1752600"/>
            <a:ext cx="3486150" cy="971550"/>
          </a:xfrm>
          <a:prstGeom prst="roundRect">
            <a:avLst>
              <a:gd name="adj" fmla="val 7843"/>
            </a:avLst>
          </a:prstGeom>
          <a:solidFill>
            <a:srgbClr val="FFFFFF"/>
          </a:solidFill>
          <a:ln w="9525">
            <a:solidFill>
              <a:srgbClr val="D5E2EE"/>
            </a:solidFill>
          </a:ln>
        </p:spPr>
        <p:txBody>
          <a:bodyPr/>
          <a:lstStyle/>
          <a:p>
            <a:endParaRPr lang="en-US"/>
          </a:p>
        </p:txBody>
      </p:sp>
      <p:sp>
        <p:nvSpPr>
          <p:cNvPr id="15" name="Rectangle 14">
            <a:extLst>
              <a:ext uri="{FF2B5EF4-FFF2-40B4-BE49-F238E27FC236}">
                <a16:creationId xmlns:a16="http://schemas.microsoft.com/office/drawing/2014/main" id="{EEEDC1BD-0B22-4823-86B4-37F7C0A8BBFA}"/>
              </a:ext>
            </a:extLst>
          </p:cNvPr>
          <p:cNvSpPr>
            <a:spLocks noGrp="1"/>
          </p:cNvSpPr>
          <p:nvPr/>
        </p:nvSpPr>
        <p:spPr>
          <a:xfrm>
            <a:off x="8382000" y="1905000"/>
            <a:ext cx="1428750" cy="228600"/>
          </a:xfrm>
          <a:prstGeom prst="rect">
            <a:avLst/>
          </a:prstGeom>
          <a:noFill/>
          <a:ln w="0">
            <a:noFill/>
          </a:ln>
        </p:spPr>
        <p:txBody>
          <a:bodyPr>
            <a:normAutofit fontScale="66667"/>
          </a:bodyPr>
          <a:lstStyle/>
          <a:p>
            <a:pPr algn="l">
              <a:defRPr sz="1350" b="1">
                <a:solidFill>
                  <a:srgbClr val="17324D"/>
                </a:solidFill>
                <a:latin typeface="Arial"/>
                <a:ea typeface="Arial"/>
                <a:cs typeface="Arial"/>
              </a:defRPr>
            </a:pPr>
            <a:r>
              <a:rPr sz="1350" b="1">
                <a:solidFill>
                  <a:srgbClr val="17324D"/>
                </a:solidFill>
                <a:latin typeface="Arial"/>
                <a:ea typeface="Arial"/>
                <a:cs typeface="Arial"/>
              </a:rPr>
              <a:t>Pilot</a:t>
            </a:r>
          </a:p>
        </p:txBody>
      </p:sp>
      <p:sp>
        <p:nvSpPr>
          <p:cNvPr id="16" name="Rectangle 15">
            <a:extLst>
              <a:ext uri="{FF2B5EF4-FFF2-40B4-BE49-F238E27FC236}">
                <a16:creationId xmlns:a16="http://schemas.microsoft.com/office/drawing/2014/main" id="{B12C26F8-972E-45F9-A84D-EA364541F02D}"/>
              </a:ext>
            </a:extLst>
          </p:cNvPr>
          <p:cNvSpPr>
            <a:spLocks noGrp="1"/>
          </p:cNvSpPr>
          <p:nvPr/>
        </p:nvSpPr>
        <p:spPr>
          <a:xfrm>
            <a:off x="8382000" y="2190750"/>
            <a:ext cx="1524000" cy="247650"/>
          </a:xfrm>
          <a:prstGeom prst="rect">
            <a:avLst/>
          </a:prstGeom>
          <a:noFill/>
          <a:ln w="0">
            <a:noFill/>
          </a:ln>
        </p:spPr>
        <p:txBody>
          <a:bodyPr>
            <a:normAutofit fontScale="68333"/>
          </a:bodyPr>
          <a:lstStyle/>
          <a:p>
            <a:pPr algn="l">
              <a:defRPr sz="1500" b="1">
                <a:solidFill>
                  <a:srgbClr val="107C10"/>
                </a:solidFill>
                <a:latin typeface="Arial"/>
                <a:ea typeface="Arial"/>
                <a:cs typeface="Arial"/>
              </a:defRPr>
            </a:pPr>
            <a:r>
              <a:rPr sz="1500" b="1">
                <a:solidFill>
                  <a:srgbClr val="107C10"/>
                </a:solidFill>
                <a:latin typeface="Arial"/>
                <a:ea typeface="Arial"/>
                <a:cs typeface="Arial"/>
              </a:rPr>
              <a:t>$8.1K / month</a:t>
            </a:r>
          </a:p>
        </p:txBody>
      </p:sp>
      <p:sp>
        <p:nvSpPr>
          <p:cNvPr id="17" name="Rectangle 16">
            <a:extLst>
              <a:ext uri="{FF2B5EF4-FFF2-40B4-BE49-F238E27FC236}">
                <a16:creationId xmlns:a16="http://schemas.microsoft.com/office/drawing/2014/main" id="{1B3C0F5C-457D-42DB-9441-05051D4EF1B0}"/>
              </a:ext>
            </a:extLst>
          </p:cNvPr>
          <p:cNvSpPr>
            <a:spLocks noGrp="1"/>
          </p:cNvSpPr>
          <p:nvPr/>
        </p:nvSpPr>
        <p:spPr>
          <a:xfrm>
            <a:off x="9953625" y="2209800"/>
            <a:ext cx="1428750" cy="209550"/>
          </a:xfrm>
          <a:prstGeom prst="rect">
            <a:avLst/>
          </a:prstGeom>
          <a:noFill/>
          <a:ln w="0">
            <a:noFill/>
          </a:ln>
        </p:spPr>
        <p:txBody>
          <a:bodyPr>
            <a:normAutofit fontScale="68889"/>
          </a:bodyPr>
          <a:lstStyle/>
          <a:p>
            <a:pPr algn="r">
              <a:defRPr sz="1125" b="0">
                <a:solidFill>
                  <a:srgbClr val="526A80"/>
                </a:solidFill>
                <a:latin typeface="Arial"/>
                <a:ea typeface="Arial"/>
                <a:cs typeface="Arial"/>
              </a:defRPr>
            </a:pPr>
            <a:r>
              <a:rPr sz="1125" b="0">
                <a:solidFill>
                  <a:srgbClr val="526A80"/>
                </a:solidFill>
                <a:latin typeface="Arial"/>
                <a:ea typeface="Arial"/>
                <a:cs typeface="Arial"/>
              </a:rPr>
              <a:t>7.4 month payback</a:t>
            </a:r>
          </a:p>
        </p:txBody>
      </p:sp>
      <p:sp>
        <p:nvSpPr>
          <p:cNvPr id="18" name="Rectangle: Rounded Corners 17">
            <a:extLst>
              <a:ext uri="{FF2B5EF4-FFF2-40B4-BE49-F238E27FC236}">
                <a16:creationId xmlns:a16="http://schemas.microsoft.com/office/drawing/2014/main" id="{3F8241F1-C72E-4935-8DC6-1A0D04788605}"/>
              </a:ext>
            </a:extLst>
          </p:cNvPr>
          <p:cNvSpPr>
            <a:spLocks noGrp="1"/>
          </p:cNvSpPr>
          <p:nvPr/>
        </p:nvSpPr>
        <p:spPr>
          <a:xfrm>
            <a:off x="8172450" y="2924175"/>
            <a:ext cx="3486150" cy="971550"/>
          </a:xfrm>
          <a:prstGeom prst="roundRect">
            <a:avLst>
              <a:gd name="adj" fmla="val 7843"/>
            </a:avLst>
          </a:prstGeom>
          <a:solidFill>
            <a:srgbClr val="FFFFFF"/>
          </a:solidFill>
          <a:ln w="9525">
            <a:solidFill>
              <a:srgbClr val="D5E2EE"/>
            </a:solidFill>
          </a:ln>
        </p:spPr>
        <p:txBody>
          <a:bodyPr/>
          <a:lstStyle/>
          <a:p>
            <a:endParaRPr lang="en-US"/>
          </a:p>
        </p:txBody>
      </p:sp>
      <p:sp>
        <p:nvSpPr>
          <p:cNvPr id="19" name="Rectangle 18">
            <a:extLst>
              <a:ext uri="{FF2B5EF4-FFF2-40B4-BE49-F238E27FC236}">
                <a16:creationId xmlns:a16="http://schemas.microsoft.com/office/drawing/2014/main" id="{CD96CFC0-E0DE-4F35-B717-672D6FA0B510}"/>
              </a:ext>
            </a:extLst>
          </p:cNvPr>
          <p:cNvSpPr>
            <a:spLocks noGrp="1"/>
          </p:cNvSpPr>
          <p:nvPr/>
        </p:nvSpPr>
        <p:spPr>
          <a:xfrm>
            <a:off x="8382000" y="3076575"/>
            <a:ext cx="1428750" cy="228600"/>
          </a:xfrm>
          <a:prstGeom prst="rect">
            <a:avLst/>
          </a:prstGeom>
          <a:noFill/>
          <a:ln w="0">
            <a:noFill/>
          </a:ln>
        </p:spPr>
        <p:txBody>
          <a:bodyPr>
            <a:normAutofit fontScale="66667"/>
          </a:bodyPr>
          <a:lstStyle/>
          <a:p>
            <a:pPr algn="l">
              <a:defRPr sz="1350" b="1">
                <a:solidFill>
                  <a:srgbClr val="17324D"/>
                </a:solidFill>
                <a:latin typeface="Arial"/>
                <a:ea typeface="Arial"/>
                <a:cs typeface="Arial"/>
              </a:defRPr>
            </a:pPr>
            <a:r>
              <a:rPr sz="1350" b="1">
                <a:solidFill>
                  <a:srgbClr val="17324D"/>
                </a:solidFill>
                <a:latin typeface="Arial"/>
                <a:ea typeface="Arial"/>
                <a:cs typeface="Arial"/>
              </a:rPr>
              <a:t>Business unit</a:t>
            </a:r>
          </a:p>
        </p:txBody>
      </p:sp>
      <p:sp>
        <p:nvSpPr>
          <p:cNvPr id="20" name="Rectangle 19">
            <a:extLst>
              <a:ext uri="{FF2B5EF4-FFF2-40B4-BE49-F238E27FC236}">
                <a16:creationId xmlns:a16="http://schemas.microsoft.com/office/drawing/2014/main" id="{E19FE18E-58F2-4F0A-B419-DC5F9A57649D}"/>
              </a:ext>
            </a:extLst>
          </p:cNvPr>
          <p:cNvSpPr>
            <a:spLocks noGrp="1"/>
          </p:cNvSpPr>
          <p:nvPr/>
        </p:nvSpPr>
        <p:spPr>
          <a:xfrm>
            <a:off x="8382000" y="3362325"/>
            <a:ext cx="1524000" cy="247650"/>
          </a:xfrm>
          <a:prstGeom prst="rect">
            <a:avLst/>
          </a:prstGeom>
          <a:noFill/>
          <a:ln w="0">
            <a:noFill/>
          </a:ln>
        </p:spPr>
        <p:txBody>
          <a:bodyPr>
            <a:normAutofit fontScale="68333"/>
          </a:bodyPr>
          <a:lstStyle/>
          <a:p>
            <a:pPr algn="l">
              <a:defRPr sz="1500" b="1">
                <a:solidFill>
                  <a:srgbClr val="107C10"/>
                </a:solidFill>
                <a:latin typeface="Arial"/>
                <a:ea typeface="Arial"/>
                <a:cs typeface="Arial"/>
              </a:defRPr>
            </a:pPr>
            <a:r>
              <a:rPr sz="1500" b="1">
                <a:solidFill>
                  <a:srgbClr val="107C10"/>
                </a:solidFill>
                <a:latin typeface="Arial"/>
                <a:ea typeface="Arial"/>
                <a:cs typeface="Arial"/>
              </a:rPr>
              <a:t>$74.4K / month</a:t>
            </a:r>
          </a:p>
        </p:txBody>
      </p:sp>
      <p:sp>
        <p:nvSpPr>
          <p:cNvPr id="21" name="Rectangle 20">
            <a:extLst>
              <a:ext uri="{FF2B5EF4-FFF2-40B4-BE49-F238E27FC236}">
                <a16:creationId xmlns:a16="http://schemas.microsoft.com/office/drawing/2014/main" id="{E468DA32-9065-4012-AFF6-FA6444365E15}"/>
              </a:ext>
            </a:extLst>
          </p:cNvPr>
          <p:cNvSpPr>
            <a:spLocks noGrp="1"/>
          </p:cNvSpPr>
          <p:nvPr/>
        </p:nvSpPr>
        <p:spPr>
          <a:xfrm>
            <a:off x="9953625" y="3381375"/>
            <a:ext cx="1428750" cy="209550"/>
          </a:xfrm>
          <a:prstGeom prst="rect">
            <a:avLst/>
          </a:prstGeom>
          <a:noFill/>
          <a:ln w="0">
            <a:noFill/>
          </a:ln>
        </p:spPr>
        <p:txBody>
          <a:bodyPr>
            <a:normAutofit fontScale="68889"/>
          </a:bodyPr>
          <a:lstStyle/>
          <a:p>
            <a:pPr algn="r">
              <a:defRPr sz="1125" b="0">
                <a:solidFill>
                  <a:srgbClr val="526A80"/>
                </a:solidFill>
                <a:latin typeface="Arial"/>
                <a:ea typeface="Arial"/>
                <a:cs typeface="Arial"/>
              </a:defRPr>
            </a:pPr>
            <a:r>
              <a:rPr sz="1125" b="0">
                <a:solidFill>
                  <a:srgbClr val="526A80"/>
                </a:solidFill>
                <a:latin typeface="Arial"/>
                <a:ea typeface="Arial"/>
                <a:cs typeface="Arial"/>
              </a:rPr>
              <a:t>2.4 month payback</a:t>
            </a:r>
          </a:p>
        </p:txBody>
      </p:sp>
      <p:sp>
        <p:nvSpPr>
          <p:cNvPr id="22" name="Rectangle: Rounded Corners 21">
            <a:extLst>
              <a:ext uri="{FF2B5EF4-FFF2-40B4-BE49-F238E27FC236}">
                <a16:creationId xmlns:a16="http://schemas.microsoft.com/office/drawing/2014/main" id="{860480A9-5787-401A-9F32-0C5A74AB42B3}"/>
              </a:ext>
            </a:extLst>
          </p:cNvPr>
          <p:cNvSpPr>
            <a:spLocks noGrp="1"/>
          </p:cNvSpPr>
          <p:nvPr/>
        </p:nvSpPr>
        <p:spPr>
          <a:xfrm>
            <a:off x="8172450" y="4095750"/>
            <a:ext cx="3486150" cy="971550"/>
          </a:xfrm>
          <a:prstGeom prst="roundRect">
            <a:avLst>
              <a:gd name="adj" fmla="val 7843"/>
            </a:avLst>
          </a:prstGeom>
          <a:solidFill>
            <a:srgbClr val="FFFFFF"/>
          </a:solidFill>
          <a:ln w="9525">
            <a:solidFill>
              <a:srgbClr val="D5E2EE"/>
            </a:solidFill>
          </a:ln>
        </p:spPr>
        <p:txBody>
          <a:bodyPr/>
          <a:lstStyle/>
          <a:p>
            <a:endParaRPr lang="en-US"/>
          </a:p>
        </p:txBody>
      </p:sp>
      <p:sp>
        <p:nvSpPr>
          <p:cNvPr id="23" name="Rectangle 22">
            <a:extLst>
              <a:ext uri="{FF2B5EF4-FFF2-40B4-BE49-F238E27FC236}">
                <a16:creationId xmlns:a16="http://schemas.microsoft.com/office/drawing/2014/main" id="{A137FB91-F7E9-4CC4-8D9F-7F8EA0A8262C}"/>
              </a:ext>
            </a:extLst>
          </p:cNvPr>
          <p:cNvSpPr>
            <a:spLocks noGrp="1"/>
          </p:cNvSpPr>
          <p:nvPr/>
        </p:nvSpPr>
        <p:spPr>
          <a:xfrm>
            <a:off x="8382000" y="4248150"/>
            <a:ext cx="1428750" cy="228600"/>
          </a:xfrm>
          <a:prstGeom prst="rect">
            <a:avLst/>
          </a:prstGeom>
          <a:noFill/>
          <a:ln w="0">
            <a:noFill/>
          </a:ln>
        </p:spPr>
        <p:txBody>
          <a:bodyPr>
            <a:normAutofit fontScale="66667"/>
          </a:bodyPr>
          <a:lstStyle/>
          <a:p>
            <a:pPr algn="l">
              <a:defRPr sz="1350" b="1">
                <a:solidFill>
                  <a:srgbClr val="17324D"/>
                </a:solidFill>
                <a:latin typeface="Arial"/>
                <a:ea typeface="Arial"/>
                <a:cs typeface="Arial"/>
              </a:defRPr>
            </a:pPr>
            <a:r>
              <a:rPr sz="1350" b="1">
                <a:solidFill>
                  <a:srgbClr val="17324D"/>
                </a:solidFill>
                <a:latin typeface="Arial"/>
                <a:ea typeface="Arial"/>
                <a:cs typeface="Arial"/>
              </a:rPr>
              <a:t>Enterprise</a:t>
            </a:r>
          </a:p>
        </p:txBody>
      </p:sp>
      <p:sp>
        <p:nvSpPr>
          <p:cNvPr id="24" name="Rectangle 23">
            <a:extLst>
              <a:ext uri="{FF2B5EF4-FFF2-40B4-BE49-F238E27FC236}">
                <a16:creationId xmlns:a16="http://schemas.microsoft.com/office/drawing/2014/main" id="{2D2B2CC5-0744-40FD-9C9F-795DB36B57BA}"/>
              </a:ext>
            </a:extLst>
          </p:cNvPr>
          <p:cNvSpPr>
            <a:spLocks noGrp="1"/>
          </p:cNvSpPr>
          <p:nvPr/>
        </p:nvSpPr>
        <p:spPr>
          <a:xfrm>
            <a:off x="8382000" y="4533900"/>
            <a:ext cx="1524000" cy="247650"/>
          </a:xfrm>
          <a:prstGeom prst="rect">
            <a:avLst/>
          </a:prstGeom>
          <a:noFill/>
          <a:ln w="0">
            <a:noFill/>
          </a:ln>
        </p:spPr>
        <p:txBody>
          <a:bodyPr>
            <a:normAutofit fontScale="68333"/>
          </a:bodyPr>
          <a:lstStyle/>
          <a:p>
            <a:pPr algn="l">
              <a:defRPr sz="1500" b="1">
                <a:solidFill>
                  <a:srgbClr val="107C10"/>
                </a:solidFill>
                <a:latin typeface="Arial"/>
                <a:ea typeface="Arial"/>
                <a:cs typeface="Arial"/>
              </a:defRPr>
            </a:pPr>
            <a:r>
              <a:rPr sz="1500" b="1">
                <a:solidFill>
                  <a:srgbClr val="107C10"/>
                </a:solidFill>
                <a:latin typeface="Arial"/>
                <a:ea typeface="Arial"/>
                <a:cs typeface="Arial"/>
              </a:rPr>
              <a:t>$290.0K / month</a:t>
            </a:r>
          </a:p>
        </p:txBody>
      </p:sp>
      <p:sp>
        <p:nvSpPr>
          <p:cNvPr id="25" name="Rectangle 24">
            <a:extLst>
              <a:ext uri="{FF2B5EF4-FFF2-40B4-BE49-F238E27FC236}">
                <a16:creationId xmlns:a16="http://schemas.microsoft.com/office/drawing/2014/main" id="{46DB8543-A810-471D-8162-A87AD87B6203}"/>
              </a:ext>
            </a:extLst>
          </p:cNvPr>
          <p:cNvSpPr>
            <a:spLocks noGrp="1"/>
          </p:cNvSpPr>
          <p:nvPr/>
        </p:nvSpPr>
        <p:spPr>
          <a:xfrm>
            <a:off x="9953625" y="4552950"/>
            <a:ext cx="1428750" cy="209550"/>
          </a:xfrm>
          <a:prstGeom prst="rect">
            <a:avLst/>
          </a:prstGeom>
          <a:noFill/>
          <a:ln w="0">
            <a:noFill/>
          </a:ln>
        </p:spPr>
        <p:txBody>
          <a:bodyPr>
            <a:normAutofit fontScale="68889"/>
          </a:bodyPr>
          <a:lstStyle/>
          <a:p>
            <a:pPr algn="r">
              <a:defRPr sz="1125" b="0">
                <a:solidFill>
                  <a:srgbClr val="526A80"/>
                </a:solidFill>
                <a:latin typeface="Arial"/>
                <a:ea typeface="Arial"/>
                <a:cs typeface="Arial"/>
              </a:defRPr>
            </a:pPr>
            <a:r>
              <a:rPr sz="1125" b="0">
                <a:solidFill>
                  <a:srgbClr val="526A80"/>
                </a:solidFill>
                <a:latin typeface="Arial"/>
                <a:ea typeface="Arial"/>
                <a:cs typeface="Arial"/>
              </a:rPr>
              <a:t>1.2 month payback</a:t>
            </a:r>
          </a:p>
        </p:txBody>
      </p:sp>
      <p:sp>
        <p:nvSpPr>
          <p:cNvPr id="26" name="Rectangle 25">
            <a:extLst>
              <a:ext uri="{FF2B5EF4-FFF2-40B4-BE49-F238E27FC236}">
                <a16:creationId xmlns:a16="http://schemas.microsoft.com/office/drawing/2014/main" id="{408EFC8E-7AE4-44E0-BD1C-CCF601CD3696}"/>
              </a:ext>
            </a:extLst>
          </p:cNvPr>
          <p:cNvSpPr>
            <a:spLocks noGrp="1"/>
          </p:cNvSpPr>
          <p:nvPr/>
        </p:nvSpPr>
        <p:spPr>
          <a:xfrm>
            <a:off x="8172450" y="5429250"/>
            <a:ext cx="3333750" cy="438150"/>
          </a:xfrm>
          <a:prstGeom prst="rect">
            <a:avLst/>
          </a:prstGeom>
          <a:noFill/>
          <a:ln w="0">
            <a:noFill/>
          </a:ln>
        </p:spPr>
        <p:txBody>
          <a:bodyPr>
            <a:normAutofit fontScale="80361"/>
          </a:bodyPr>
          <a:lstStyle/>
          <a:p>
            <a:pPr algn="l">
              <a:defRPr sz="1050" b="0">
                <a:solidFill>
                  <a:srgbClr val="526A80"/>
                </a:solidFill>
                <a:latin typeface="Arial"/>
                <a:ea typeface="Arial"/>
                <a:cs typeface="Arial"/>
              </a:defRPr>
            </a:pPr>
            <a:r>
              <a:rPr sz="1050" b="0">
                <a:solidFill>
                  <a:srgbClr val="526A80"/>
                </a:solidFill>
                <a:latin typeface="Arial"/>
                <a:ea typeface="Arial"/>
                <a:cs typeface="Arial"/>
              </a:rPr>
              <a:t>Annual figures exclude one-time implementation cost. Year-one ROI includes implementation and twelve months of operating cost.</a:t>
            </a:r>
          </a:p>
        </p:txBody>
      </p:sp>
    </p:spTree>
    <p:extLst>
      <p:ext uri="{BB962C8B-B14F-4D97-AF65-F5344CB8AC3E}">
        <p14:creationId xmlns:p14="http://schemas.microsoft.com/office/powerpoint/2010/main" val="42578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BAA739D5-C4EB-47C4-8997-363555F9630B}"/>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5736ECD7-988B-44F3-AEFD-531B754E2935}"/>
              </a:ext>
            </a:extLst>
          </p:cNvPr>
          <p:cNvSpPr>
            <a:spLocks noGrp="1"/>
          </p:cNvSpPr>
          <p:nvPr/>
        </p:nvSpPr>
        <p:spPr>
          <a:xfrm>
            <a:off x="533400" y="323850"/>
            <a:ext cx="9334500" cy="495300"/>
          </a:xfrm>
          <a:prstGeom prst="rect">
            <a:avLst/>
          </a:prstGeom>
          <a:noFill/>
          <a:ln w="0">
            <a:noFill/>
          </a:ln>
        </p:spPr>
        <p:txBody>
          <a:bodyPr>
            <a:normAutofit/>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Business-unit case: $717.5K first-year net benefit</a:t>
            </a:r>
          </a:p>
        </p:txBody>
      </p:sp>
      <p:sp>
        <p:nvSpPr>
          <p:cNvPr id="3" name="Rectangle 2">
            <a:extLst>
              <a:ext uri="{FF2B5EF4-FFF2-40B4-BE49-F238E27FC236}">
                <a16:creationId xmlns:a16="http://schemas.microsoft.com/office/drawing/2014/main" id="{BD27BE77-E9B3-48CB-BD5F-4A325A7BB18C}"/>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The $175K implementation estimate is recovered during the third month of production use</a:t>
            </a:r>
          </a:p>
        </p:txBody>
      </p:sp>
      <p:sp>
        <p:nvSpPr>
          <p:cNvPr id="4" name="Rectangle 3">
            <a:extLst>
              <a:ext uri="{FF2B5EF4-FFF2-40B4-BE49-F238E27FC236}">
                <a16:creationId xmlns:a16="http://schemas.microsoft.com/office/drawing/2014/main" id="{31C64AC3-84AD-4538-90E4-745D1120C64A}"/>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FBA3009C-B8AD-43D5-9560-4023B1B2FCA0}"/>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82154A1E-3CD0-410B-8122-AF2CFFBB354B}"/>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7650E00A-A024-4C37-9B7D-61DF51569887}"/>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0CFABEF1-838E-4CE0-8898-3787DADA0A4C}"/>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45850D5F-2D6E-4128-8A3E-3D1033E28E0F}"/>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58DC38C8-CB55-4D0F-9CCF-26E890EF3450}"/>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997F19E6-1298-4382-97E5-63BBDD1AEFC8}"/>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08</a:t>
            </a:r>
          </a:p>
        </p:txBody>
      </p:sp>
      <p:sp>
        <p:nvSpPr>
          <p:cNvPr id="12" name="Rectangle 11">
            <a:extLst>
              <a:ext uri="{FF2B5EF4-FFF2-40B4-BE49-F238E27FC236}">
                <a16:creationId xmlns:a16="http://schemas.microsoft.com/office/drawing/2014/main" id="{37A332D1-53E2-49D8-B758-679CFE28C8FC}"/>
              </a:ext>
            </a:extLst>
          </p:cNvPr>
          <p:cNvSpPr>
            <a:spLocks noGrp="1"/>
          </p:cNvSpPr>
          <p:nvPr/>
        </p:nvSpPr>
        <p:spPr>
          <a:xfrm>
            <a:off x="533400" y="1371600"/>
            <a:ext cx="285750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MONTHLY RUN RATE</a:t>
            </a:r>
          </a:p>
        </p:txBody>
      </p:sp>
      <p:sp>
        <p:nvSpPr>
          <p:cNvPr id="13" name="Rectangle: Rounded Corners 12">
            <a:extLst>
              <a:ext uri="{FF2B5EF4-FFF2-40B4-BE49-F238E27FC236}">
                <a16:creationId xmlns:a16="http://schemas.microsoft.com/office/drawing/2014/main" id="{2986011C-ED64-4CF4-B35D-A2138134521E}"/>
              </a:ext>
            </a:extLst>
          </p:cNvPr>
          <p:cNvSpPr>
            <a:spLocks noGrp="1"/>
          </p:cNvSpPr>
          <p:nvPr/>
        </p:nvSpPr>
        <p:spPr>
          <a:xfrm>
            <a:off x="533400" y="1695450"/>
            <a:ext cx="2381250" cy="1219200"/>
          </a:xfrm>
          <a:prstGeom prst="roundRect">
            <a:avLst>
              <a:gd name="adj" fmla="val 6250"/>
            </a:avLst>
          </a:prstGeom>
          <a:solidFill>
            <a:srgbClr val="FFFFFF"/>
          </a:solidFill>
          <a:ln w="9525">
            <a:solidFill>
              <a:srgbClr val="D5E2EE"/>
            </a:solidFill>
          </a:ln>
        </p:spPr>
        <p:txBody>
          <a:bodyPr/>
          <a:lstStyle/>
          <a:p>
            <a:endParaRPr lang="en-US"/>
          </a:p>
        </p:txBody>
      </p:sp>
      <p:sp>
        <p:nvSpPr>
          <p:cNvPr id="14" name="Rectangle 13">
            <a:extLst>
              <a:ext uri="{FF2B5EF4-FFF2-40B4-BE49-F238E27FC236}">
                <a16:creationId xmlns:a16="http://schemas.microsoft.com/office/drawing/2014/main" id="{F252C9FE-51AA-4E3F-A950-4F058723C410}"/>
              </a:ext>
            </a:extLst>
          </p:cNvPr>
          <p:cNvSpPr>
            <a:spLocks noGrp="1"/>
          </p:cNvSpPr>
          <p:nvPr/>
        </p:nvSpPr>
        <p:spPr>
          <a:xfrm>
            <a:off x="723900" y="1885950"/>
            <a:ext cx="2000250" cy="323850"/>
          </a:xfrm>
          <a:prstGeom prst="rect">
            <a:avLst/>
          </a:prstGeom>
          <a:noFill/>
          <a:ln w="0">
            <a:noFill/>
          </a:ln>
        </p:spPr>
        <p:txBody>
          <a:bodyPr>
            <a:normAutofit/>
          </a:bodyPr>
          <a:lstStyle/>
          <a:p>
            <a:pPr algn="l">
              <a:defRPr sz="1200" b="1">
                <a:solidFill>
                  <a:srgbClr val="526A80"/>
                </a:solidFill>
                <a:latin typeface="Arial"/>
                <a:ea typeface="Arial"/>
                <a:cs typeface="Arial"/>
              </a:defRPr>
            </a:pPr>
            <a:r>
              <a:rPr sz="1200" b="1">
                <a:solidFill>
                  <a:srgbClr val="526A80"/>
                </a:solidFill>
                <a:latin typeface="Arial"/>
                <a:ea typeface="Arial"/>
                <a:cs typeface="Arial"/>
              </a:rPr>
              <a:t>Gross capacity value</a:t>
            </a:r>
          </a:p>
        </p:txBody>
      </p:sp>
      <p:sp>
        <p:nvSpPr>
          <p:cNvPr id="15" name="Rectangle 14">
            <a:extLst>
              <a:ext uri="{FF2B5EF4-FFF2-40B4-BE49-F238E27FC236}">
                <a16:creationId xmlns:a16="http://schemas.microsoft.com/office/drawing/2014/main" id="{DC666FD9-247B-40BD-9C28-2E6D380734D7}"/>
              </a:ext>
            </a:extLst>
          </p:cNvPr>
          <p:cNvSpPr>
            <a:spLocks noGrp="1"/>
          </p:cNvSpPr>
          <p:nvPr/>
        </p:nvSpPr>
        <p:spPr>
          <a:xfrm>
            <a:off x="723900" y="2305050"/>
            <a:ext cx="2000250" cy="438150"/>
          </a:xfrm>
          <a:prstGeom prst="rect">
            <a:avLst/>
          </a:prstGeom>
          <a:noFill/>
          <a:ln w="0">
            <a:noFill/>
          </a:ln>
        </p:spPr>
        <p:txBody>
          <a:bodyPr>
            <a:normAutofit fontScale="94792"/>
          </a:bodyPr>
          <a:lstStyle/>
          <a:p>
            <a:pPr algn="l">
              <a:defRPr sz="2400" b="1">
                <a:solidFill>
                  <a:srgbClr val="0F6CBD"/>
                </a:solidFill>
                <a:latin typeface="Arial"/>
                <a:ea typeface="Arial"/>
                <a:cs typeface="Arial"/>
              </a:defRPr>
            </a:pPr>
            <a:r>
              <a:rPr sz="2400" b="1">
                <a:solidFill>
                  <a:srgbClr val="0F6CBD"/>
                </a:solidFill>
                <a:latin typeface="Arial"/>
                <a:ea typeface="Arial"/>
                <a:cs typeface="Arial"/>
              </a:rPr>
              <a:t>$84.4K</a:t>
            </a:r>
          </a:p>
        </p:txBody>
      </p:sp>
      <p:sp>
        <p:nvSpPr>
          <p:cNvPr id="16" name="Rectangle 15">
            <a:extLst>
              <a:ext uri="{FF2B5EF4-FFF2-40B4-BE49-F238E27FC236}">
                <a16:creationId xmlns:a16="http://schemas.microsoft.com/office/drawing/2014/main" id="{F0BF04CE-01F4-43BA-A2DC-C969E8960B04}"/>
              </a:ext>
            </a:extLst>
          </p:cNvPr>
          <p:cNvSpPr>
            <a:spLocks noGrp="1"/>
          </p:cNvSpPr>
          <p:nvPr/>
        </p:nvSpPr>
        <p:spPr>
          <a:xfrm>
            <a:off x="2971800" y="2152650"/>
            <a:ext cx="228600" cy="400050"/>
          </a:xfrm>
          <a:prstGeom prst="rect">
            <a:avLst/>
          </a:prstGeom>
          <a:noFill/>
          <a:ln w="0">
            <a:noFill/>
          </a:ln>
        </p:spPr>
        <p:txBody>
          <a:bodyPr>
            <a:normAutofit fontScale="27082"/>
          </a:bodyPr>
          <a:lstStyle/>
          <a:p>
            <a:pPr algn="ctr">
              <a:defRPr sz="2250" b="1">
                <a:solidFill>
                  <a:srgbClr val="526A80"/>
                </a:solidFill>
                <a:latin typeface="Arial"/>
                <a:ea typeface="Arial"/>
                <a:cs typeface="Arial"/>
              </a:defRPr>
            </a:pPr>
            <a:r>
              <a:rPr sz="2250" b="1">
                <a:solidFill>
                  <a:srgbClr val="526A80"/>
                </a:solidFill>
                <a:latin typeface="Arial"/>
                <a:ea typeface="Arial"/>
                <a:cs typeface="Arial"/>
              </a:rPr>
              <a:t>−</a:t>
            </a:r>
          </a:p>
        </p:txBody>
      </p:sp>
      <p:sp>
        <p:nvSpPr>
          <p:cNvPr id="17" name="Rectangle: Rounded Corners 16">
            <a:extLst>
              <a:ext uri="{FF2B5EF4-FFF2-40B4-BE49-F238E27FC236}">
                <a16:creationId xmlns:a16="http://schemas.microsoft.com/office/drawing/2014/main" id="{B0CB712B-9CA3-4E84-83D3-87B74FAF5C0C}"/>
              </a:ext>
            </a:extLst>
          </p:cNvPr>
          <p:cNvSpPr>
            <a:spLocks noGrp="1"/>
          </p:cNvSpPr>
          <p:nvPr/>
        </p:nvSpPr>
        <p:spPr>
          <a:xfrm>
            <a:off x="3257550" y="1695450"/>
            <a:ext cx="2381250" cy="1219200"/>
          </a:xfrm>
          <a:prstGeom prst="roundRect">
            <a:avLst>
              <a:gd name="adj" fmla="val 6250"/>
            </a:avLst>
          </a:prstGeom>
          <a:solidFill>
            <a:srgbClr val="FFFFFF"/>
          </a:solidFill>
          <a:ln w="9525">
            <a:solidFill>
              <a:srgbClr val="D5E2EE"/>
            </a:solidFill>
          </a:ln>
        </p:spPr>
        <p:txBody>
          <a:bodyPr/>
          <a:lstStyle/>
          <a:p>
            <a:endParaRPr lang="en-US"/>
          </a:p>
        </p:txBody>
      </p:sp>
      <p:sp>
        <p:nvSpPr>
          <p:cNvPr id="18" name="Rectangle 17">
            <a:extLst>
              <a:ext uri="{FF2B5EF4-FFF2-40B4-BE49-F238E27FC236}">
                <a16:creationId xmlns:a16="http://schemas.microsoft.com/office/drawing/2014/main" id="{1838CD22-7B71-4D7C-BFBC-324A5DD5A25D}"/>
              </a:ext>
            </a:extLst>
          </p:cNvPr>
          <p:cNvSpPr>
            <a:spLocks noGrp="1"/>
          </p:cNvSpPr>
          <p:nvPr/>
        </p:nvSpPr>
        <p:spPr>
          <a:xfrm>
            <a:off x="3448050" y="1885950"/>
            <a:ext cx="2000250" cy="323850"/>
          </a:xfrm>
          <a:prstGeom prst="rect">
            <a:avLst/>
          </a:prstGeom>
          <a:noFill/>
          <a:ln w="0">
            <a:noFill/>
          </a:ln>
        </p:spPr>
        <p:txBody>
          <a:bodyPr>
            <a:normAutofit/>
          </a:bodyPr>
          <a:lstStyle/>
          <a:p>
            <a:pPr algn="l">
              <a:defRPr sz="1200" b="1">
                <a:solidFill>
                  <a:srgbClr val="526A80"/>
                </a:solidFill>
                <a:latin typeface="Arial"/>
                <a:ea typeface="Arial"/>
                <a:cs typeface="Arial"/>
              </a:defRPr>
            </a:pPr>
            <a:r>
              <a:rPr sz="1200" b="1">
                <a:solidFill>
                  <a:srgbClr val="526A80"/>
                </a:solidFill>
                <a:latin typeface="Arial"/>
                <a:ea typeface="Arial"/>
                <a:cs typeface="Arial"/>
              </a:rPr>
              <a:t>Recurring operating cost</a:t>
            </a:r>
          </a:p>
        </p:txBody>
      </p:sp>
      <p:sp>
        <p:nvSpPr>
          <p:cNvPr id="19" name="Rectangle 18">
            <a:extLst>
              <a:ext uri="{FF2B5EF4-FFF2-40B4-BE49-F238E27FC236}">
                <a16:creationId xmlns:a16="http://schemas.microsoft.com/office/drawing/2014/main" id="{EA9D537C-F915-4D78-8DBC-3B33D36659C8}"/>
              </a:ext>
            </a:extLst>
          </p:cNvPr>
          <p:cNvSpPr>
            <a:spLocks noGrp="1"/>
          </p:cNvSpPr>
          <p:nvPr/>
        </p:nvSpPr>
        <p:spPr>
          <a:xfrm>
            <a:off x="3448050" y="2305050"/>
            <a:ext cx="2000250" cy="438150"/>
          </a:xfrm>
          <a:prstGeom prst="rect">
            <a:avLst/>
          </a:prstGeom>
          <a:noFill/>
          <a:ln w="0">
            <a:noFill/>
          </a:ln>
        </p:spPr>
        <p:txBody>
          <a:bodyPr>
            <a:normAutofit fontScale="94792"/>
          </a:bodyPr>
          <a:lstStyle/>
          <a:p>
            <a:pPr algn="l">
              <a:defRPr sz="2400" b="1">
                <a:solidFill>
                  <a:srgbClr val="E5532D"/>
                </a:solidFill>
                <a:latin typeface="Arial"/>
                <a:ea typeface="Arial"/>
                <a:cs typeface="Arial"/>
              </a:defRPr>
            </a:pPr>
            <a:r>
              <a:rPr sz="2400" b="1">
                <a:solidFill>
                  <a:srgbClr val="E5532D"/>
                </a:solidFill>
                <a:latin typeface="Arial"/>
                <a:ea typeface="Arial"/>
                <a:cs typeface="Arial"/>
              </a:rPr>
              <a:t>($10.0K)</a:t>
            </a:r>
          </a:p>
        </p:txBody>
      </p:sp>
      <p:sp>
        <p:nvSpPr>
          <p:cNvPr id="20" name="Rectangle 19">
            <a:extLst>
              <a:ext uri="{FF2B5EF4-FFF2-40B4-BE49-F238E27FC236}">
                <a16:creationId xmlns:a16="http://schemas.microsoft.com/office/drawing/2014/main" id="{B5B5D445-29E5-4A3D-A8C2-05825F4ABB93}"/>
              </a:ext>
            </a:extLst>
          </p:cNvPr>
          <p:cNvSpPr>
            <a:spLocks noGrp="1"/>
          </p:cNvSpPr>
          <p:nvPr/>
        </p:nvSpPr>
        <p:spPr>
          <a:xfrm>
            <a:off x="5695950" y="2152650"/>
            <a:ext cx="228600" cy="400050"/>
          </a:xfrm>
          <a:prstGeom prst="rect">
            <a:avLst/>
          </a:prstGeom>
          <a:noFill/>
          <a:ln w="0">
            <a:noFill/>
          </a:ln>
        </p:spPr>
        <p:txBody>
          <a:bodyPr>
            <a:normAutofit fontScale="27082"/>
          </a:bodyPr>
          <a:lstStyle/>
          <a:p>
            <a:pPr algn="ctr">
              <a:defRPr sz="2250" b="1">
                <a:solidFill>
                  <a:srgbClr val="526A80"/>
                </a:solidFill>
                <a:latin typeface="Arial"/>
                <a:ea typeface="Arial"/>
                <a:cs typeface="Arial"/>
              </a:defRPr>
            </a:pPr>
            <a:r>
              <a:rPr sz="2250" b="1">
                <a:solidFill>
                  <a:srgbClr val="526A80"/>
                </a:solidFill>
                <a:latin typeface="Arial"/>
                <a:ea typeface="Arial"/>
                <a:cs typeface="Arial"/>
              </a:rPr>
              <a:t>−</a:t>
            </a:r>
          </a:p>
        </p:txBody>
      </p:sp>
      <p:sp>
        <p:nvSpPr>
          <p:cNvPr id="21" name="Rectangle: Rounded Corners 20">
            <a:extLst>
              <a:ext uri="{FF2B5EF4-FFF2-40B4-BE49-F238E27FC236}">
                <a16:creationId xmlns:a16="http://schemas.microsoft.com/office/drawing/2014/main" id="{BAB648BF-030F-49E2-A5EE-645681794921}"/>
              </a:ext>
            </a:extLst>
          </p:cNvPr>
          <p:cNvSpPr>
            <a:spLocks noGrp="1"/>
          </p:cNvSpPr>
          <p:nvPr/>
        </p:nvSpPr>
        <p:spPr>
          <a:xfrm>
            <a:off x="5981700" y="1695450"/>
            <a:ext cx="2381250" cy="1219200"/>
          </a:xfrm>
          <a:prstGeom prst="roundRect">
            <a:avLst>
              <a:gd name="adj" fmla="val 6250"/>
            </a:avLst>
          </a:prstGeom>
          <a:solidFill>
            <a:srgbClr val="FFFFFF"/>
          </a:solidFill>
          <a:ln w="9525">
            <a:solidFill>
              <a:srgbClr val="D5E2EE"/>
            </a:solidFill>
          </a:ln>
        </p:spPr>
        <p:txBody>
          <a:bodyPr/>
          <a:lstStyle/>
          <a:p>
            <a:endParaRPr lang="en-US"/>
          </a:p>
        </p:txBody>
      </p:sp>
      <p:sp>
        <p:nvSpPr>
          <p:cNvPr id="22" name="Rectangle 21">
            <a:extLst>
              <a:ext uri="{FF2B5EF4-FFF2-40B4-BE49-F238E27FC236}">
                <a16:creationId xmlns:a16="http://schemas.microsoft.com/office/drawing/2014/main" id="{34693F41-6EFB-42F4-BA19-B1D9DC82E95C}"/>
              </a:ext>
            </a:extLst>
          </p:cNvPr>
          <p:cNvSpPr>
            <a:spLocks noGrp="1"/>
          </p:cNvSpPr>
          <p:nvPr/>
        </p:nvSpPr>
        <p:spPr>
          <a:xfrm>
            <a:off x="6172200" y="1885950"/>
            <a:ext cx="2000250" cy="323850"/>
          </a:xfrm>
          <a:prstGeom prst="rect">
            <a:avLst/>
          </a:prstGeom>
          <a:noFill/>
          <a:ln w="0">
            <a:noFill/>
          </a:ln>
        </p:spPr>
        <p:txBody>
          <a:bodyPr>
            <a:normAutofit/>
          </a:bodyPr>
          <a:lstStyle/>
          <a:p>
            <a:pPr algn="l">
              <a:defRPr sz="1200" b="1">
                <a:solidFill>
                  <a:srgbClr val="526A80"/>
                </a:solidFill>
                <a:latin typeface="Arial"/>
                <a:ea typeface="Arial"/>
                <a:cs typeface="Arial"/>
              </a:defRPr>
            </a:pPr>
            <a:r>
              <a:rPr sz="1200" b="1">
                <a:solidFill>
                  <a:srgbClr val="526A80"/>
                </a:solidFill>
                <a:latin typeface="Arial"/>
                <a:ea typeface="Arial"/>
                <a:cs typeface="Arial"/>
              </a:rPr>
              <a:t>Net monthly benefit</a:t>
            </a:r>
          </a:p>
        </p:txBody>
      </p:sp>
      <p:sp>
        <p:nvSpPr>
          <p:cNvPr id="23" name="Rectangle 22">
            <a:extLst>
              <a:ext uri="{FF2B5EF4-FFF2-40B4-BE49-F238E27FC236}">
                <a16:creationId xmlns:a16="http://schemas.microsoft.com/office/drawing/2014/main" id="{7FDE21C0-BB02-445F-846B-A8C01F48F464}"/>
              </a:ext>
            </a:extLst>
          </p:cNvPr>
          <p:cNvSpPr>
            <a:spLocks noGrp="1"/>
          </p:cNvSpPr>
          <p:nvPr/>
        </p:nvSpPr>
        <p:spPr>
          <a:xfrm>
            <a:off x="6172200" y="2305050"/>
            <a:ext cx="2000250" cy="438150"/>
          </a:xfrm>
          <a:prstGeom prst="rect">
            <a:avLst/>
          </a:prstGeom>
          <a:noFill/>
          <a:ln w="0">
            <a:noFill/>
          </a:ln>
        </p:spPr>
        <p:txBody>
          <a:bodyPr>
            <a:normAutofit fontScale="94792"/>
          </a:bodyPr>
          <a:lstStyle/>
          <a:p>
            <a:pPr algn="l">
              <a:defRPr sz="2400" b="1">
                <a:solidFill>
                  <a:srgbClr val="107C10"/>
                </a:solidFill>
                <a:latin typeface="Arial"/>
                <a:ea typeface="Arial"/>
                <a:cs typeface="Arial"/>
              </a:defRPr>
            </a:pPr>
            <a:r>
              <a:rPr sz="2400" b="1">
                <a:solidFill>
                  <a:srgbClr val="107C10"/>
                </a:solidFill>
                <a:latin typeface="Arial"/>
                <a:ea typeface="Arial"/>
                <a:cs typeface="Arial"/>
              </a:rPr>
              <a:t>$74.4K</a:t>
            </a:r>
          </a:p>
        </p:txBody>
      </p:sp>
      <p:sp>
        <p:nvSpPr>
          <p:cNvPr id="24" name="Rectangle: Rounded Corners 23">
            <a:extLst>
              <a:ext uri="{FF2B5EF4-FFF2-40B4-BE49-F238E27FC236}">
                <a16:creationId xmlns:a16="http://schemas.microsoft.com/office/drawing/2014/main" id="{B1F28CBB-9D54-4646-95B4-C339CBE586BC}"/>
              </a:ext>
            </a:extLst>
          </p:cNvPr>
          <p:cNvSpPr>
            <a:spLocks noGrp="1"/>
          </p:cNvSpPr>
          <p:nvPr/>
        </p:nvSpPr>
        <p:spPr>
          <a:xfrm>
            <a:off x="8858250" y="1695450"/>
            <a:ext cx="2800350" cy="1219200"/>
          </a:xfrm>
          <a:prstGeom prst="roundRect">
            <a:avLst>
              <a:gd name="adj" fmla="val 6250"/>
            </a:avLst>
          </a:prstGeom>
          <a:solidFill>
            <a:srgbClr val="EAF7E8"/>
          </a:solidFill>
          <a:ln w="9525">
            <a:solidFill>
              <a:srgbClr val="A8D8A4"/>
            </a:solidFill>
          </a:ln>
        </p:spPr>
        <p:txBody>
          <a:bodyPr/>
          <a:lstStyle/>
          <a:p>
            <a:endParaRPr lang="en-US"/>
          </a:p>
        </p:txBody>
      </p:sp>
      <p:sp>
        <p:nvSpPr>
          <p:cNvPr id="25" name="Rectangle 24">
            <a:extLst>
              <a:ext uri="{FF2B5EF4-FFF2-40B4-BE49-F238E27FC236}">
                <a16:creationId xmlns:a16="http://schemas.microsoft.com/office/drawing/2014/main" id="{A719E6DF-0132-4455-8386-B0A805CB256C}"/>
              </a:ext>
            </a:extLst>
          </p:cNvPr>
          <p:cNvSpPr>
            <a:spLocks noGrp="1"/>
          </p:cNvSpPr>
          <p:nvPr/>
        </p:nvSpPr>
        <p:spPr>
          <a:xfrm>
            <a:off x="9086850" y="1885950"/>
            <a:ext cx="2343150" cy="247650"/>
          </a:xfrm>
          <a:prstGeom prst="rect">
            <a:avLst/>
          </a:prstGeom>
          <a:noFill/>
          <a:ln w="0">
            <a:noFill/>
          </a:ln>
        </p:spPr>
        <p:txBody>
          <a:bodyPr>
            <a:normAutofit fontScale="85417"/>
          </a:bodyPr>
          <a:lstStyle/>
          <a:p>
            <a:pPr algn="l">
              <a:defRPr sz="1200" b="1">
                <a:solidFill>
                  <a:srgbClr val="107C10"/>
                </a:solidFill>
                <a:latin typeface="Arial"/>
                <a:ea typeface="Arial"/>
                <a:cs typeface="Arial"/>
              </a:defRPr>
            </a:pPr>
            <a:r>
              <a:rPr sz="1200" b="1">
                <a:solidFill>
                  <a:srgbClr val="107C10"/>
                </a:solidFill>
                <a:latin typeface="Arial"/>
                <a:ea typeface="Arial"/>
                <a:cs typeface="Arial"/>
              </a:rPr>
              <a:t>Payback</a:t>
            </a:r>
          </a:p>
        </p:txBody>
      </p:sp>
      <p:sp>
        <p:nvSpPr>
          <p:cNvPr id="26" name="Rectangle 25">
            <a:extLst>
              <a:ext uri="{FF2B5EF4-FFF2-40B4-BE49-F238E27FC236}">
                <a16:creationId xmlns:a16="http://schemas.microsoft.com/office/drawing/2014/main" id="{A2DA5087-1621-407C-858B-404133A3A830}"/>
              </a:ext>
            </a:extLst>
          </p:cNvPr>
          <p:cNvSpPr>
            <a:spLocks noGrp="1"/>
          </p:cNvSpPr>
          <p:nvPr/>
        </p:nvSpPr>
        <p:spPr>
          <a:xfrm>
            <a:off x="9086850" y="2247900"/>
            <a:ext cx="2343150" cy="419100"/>
          </a:xfrm>
          <a:prstGeom prst="rect">
            <a:avLst/>
          </a:prstGeom>
          <a:noFill/>
          <a:ln w="0">
            <a:noFill/>
          </a:ln>
        </p:spPr>
        <p:txBody>
          <a:bodyPr>
            <a:normAutofit fontScale="89583"/>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2.4 months</a:t>
            </a:r>
          </a:p>
        </p:txBody>
      </p:sp>
      <p:sp>
        <p:nvSpPr>
          <p:cNvPr id="27" name="Rectangle 26">
            <a:extLst>
              <a:ext uri="{FF2B5EF4-FFF2-40B4-BE49-F238E27FC236}">
                <a16:creationId xmlns:a16="http://schemas.microsoft.com/office/drawing/2014/main" id="{A1E92773-0787-41E2-B11A-71515051188F}"/>
              </a:ext>
            </a:extLst>
          </p:cNvPr>
          <p:cNvSpPr>
            <a:spLocks noGrp="1"/>
          </p:cNvSpPr>
          <p:nvPr/>
        </p:nvSpPr>
        <p:spPr>
          <a:xfrm>
            <a:off x="9086850" y="2647950"/>
            <a:ext cx="2343150" cy="190500"/>
          </a:xfrm>
          <a:prstGeom prst="rect">
            <a:avLst/>
          </a:prstGeom>
          <a:noFill/>
          <a:ln w="0">
            <a:noFill/>
          </a:ln>
        </p:spPr>
        <p:txBody>
          <a:bodyPr>
            <a:normAutofit fontScale="61905"/>
          </a:bodyPr>
          <a:lstStyle/>
          <a:p>
            <a:pPr algn="l">
              <a:defRPr sz="1050" b="0">
                <a:solidFill>
                  <a:srgbClr val="526A80"/>
                </a:solidFill>
                <a:latin typeface="Arial"/>
                <a:ea typeface="Arial"/>
                <a:cs typeface="Arial"/>
              </a:defRPr>
            </a:pPr>
            <a:r>
              <a:rPr sz="1050" b="0">
                <a:solidFill>
                  <a:srgbClr val="526A80"/>
                </a:solidFill>
                <a:latin typeface="Arial"/>
                <a:ea typeface="Arial"/>
                <a:cs typeface="Arial"/>
              </a:rPr>
              <a:t>$175K ÷ $74.4K</a:t>
            </a:r>
          </a:p>
        </p:txBody>
      </p:sp>
      <p:sp>
        <p:nvSpPr>
          <p:cNvPr id="28" name="Rectangle 27">
            <a:extLst>
              <a:ext uri="{FF2B5EF4-FFF2-40B4-BE49-F238E27FC236}">
                <a16:creationId xmlns:a16="http://schemas.microsoft.com/office/drawing/2014/main" id="{FB5CC148-3F45-4083-B135-4B7507938CE3}"/>
              </a:ext>
            </a:extLst>
          </p:cNvPr>
          <p:cNvSpPr>
            <a:spLocks noGrp="1"/>
          </p:cNvSpPr>
          <p:nvPr/>
        </p:nvSpPr>
        <p:spPr>
          <a:xfrm>
            <a:off x="533400" y="3371850"/>
            <a:ext cx="285750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YEAR ONE</a:t>
            </a:r>
          </a:p>
        </p:txBody>
      </p:sp>
      <p:sp>
        <p:nvSpPr>
          <p:cNvPr id="29" name="Rectangle: Rounded Corners 28">
            <a:extLst>
              <a:ext uri="{FF2B5EF4-FFF2-40B4-BE49-F238E27FC236}">
                <a16:creationId xmlns:a16="http://schemas.microsoft.com/office/drawing/2014/main" id="{19F5A87C-581E-48C9-B482-F1DBB595D020}"/>
              </a:ext>
            </a:extLst>
          </p:cNvPr>
          <p:cNvSpPr>
            <a:spLocks noGrp="1"/>
          </p:cNvSpPr>
          <p:nvPr/>
        </p:nvSpPr>
        <p:spPr>
          <a:xfrm>
            <a:off x="533400" y="3695700"/>
            <a:ext cx="2533650" cy="1009650"/>
          </a:xfrm>
          <a:prstGeom prst="roundRect">
            <a:avLst>
              <a:gd name="adj" fmla="val 7547"/>
            </a:avLst>
          </a:prstGeom>
          <a:solidFill>
            <a:srgbClr val="FFFFFF"/>
          </a:solidFill>
          <a:ln w="9525">
            <a:solidFill>
              <a:srgbClr val="D5E2EE"/>
            </a:solidFill>
          </a:ln>
        </p:spPr>
        <p:txBody>
          <a:bodyPr/>
          <a:lstStyle/>
          <a:p>
            <a:endParaRPr lang="en-US"/>
          </a:p>
        </p:txBody>
      </p:sp>
      <p:sp>
        <p:nvSpPr>
          <p:cNvPr id="30" name="Rectangle 29">
            <a:extLst>
              <a:ext uri="{FF2B5EF4-FFF2-40B4-BE49-F238E27FC236}">
                <a16:creationId xmlns:a16="http://schemas.microsoft.com/office/drawing/2014/main" id="{4D49A221-67AB-414C-A455-2BCE47BB7885}"/>
              </a:ext>
            </a:extLst>
          </p:cNvPr>
          <p:cNvSpPr>
            <a:spLocks noGrp="1"/>
          </p:cNvSpPr>
          <p:nvPr/>
        </p:nvSpPr>
        <p:spPr>
          <a:xfrm>
            <a:off x="723900" y="3886200"/>
            <a:ext cx="2152650" cy="266700"/>
          </a:xfrm>
          <a:prstGeom prst="rect">
            <a:avLst/>
          </a:prstGeom>
          <a:noFill/>
          <a:ln w="0">
            <a:noFill/>
          </a:ln>
        </p:spPr>
        <p:txBody>
          <a:bodyPr>
            <a:normAutofit/>
          </a:bodyPr>
          <a:lstStyle/>
          <a:p>
            <a:pPr algn="l">
              <a:defRPr sz="1125" b="1">
                <a:solidFill>
                  <a:srgbClr val="526A80"/>
                </a:solidFill>
                <a:latin typeface="Arial"/>
                <a:ea typeface="Arial"/>
                <a:cs typeface="Arial"/>
              </a:defRPr>
            </a:pPr>
            <a:r>
              <a:rPr sz="1125" b="1">
                <a:solidFill>
                  <a:srgbClr val="526A80"/>
                </a:solidFill>
                <a:latin typeface="Arial"/>
                <a:ea typeface="Arial"/>
                <a:cs typeface="Arial"/>
              </a:rPr>
              <a:t>Gross capacity value</a:t>
            </a:r>
          </a:p>
        </p:txBody>
      </p:sp>
      <p:sp>
        <p:nvSpPr>
          <p:cNvPr id="31" name="Rectangle 30">
            <a:extLst>
              <a:ext uri="{FF2B5EF4-FFF2-40B4-BE49-F238E27FC236}">
                <a16:creationId xmlns:a16="http://schemas.microsoft.com/office/drawing/2014/main" id="{046EBA02-2D24-49CD-9B04-BB48EB89BFC5}"/>
              </a:ext>
            </a:extLst>
          </p:cNvPr>
          <p:cNvSpPr>
            <a:spLocks noGrp="1"/>
          </p:cNvSpPr>
          <p:nvPr/>
        </p:nvSpPr>
        <p:spPr>
          <a:xfrm>
            <a:off x="723900" y="4267200"/>
            <a:ext cx="2152650" cy="361950"/>
          </a:xfrm>
          <a:prstGeom prst="rect">
            <a:avLst/>
          </a:prstGeom>
          <a:noFill/>
          <a:ln w="0">
            <a:noFill/>
          </a:ln>
        </p:spPr>
        <p:txBody>
          <a:bodyPr>
            <a:normAutofit fontScale="84524"/>
          </a:bodyPr>
          <a:lstStyle/>
          <a:p>
            <a:pPr algn="l">
              <a:defRPr sz="2100" b="1">
                <a:solidFill>
                  <a:srgbClr val="17324D"/>
                </a:solidFill>
                <a:latin typeface="Arial"/>
                <a:ea typeface="Arial"/>
                <a:cs typeface="Arial"/>
              </a:defRPr>
            </a:pPr>
            <a:r>
              <a:rPr sz="2100" b="1">
                <a:solidFill>
                  <a:srgbClr val="17324D"/>
                </a:solidFill>
                <a:latin typeface="Arial"/>
                <a:ea typeface="Arial"/>
                <a:cs typeface="Arial"/>
              </a:rPr>
              <a:t>$1.013M</a:t>
            </a:r>
          </a:p>
        </p:txBody>
      </p:sp>
      <p:sp>
        <p:nvSpPr>
          <p:cNvPr id="32" name="Rectangle: Rounded Corners 31">
            <a:extLst>
              <a:ext uri="{FF2B5EF4-FFF2-40B4-BE49-F238E27FC236}">
                <a16:creationId xmlns:a16="http://schemas.microsoft.com/office/drawing/2014/main" id="{D6D4F9A2-4B23-447B-9AD6-4C541A891CBB}"/>
              </a:ext>
            </a:extLst>
          </p:cNvPr>
          <p:cNvSpPr>
            <a:spLocks noGrp="1"/>
          </p:cNvSpPr>
          <p:nvPr/>
        </p:nvSpPr>
        <p:spPr>
          <a:xfrm>
            <a:off x="3314700" y="3695700"/>
            <a:ext cx="2533650" cy="1009650"/>
          </a:xfrm>
          <a:prstGeom prst="roundRect">
            <a:avLst>
              <a:gd name="adj" fmla="val 7547"/>
            </a:avLst>
          </a:prstGeom>
          <a:solidFill>
            <a:srgbClr val="FFFFFF"/>
          </a:solidFill>
          <a:ln w="9525">
            <a:solidFill>
              <a:srgbClr val="D5E2EE"/>
            </a:solidFill>
          </a:ln>
        </p:spPr>
        <p:txBody>
          <a:bodyPr/>
          <a:lstStyle/>
          <a:p>
            <a:endParaRPr lang="en-US"/>
          </a:p>
        </p:txBody>
      </p:sp>
      <p:sp>
        <p:nvSpPr>
          <p:cNvPr id="33" name="Rectangle 32">
            <a:extLst>
              <a:ext uri="{FF2B5EF4-FFF2-40B4-BE49-F238E27FC236}">
                <a16:creationId xmlns:a16="http://schemas.microsoft.com/office/drawing/2014/main" id="{4050868D-CF94-4E25-8E39-B7D3FEF5944C}"/>
              </a:ext>
            </a:extLst>
          </p:cNvPr>
          <p:cNvSpPr>
            <a:spLocks noGrp="1"/>
          </p:cNvSpPr>
          <p:nvPr/>
        </p:nvSpPr>
        <p:spPr>
          <a:xfrm>
            <a:off x="3505200" y="3886200"/>
            <a:ext cx="2152650" cy="266700"/>
          </a:xfrm>
          <a:prstGeom prst="rect">
            <a:avLst/>
          </a:prstGeom>
          <a:noFill/>
          <a:ln w="0">
            <a:noFill/>
          </a:ln>
        </p:spPr>
        <p:txBody>
          <a:bodyPr>
            <a:normAutofit/>
          </a:bodyPr>
          <a:lstStyle/>
          <a:p>
            <a:pPr algn="l">
              <a:defRPr sz="1125" b="1">
                <a:solidFill>
                  <a:srgbClr val="526A80"/>
                </a:solidFill>
                <a:latin typeface="Arial"/>
                <a:ea typeface="Arial"/>
                <a:cs typeface="Arial"/>
              </a:defRPr>
            </a:pPr>
            <a:r>
              <a:rPr sz="1125" b="1">
                <a:solidFill>
                  <a:srgbClr val="526A80"/>
                </a:solidFill>
                <a:latin typeface="Arial"/>
                <a:ea typeface="Arial"/>
                <a:cs typeface="Arial"/>
              </a:rPr>
              <a:t>Recurring cost</a:t>
            </a:r>
          </a:p>
        </p:txBody>
      </p:sp>
      <p:sp>
        <p:nvSpPr>
          <p:cNvPr id="34" name="Rectangle 33">
            <a:extLst>
              <a:ext uri="{FF2B5EF4-FFF2-40B4-BE49-F238E27FC236}">
                <a16:creationId xmlns:a16="http://schemas.microsoft.com/office/drawing/2014/main" id="{A21E2ECE-00C9-4D2F-A80A-D26C0D999D74}"/>
              </a:ext>
            </a:extLst>
          </p:cNvPr>
          <p:cNvSpPr>
            <a:spLocks noGrp="1"/>
          </p:cNvSpPr>
          <p:nvPr/>
        </p:nvSpPr>
        <p:spPr>
          <a:xfrm>
            <a:off x="3505200" y="4267200"/>
            <a:ext cx="2152650" cy="361950"/>
          </a:xfrm>
          <a:prstGeom prst="rect">
            <a:avLst/>
          </a:prstGeom>
          <a:noFill/>
          <a:ln w="0">
            <a:noFill/>
          </a:ln>
        </p:spPr>
        <p:txBody>
          <a:bodyPr>
            <a:normAutofit fontScale="84524"/>
          </a:bodyPr>
          <a:lstStyle/>
          <a:p>
            <a:pPr algn="l">
              <a:defRPr sz="2100" b="1">
                <a:solidFill>
                  <a:srgbClr val="17324D"/>
                </a:solidFill>
                <a:latin typeface="Arial"/>
                <a:ea typeface="Arial"/>
                <a:cs typeface="Arial"/>
              </a:defRPr>
            </a:pPr>
            <a:r>
              <a:rPr sz="2100" b="1">
                <a:solidFill>
                  <a:srgbClr val="17324D"/>
                </a:solidFill>
                <a:latin typeface="Arial"/>
                <a:ea typeface="Arial"/>
                <a:cs typeface="Arial"/>
              </a:rPr>
              <a:t>$120K</a:t>
            </a:r>
          </a:p>
        </p:txBody>
      </p:sp>
      <p:sp>
        <p:nvSpPr>
          <p:cNvPr id="35" name="Rectangle: Rounded Corners 34">
            <a:extLst>
              <a:ext uri="{FF2B5EF4-FFF2-40B4-BE49-F238E27FC236}">
                <a16:creationId xmlns:a16="http://schemas.microsoft.com/office/drawing/2014/main" id="{8B878E97-D78E-4453-A8DD-78A1079408E2}"/>
              </a:ext>
            </a:extLst>
          </p:cNvPr>
          <p:cNvSpPr>
            <a:spLocks noGrp="1"/>
          </p:cNvSpPr>
          <p:nvPr/>
        </p:nvSpPr>
        <p:spPr>
          <a:xfrm>
            <a:off x="6096000" y="3695700"/>
            <a:ext cx="2533650" cy="1009650"/>
          </a:xfrm>
          <a:prstGeom prst="roundRect">
            <a:avLst>
              <a:gd name="adj" fmla="val 7547"/>
            </a:avLst>
          </a:prstGeom>
          <a:solidFill>
            <a:srgbClr val="FFFFFF"/>
          </a:solidFill>
          <a:ln w="9525">
            <a:solidFill>
              <a:srgbClr val="D5E2EE"/>
            </a:solidFill>
          </a:ln>
        </p:spPr>
        <p:txBody>
          <a:bodyPr/>
          <a:lstStyle/>
          <a:p>
            <a:endParaRPr lang="en-US"/>
          </a:p>
        </p:txBody>
      </p:sp>
      <p:sp>
        <p:nvSpPr>
          <p:cNvPr id="36" name="Rectangle 35">
            <a:extLst>
              <a:ext uri="{FF2B5EF4-FFF2-40B4-BE49-F238E27FC236}">
                <a16:creationId xmlns:a16="http://schemas.microsoft.com/office/drawing/2014/main" id="{193A54B6-3362-4298-A176-296AD7244BF7}"/>
              </a:ext>
            </a:extLst>
          </p:cNvPr>
          <p:cNvSpPr>
            <a:spLocks noGrp="1"/>
          </p:cNvSpPr>
          <p:nvPr/>
        </p:nvSpPr>
        <p:spPr>
          <a:xfrm>
            <a:off x="6286500" y="3886200"/>
            <a:ext cx="2152650" cy="266700"/>
          </a:xfrm>
          <a:prstGeom prst="rect">
            <a:avLst/>
          </a:prstGeom>
          <a:noFill/>
          <a:ln w="0">
            <a:noFill/>
          </a:ln>
        </p:spPr>
        <p:txBody>
          <a:bodyPr>
            <a:normAutofit/>
          </a:bodyPr>
          <a:lstStyle/>
          <a:p>
            <a:pPr algn="l">
              <a:defRPr sz="1125" b="1">
                <a:solidFill>
                  <a:srgbClr val="526A80"/>
                </a:solidFill>
                <a:latin typeface="Arial"/>
                <a:ea typeface="Arial"/>
                <a:cs typeface="Arial"/>
              </a:defRPr>
            </a:pPr>
            <a:r>
              <a:rPr sz="1125" b="1">
                <a:solidFill>
                  <a:srgbClr val="526A80"/>
                </a:solidFill>
                <a:latin typeface="Arial"/>
                <a:ea typeface="Arial"/>
                <a:cs typeface="Arial"/>
              </a:rPr>
              <a:t>Implementation</a:t>
            </a:r>
          </a:p>
        </p:txBody>
      </p:sp>
      <p:sp>
        <p:nvSpPr>
          <p:cNvPr id="37" name="Rectangle 36">
            <a:extLst>
              <a:ext uri="{FF2B5EF4-FFF2-40B4-BE49-F238E27FC236}">
                <a16:creationId xmlns:a16="http://schemas.microsoft.com/office/drawing/2014/main" id="{E3B5C9B8-6742-4176-9144-815FA3F565F9}"/>
              </a:ext>
            </a:extLst>
          </p:cNvPr>
          <p:cNvSpPr>
            <a:spLocks noGrp="1"/>
          </p:cNvSpPr>
          <p:nvPr/>
        </p:nvSpPr>
        <p:spPr>
          <a:xfrm>
            <a:off x="6286500" y="4267200"/>
            <a:ext cx="2152650" cy="361950"/>
          </a:xfrm>
          <a:prstGeom prst="rect">
            <a:avLst/>
          </a:prstGeom>
          <a:noFill/>
          <a:ln w="0">
            <a:noFill/>
          </a:ln>
        </p:spPr>
        <p:txBody>
          <a:bodyPr>
            <a:normAutofit fontScale="84524"/>
          </a:bodyPr>
          <a:lstStyle/>
          <a:p>
            <a:pPr algn="l">
              <a:defRPr sz="2100" b="1">
                <a:solidFill>
                  <a:srgbClr val="17324D"/>
                </a:solidFill>
                <a:latin typeface="Arial"/>
                <a:ea typeface="Arial"/>
                <a:cs typeface="Arial"/>
              </a:defRPr>
            </a:pPr>
            <a:r>
              <a:rPr sz="2100" b="1">
                <a:solidFill>
                  <a:srgbClr val="17324D"/>
                </a:solidFill>
                <a:latin typeface="Arial"/>
                <a:ea typeface="Arial"/>
                <a:cs typeface="Arial"/>
              </a:rPr>
              <a:t>$175K</a:t>
            </a:r>
          </a:p>
        </p:txBody>
      </p:sp>
      <p:sp>
        <p:nvSpPr>
          <p:cNvPr id="38" name="Rectangle: Rounded Corners 37">
            <a:extLst>
              <a:ext uri="{FF2B5EF4-FFF2-40B4-BE49-F238E27FC236}">
                <a16:creationId xmlns:a16="http://schemas.microsoft.com/office/drawing/2014/main" id="{7F4D2AEB-F108-4B0E-A311-7889CA527C5E}"/>
              </a:ext>
            </a:extLst>
          </p:cNvPr>
          <p:cNvSpPr>
            <a:spLocks noGrp="1"/>
          </p:cNvSpPr>
          <p:nvPr/>
        </p:nvSpPr>
        <p:spPr>
          <a:xfrm>
            <a:off x="8877300" y="3695700"/>
            <a:ext cx="2533650" cy="1009650"/>
          </a:xfrm>
          <a:prstGeom prst="roundRect">
            <a:avLst>
              <a:gd name="adj" fmla="val 7547"/>
            </a:avLst>
          </a:prstGeom>
          <a:solidFill>
            <a:srgbClr val="EAF7E8"/>
          </a:solidFill>
          <a:ln w="9525">
            <a:solidFill>
              <a:srgbClr val="A8D8A4"/>
            </a:solidFill>
          </a:ln>
        </p:spPr>
        <p:txBody>
          <a:bodyPr/>
          <a:lstStyle/>
          <a:p>
            <a:endParaRPr lang="en-US"/>
          </a:p>
        </p:txBody>
      </p:sp>
      <p:sp>
        <p:nvSpPr>
          <p:cNvPr id="39" name="Rectangle 38">
            <a:extLst>
              <a:ext uri="{FF2B5EF4-FFF2-40B4-BE49-F238E27FC236}">
                <a16:creationId xmlns:a16="http://schemas.microsoft.com/office/drawing/2014/main" id="{FDADF1BE-C78B-4882-80D7-EBCF75F6CBA1}"/>
              </a:ext>
            </a:extLst>
          </p:cNvPr>
          <p:cNvSpPr>
            <a:spLocks noGrp="1"/>
          </p:cNvSpPr>
          <p:nvPr/>
        </p:nvSpPr>
        <p:spPr>
          <a:xfrm>
            <a:off x="9067800" y="3886200"/>
            <a:ext cx="2152650" cy="266700"/>
          </a:xfrm>
          <a:prstGeom prst="rect">
            <a:avLst/>
          </a:prstGeom>
          <a:noFill/>
          <a:ln w="0">
            <a:noFill/>
          </a:ln>
        </p:spPr>
        <p:txBody>
          <a:bodyPr>
            <a:normAutofit/>
          </a:bodyPr>
          <a:lstStyle/>
          <a:p>
            <a:pPr algn="l">
              <a:defRPr sz="1125" b="1">
                <a:solidFill>
                  <a:srgbClr val="107C10"/>
                </a:solidFill>
                <a:latin typeface="Arial"/>
                <a:ea typeface="Arial"/>
                <a:cs typeface="Arial"/>
              </a:defRPr>
            </a:pPr>
            <a:r>
              <a:rPr sz="1125" b="1">
                <a:solidFill>
                  <a:srgbClr val="107C10"/>
                </a:solidFill>
                <a:latin typeface="Arial"/>
                <a:ea typeface="Arial"/>
                <a:cs typeface="Arial"/>
              </a:rPr>
              <a:t>Net benefit</a:t>
            </a:r>
          </a:p>
        </p:txBody>
      </p:sp>
      <p:sp>
        <p:nvSpPr>
          <p:cNvPr id="40" name="Rectangle 39">
            <a:extLst>
              <a:ext uri="{FF2B5EF4-FFF2-40B4-BE49-F238E27FC236}">
                <a16:creationId xmlns:a16="http://schemas.microsoft.com/office/drawing/2014/main" id="{DF7EBA11-2C32-4E29-A828-5D9C5BEC6671}"/>
              </a:ext>
            </a:extLst>
          </p:cNvPr>
          <p:cNvSpPr>
            <a:spLocks noGrp="1"/>
          </p:cNvSpPr>
          <p:nvPr/>
        </p:nvSpPr>
        <p:spPr>
          <a:xfrm>
            <a:off x="9067800" y="4267200"/>
            <a:ext cx="2152650" cy="361950"/>
          </a:xfrm>
          <a:prstGeom prst="rect">
            <a:avLst/>
          </a:prstGeom>
          <a:noFill/>
          <a:ln w="0">
            <a:noFill/>
          </a:ln>
        </p:spPr>
        <p:txBody>
          <a:bodyPr>
            <a:normAutofit fontScale="84524"/>
          </a:bodyPr>
          <a:lstStyle/>
          <a:p>
            <a:pPr algn="l">
              <a:defRPr sz="2100" b="1">
                <a:solidFill>
                  <a:srgbClr val="107C10"/>
                </a:solidFill>
                <a:latin typeface="Arial"/>
                <a:ea typeface="Arial"/>
                <a:cs typeface="Arial"/>
              </a:defRPr>
            </a:pPr>
            <a:r>
              <a:rPr sz="2100" b="1">
                <a:solidFill>
                  <a:srgbClr val="107C10"/>
                </a:solidFill>
                <a:latin typeface="Arial"/>
                <a:ea typeface="Arial"/>
                <a:cs typeface="Arial"/>
              </a:rPr>
              <a:t>$717.5K</a:t>
            </a:r>
          </a:p>
        </p:txBody>
      </p:sp>
      <p:sp>
        <p:nvSpPr>
          <p:cNvPr id="41" name="Rectangle: Rounded Corners 40">
            <a:extLst>
              <a:ext uri="{FF2B5EF4-FFF2-40B4-BE49-F238E27FC236}">
                <a16:creationId xmlns:a16="http://schemas.microsoft.com/office/drawing/2014/main" id="{66B04F36-D168-40DC-9F5E-188F18140845}"/>
              </a:ext>
            </a:extLst>
          </p:cNvPr>
          <p:cNvSpPr>
            <a:spLocks noGrp="1"/>
          </p:cNvSpPr>
          <p:nvPr/>
        </p:nvSpPr>
        <p:spPr>
          <a:xfrm>
            <a:off x="533400" y="5095875"/>
            <a:ext cx="11125200" cy="762000"/>
          </a:xfrm>
          <a:prstGeom prst="roundRect">
            <a:avLst>
              <a:gd name="adj" fmla="val 10000"/>
            </a:avLst>
          </a:prstGeom>
          <a:solidFill>
            <a:srgbClr val="EFF6FC"/>
          </a:solidFill>
          <a:ln w="9525">
            <a:solidFill>
              <a:srgbClr val="BAD7EF"/>
            </a:solidFill>
          </a:ln>
        </p:spPr>
        <p:txBody>
          <a:bodyPr/>
          <a:lstStyle/>
          <a:p>
            <a:endParaRPr lang="en-US"/>
          </a:p>
        </p:txBody>
      </p:sp>
      <p:sp>
        <p:nvSpPr>
          <p:cNvPr id="42" name="Rectangle 41">
            <a:extLst>
              <a:ext uri="{FF2B5EF4-FFF2-40B4-BE49-F238E27FC236}">
                <a16:creationId xmlns:a16="http://schemas.microsoft.com/office/drawing/2014/main" id="{99D9C831-BDD6-41F2-8056-663FEAEEB7B1}"/>
              </a:ext>
            </a:extLst>
          </p:cNvPr>
          <p:cNvSpPr>
            <a:spLocks noGrp="1"/>
          </p:cNvSpPr>
          <p:nvPr/>
        </p:nvSpPr>
        <p:spPr>
          <a:xfrm>
            <a:off x="762000" y="5305425"/>
            <a:ext cx="10668000" cy="323850"/>
          </a:xfrm>
          <a:prstGeom prst="rect">
            <a:avLst/>
          </a:prstGeom>
          <a:noFill/>
          <a:ln w="0">
            <a:noFill/>
          </a:ln>
        </p:spPr>
        <p:txBody>
          <a:bodyPr>
            <a:normAutofit fontScale="96825"/>
          </a:bodyPr>
          <a:lstStyle/>
          <a:p>
            <a:pPr algn="ctr">
              <a:defRPr sz="1575" b="1">
                <a:solidFill>
                  <a:srgbClr val="17324D"/>
                </a:solidFill>
                <a:latin typeface="Arial"/>
                <a:ea typeface="Arial"/>
                <a:cs typeface="Arial"/>
              </a:defRPr>
            </a:pPr>
            <a:r>
              <a:rPr sz="1575" b="1">
                <a:solidFill>
                  <a:srgbClr val="17324D"/>
                </a:solidFill>
                <a:latin typeface="Arial"/>
                <a:ea typeface="Arial"/>
                <a:cs typeface="Arial"/>
              </a:rPr>
              <a:t>Year-one ROI = $717.5K net benefit ÷ $295K total year-one cost = 243%</a:t>
            </a:r>
          </a:p>
        </p:txBody>
      </p:sp>
      <p:sp>
        <p:nvSpPr>
          <p:cNvPr id="43" name="Rectangle 42">
            <a:extLst>
              <a:ext uri="{FF2B5EF4-FFF2-40B4-BE49-F238E27FC236}">
                <a16:creationId xmlns:a16="http://schemas.microsoft.com/office/drawing/2014/main" id="{6D201934-1A92-4749-83AC-B008A04C694A}"/>
              </a:ext>
            </a:extLst>
          </p:cNvPr>
          <p:cNvSpPr>
            <a:spLocks noGrp="1"/>
          </p:cNvSpPr>
          <p:nvPr/>
        </p:nvSpPr>
        <p:spPr>
          <a:xfrm>
            <a:off x="762000" y="5638800"/>
            <a:ext cx="10668000" cy="190500"/>
          </a:xfrm>
          <a:prstGeom prst="rect">
            <a:avLst/>
          </a:prstGeom>
          <a:noFill/>
          <a:ln w="0">
            <a:noFill/>
          </a:ln>
        </p:spPr>
        <p:txBody>
          <a:bodyPr>
            <a:normAutofit fontScale="57778"/>
          </a:bodyPr>
          <a:lstStyle/>
          <a:p>
            <a:pPr algn="ctr">
              <a:defRPr sz="1125" b="0">
                <a:solidFill>
                  <a:srgbClr val="526A80"/>
                </a:solidFill>
                <a:latin typeface="Arial"/>
                <a:ea typeface="Arial"/>
                <a:cs typeface="Arial"/>
              </a:defRPr>
            </a:pPr>
            <a:r>
              <a:rPr sz="1125" b="0">
                <a:solidFill>
                  <a:srgbClr val="526A80"/>
                </a:solidFill>
                <a:latin typeface="Arial"/>
                <a:ea typeface="Arial"/>
                <a:cs typeface="Arial"/>
              </a:rPr>
              <a:t>Annual run-rate after year one: $892.5K, assuming stable usage and operating cost</a:t>
            </a:r>
          </a:p>
        </p:txBody>
      </p:sp>
    </p:spTree>
    <p:extLst>
      <p:ext uri="{BB962C8B-B14F-4D97-AF65-F5344CB8AC3E}">
        <p14:creationId xmlns:p14="http://schemas.microsoft.com/office/powerpoint/2010/main" val="1925192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D364796-9EE2-4B0C-B6A0-CA8E19153BE6}"/>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4ECC0F57-BD48-4C4F-8974-6EBA51233777}"/>
              </a:ext>
            </a:extLst>
          </p:cNvPr>
          <p:cNvSpPr>
            <a:spLocks noGrp="1"/>
          </p:cNvSpPr>
          <p:nvPr/>
        </p:nvSpPr>
        <p:spPr>
          <a:xfrm>
            <a:off x="533400" y="323850"/>
            <a:ext cx="9334500" cy="495300"/>
          </a:xfrm>
          <a:prstGeom prst="rect">
            <a:avLst/>
          </a:prstGeom>
          <a:noFill/>
          <a:ln w="0">
            <a:noFill/>
          </a:ln>
        </p:spPr>
        <p:txBody>
          <a:bodyPr>
            <a:normAutofit fontScale="75830"/>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A $175K implementation and $10K monthly run rate support the business-unit case</a:t>
            </a:r>
          </a:p>
        </p:txBody>
      </p:sp>
      <p:sp>
        <p:nvSpPr>
          <p:cNvPr id="3" name="Rectangle 2">
            <a:extLst>
              <a:ext uri="{FF2B5EF4-FFF2-40B4-BE49-F238E27FC236}">
                <a16:creationId xmlns:a16="http://schemas.microsoft.com/office/drawing/2014/main" id="{DED27504-8E0F-4CB7-9C67-3A990787F0F3}"/>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Planning estimates cover the private connectivity, low-code agent, governance, and ongoing operations</a:t>
            </a:r>
          </a:p>
        </p:txBody>
      </p:sp>
      <p:sp>
        <p:nvSpPr>
          <p:cNvPr id="4" name="Rectangle 3">
            <a:extLst>
              <a:ext uri="{FF2B5EF4-FFF2-40B4-BE49-F238E27FC236}">
                <a16:creationId xmlns:a16="http://schemas.microsoft.com/office/drawing/2014/main" id="{0A0FD586-CD2A-4F65-A403-BCAA83FDB6AC}"/>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B7D03498-CE27-40F2-BAF0-8178852F3201}"/>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57342C0F-BD43-4238-8E1A-35C5DD50936C}"/>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0696610A-AB74-47F8-83A9-8A22B2F5FBF9}"/>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9E0B88DB-6FCC-43B9-B1B8-385F1C3A1D64}"/>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3CD8F999-E8A3-4151-B143-8CE61CE3AC4C}"/>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F278BBFD-FCFC-4C29-BFFC-6972A261FA03}"/>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0505CD68-886B-4C9C-9C80-0330174352A1}"/>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09</a:t>
            </a:r>
          </a:p>
        </p:txBody>
      </p:sp>
      <p:graphicFrame>
        <p:nvGraphicFramePr>
          <p:cNvPr id="27" name="Table 26"/>
          <p:cNvGraphicFramePr/>
          <p:nvPr/>
        </p:nvGraphicFramePr>
        <p:xfrm>
          <a:off x="533400" y="1581150"/>
          <a:ext cx="5219700" cy="3352800"/>
        </p:xfrm>
        <a:graphic>
          <a:graphicData uri="http://schemas.openxmlformats.org/drawingml/2006/table">
            <a:tbl>
              <a:tblPr firstRow="1" lastRow="1" bandRow="1"/>
              <a:tblGrid>
                <a:gridCol w="3714750">
                  <a:extLst>
                    <a:ext uri="{9D8B030D-6E8A-4147-A177-3AD203B41FA5}">
                      <a16:colId xmlns:a16="http://schemas.microsoft.com/office/drawing/2014/main" val="20000"/>
                    </a:ext>
                  </a:extLst>
                </a:gridCol>
                <a:gridCol w="1504950">
                  <a:extLst>
                    <a:ext uri="{9D8B030D-6E8A-4147-A177-3AD203B41FA5}">
                      <a16:colId xmlns:a16="http://schemas.microsoft.com/office/drawing/2014/main" val="20001"/>
                    </a:ext>
                  </a:extLst>
                </a:gridCol>
              </a:tblGrid>
              <a:tr h="558800">
                <a:tc>
                  <a:txBody>
                    <a:bodyPr/>
                    <a:lstStyle/>
                    <a:p>
                      <a:r>
                        <a:rPr sz="1125" b="1">
                          <a:solidFill>
                            <a:srgbClr val="FFFFFF"/>
                          </a:solidFill>
                          <a:latin typeface="Arial"/>
                          <a:ea typeface="Arial"/>
                          <a:cs typeface="Arial"/>
                        </a:rPr>
                        <a:t>One-time workstream</a:t>
                      </a:r>
                    </a:p>
                  </a:txBody>
                  <a:tcPr marL="95250" marR="95250" marT="76200" marB="76200">
                    <a:solidFill>
                      <a:srgbClr val="0F6CBD"/>
                    </a:solidFill>
                  </a:tcPr>
                </a:tc>
                <a:tc>
                  <a:txBody>
                    <a:bodyPr/>
                    <a:lstStyle/>
                    <a:p>
                      <a:r>
                        <a:rPr sz="1125" b="1">
                          <a:solidFill>
                            <a:srgbClr val="FFFFFF"/>
                          </a:solidFill>
                          <a:latin typeface="Arial"/>
                          <a:ea typeface="Arial"/>
                          <a:cs typeface="Arial"/>
                        </a:rPr>
                        <a:t>Estimate</a:t>
                      </a:r>
                    </a:p>
                  </a:txBody>
                  <a:tcPr marL="95250" marR="95250" marT="76200" marB="76200">
                    <a:solidFill>
                      <a:srgbClr val="0F6CBD"/>
                    </a:solidFill>
                  </a:tcPr>
                </a:tc>
                <a:extLst>
                  <a:ext uri="{0D108BD9-81ED-4DB2-BD59-A6C34878D82A}">
                    <a16:rowId xmlns:a16="http://schemas.microsoft.com/office/drawing/2014/main" val="10000"/>
                  </a:ext>
                </a:extLst>
              </a:tr>
              <a:tr h="558800">
                <a:tc>
                  <a:txBody>
                    <a:bodyPr/>
                    <a:lstStyle/>
                    <a:p>
                      <a:r>
                        <a:rPr sz="1050">
                          <a:solidFill>
                            <a:srgbClr val="17324D"/>
                          </a:solidFill>
                          <a:latin typeface="Arial"/>
                          <a:ea typeface="Arial"/>
                          <a:cs typeface="Arial"/>
                        </a:rPr>
                        <a:t>Network and security foundation</a:t>
                      </a:r>
                    </a:p>
                  </a:txBody>
                  <a:tcPr marL="95250" marR="95250" marT="76200" marB="76200"/>
                </a:tc>
                <a:tc>
                  <a:txBody>
                    <a:bodyPr/>
                    <a:lstStyle/>
                    <a:p>
                      <a:r>
                        <a:rPr sz="1050">
                          <a:solidFill>
                            <a:srgbClr val="17324D"/>
                          </a:solidFill>
                          <a:latin typeface="Arial"/>
                          <a:ea typeface="Arial"/>
                          <a:cs typeface="Arial"/>
                        </a:rPr>
                        <a:t>$45K</a:t>
                      </a:r>
                    </a:p>
                  </a:txBody>
                  <a:tcPr marL="95250" marR="95250" marT="76200" marB="76200"/>
                </a:tc>
                <a:extLst>
                  <a:ext uri="{0D108BD9-81ED-4DB2-BD59-A6C34878D82A}">
                    <a16:rowId xmlns:a16="http://schemas.microsoft.com/office/drawing/2014/main" val="10001"/>
                  </a:ext>
                </a:extLst>
              </a:tr>
              <a:tr h="558800">
                <a:tc>
                  <a:txBody>
                    <a:bodyPr/>
                    <a:lstStyle/>
                    <a:p>
                      <a:r>
                        <a:rPr sz="1050">
                          <a:solidFill>
                            <a:srgbClr val="17324D"/>
                          </a:solidFill>
                          <a:latin typeface="Arial"/>
                          <a:ea typeface="Arial"/>
                          <a:cs typeface="Arial"/>
                        </a:rPr>
                        <a:t>APIM APIs, policies, and connector</a:t>
                      </a:r>
                    </a:p>
                  </a:txBody>
                  <a:tcPr marL="95250" marR="95250" marT="76200" marB="76200"/>
                </a:tc>
                <a:tc>
                  <a:txBody>
                    <a:bodyPr/>
                    <a:lstStyle/>
                    <a:p>
                      <a:r>
                        <a:rPr sz="1050">
                          <a:solidFill>
                            <a:srgbClr val="17324D"/>
                          </a:solidFill>
                          <a:latin typeface="Arial"/>
                          <a:ea typeface="Arial"/>
                          <a:cs typeface="Arial"/>
                        </a:rPr>
                        <a:t>$40K</a:t>
                      </a:r>
                    </a:p>
                  </a:txBody>
                  <a:tcPr marL="95250" marR="95250" marT="76200" marB="76200"/>
                </a:tc>
                <a:extLst>
                  <a:ext uri="{0D108BD9-81ED-4DB2-BD59-A6C34878D82A}">
                    <a16:rowId xmlns:a16="http://schemas.microsoft.com/office/drawing/2014/main" val="10002"/>
                  </a:ext>
                </a:extLst>
              </a:tr>
              <a:tr h="558800">
                <a:tc>
                  <a:txBody>
                    <a:bodyPr/>
                    <a:lstStyle/>
                    <a:p>
                      <a:r>
                        <a:rPr sz="1050">
                          <a:solidFill>
                            <a:srgbClr val="17324D"/>
                          </a:solidFill>
                          <a:latin typeface="Arial"/>
                          <a:ea typeface="Arial"/>
                          <a:cs typeface="Arial"/>
                        </a:rPr>
                        <a:t>Copilot agent and deck skill</a:t>
                      </a:r>
                    </a:p>
                  </a:txBody>
                  <a:tcPr marL="95250" marR="95250" marT="76200" marB="76200"/>
                </a:tc>
                <a:tc>
                  <a:txBody>
                    <a:bodyPr/>
                    <a:lstStyle/>
                    <a:p>
                      <a:r>
                        <a:rPr sz="1050">
                          <a:solidFill>
                            <a:srgbClr val="17324D"/>
                          </a:solidFill>
                          <a:latin typeface="Arial"/>
                          <a:ea typeface="Arial"/>
                          <a:cs typeface="Arial"/>
                        </a:rPr>
                        <a:t>$45K</a:t>
                      </a:r>
                    </a:p>
                  </a:txBody>
                  <a:tcPr marL="95250" marR="95250" marT="76200" marB="76200"/>
                </a:tc>
                <a:extLst>
                  <a:ext uri="{0D108BD9-81ED-4DB2-BD59-A6C34878D82A}">
                    <a16:rowId xmlns:a16="http://schemas.microsoft.com/office/drawing/2014/main" val="10003"/>
                  </a:ext>
                </a:extLst>
              </a:tr>
              <a:tr h="558800">
                <a:tc>
                  <a:txBody>
                    <a:bodyPr/>
                    <a:lstStyle/>
                    <a:p>
                      <a:r>
                        <a:rPr sz="1050">
                          <a:solidFill>
                            <a:srgbClr val="17324D"/>
                          </a:solidFill>
                          <a:latin typeface="Arial"/>
                          <a:ea typeface="Arial"/>
                          <a:cs typeface="Arial"/>
                        </a:rPr>
                        <a:t>Testing, enablement, and governance</a:t>
                      </a:r>
                    </a:p>
                  </a:txBody>
                  <a:tcPr marL="95250" marR="95250" marT="76200" marB="76200"/>
                </a:tc>
                <a:tc>
                  <a:txBody>
                    <a:bodyPr/>
                    <a:lstStyle/>
                    <a:p>
                      <a:r>
                        <a:rPr sz="1050">
                          <a:solidFill>
                            <a:srgbClr val="17324D"/>
                          </a:solidFill>
                          <a:latin typeface="Arial"/>
                          <a:ea typeface="Arial"/>
                          <a:cs typeface="Arial"/>
                        </a:rPr>
                        <a:t>$45K</a:t>
                      </a:r>
                    </a:p>
                  </a:txBody>
                  <a:tcPr marL="95250" marR="95250" marT="76200" marB="76200"/>
                </a:tc>
                <a:extLst>
                  <a:ext uri="{0D108BD9-81ED-4DB2-BD59-A6C34878D82A}">
                    <a16:rowId xmlns:a16="http://schemas.microsoft.com/office/drawing/2014/main" val="10004"/>
                  </a:ext>
                </a:extLst>
              </a:tr>
              <a:tr h="558800">
                <a:tc>
                  <a:txBody>
                    <a:bodyPr/>
                    <a:lstStyle/>
                    <a:p>
                      <a:r>
                        <a:rPr sz="1125" b="1">
                          <a:solidFill>
                            <a:srgbClr val="17324D"/>
                          </a:solidFill>
                          <a:latin typeface="Arial"/>
                          <a:ea typeface="Arial"/>
                          <a:cs typeface="Arial"/>
                        </a:rPr>
                        <a:t>Total</a:t>
                      </a:r>
                    </a:p>
                  </a:txBody>
                  <a:tcPr marL="95250" marR="95250" marT="76200" marB="76200">
                    <a:solidFill>
                      <a:srgbClr val="EFF6FC"/>
                    </a:solidFill>
                  </a:tcPr>
                </a:tc>
                <a:tc>
                  <a:txBody>
                    <a:bodyPr/>
                    <a:lstStyle/>
                    <a:p>
                      <a:r>
                        <a:rPr sz="1125" b="1">
                          <a:solidFill>
                            <a:srgbClr val="17324D"/>
                          </a:solidFill>
                          <a:latin typeface="Arial"/>
                          <a:ea typeface="Arial"/>
                          <a:cs typeface="Arial"/>
                        </a:rPr>
                        <a:t>$175K</a:t>
                      </a:r>
                    </a:p>
                  </a:txBody>
                  <a:tcPr marL="95250" marR="95250" marT="76200" marB="76200">
                    <a:solidFill>
                      <a:srgbClr val="EFF6FC"/>
                    </a:solidFill>
                  </a:tcPr>
                </a:tc>
                <a:extLst>
                  <a:ext uri="{0D108BD9-81ED-4DB2-BD59-A6C34878D82A}">
                    <a16:rowId xmlns:a16="http://schemas.microsoft.com/office/drawing/2014/main" val="10005"/>
                  </a:ext>
                </a:extLst>
              </a:tr>
            </a:tbl>
          </a:graphicData>
        </a:graphic>
      </p:graphicFrame>
      <p:graphicFrame>
        <p:nvGraphicFramePr>
          <p:cNvPr id="28" name="Table 27"/>
          <p:cNvGraphicFramePr/>
          <p:nvPr/>
        </p:nvGraphicFramePr>
        <p:xfrm>
          <a:off x="6438900" y="1581150"/>
          <a:ext cx="5219700" cy="3352800"/>
        </p:xfrm>
        <a:graphic>
          <a:graphicData uri="http://schemas.openxmlformats.org/drawingml/2006/table">
            <a:tbl>
              <a:tblPr firstRow="1" lastRow="1" bandRow="1"/>
              <a:tblGrid>
                <a:gridCol w="3714750">
                  <a:extLst>
                    <a:ext uri="{9D8B030D-6E8A-4147-A177-3AD203B41FA5}">
                      <a16:colId xmlns:a16="http://schemas.microsoft.com/office/drawing/2014/main" val="20000"/>
                    </a:ext>
                  </a:extLst>
                </a:gridCol>
                <a:gridCol w="1504950">
                  <a:extLst>
                    <a:ext uri="{9D8B030D-6E8A-4147-A177-3AD203B41FA5}">
                      <a16:colId xmlns:a16="http://schemas.microsoft.com/office/drawing/2014/main" val="20001"/>
                    </a:ext>
                  </a:extLst>
                </a:gridCol>
              </a:tblGrid>
              <a:tr h="558800">
                <a:tc>
                  <a:txBody>
                    <a:bodyPr/>
                    <a:lstStyle/>
                    <a:p>
                      <a:r>
                        <a:rPr sz="1125" b="1">
                          <a:solidFill>
                            <a:srgbClr val="FFFFFF"/>
                          </a:solidFill>
                          <a:latin typeface="Arial"/>
                          <a:ea typeface="Arial"/>
                          <a:cs typeface="Arial"/>
                        </a:rPr>
                        <a:t>Monthly operating category</a:t>
                      </a:r>
                    </a:p>
                  </a:txBody>
                  <a:tcPr marL="95250" marR="95250" marT="76200" marB="76200">
                    <a:solidFill>
                      <a:srgbClr val="742774"/>
                    </a:solidFill>
                  </a:tcPr>
                </a:tc>
                <a:tc>
                  <a:txBody>
                    <a:bodyPr/>
                    <a:lstStyle/>
                    <a:p>
                      <a:r>
                        <a:rPr sz="1125" b="1">
                          <a:solidFill>
                            <a:srgbClr val="FFFFFF"/>
                          </a:solidFill>
                          <a:latin typeface="Arial"/>
                          <a:ea typeface="Arial"/>
                          <a:cs typeface="Arial"/>
                        </a:rPr>
                        <a:t>Estimate</a:t>
                      </a:r>
                    </a:p>
                  </a:txBody>
                  <a:tcPr marL="95250" marR="95250" marT="76200" marB="76200">
                    <a:solidFill>
                      <a:srgbClr val="742774"/>
                    </a:solidFill>
                  </a:tcPr>
                </a:tc>
                <a:extLst>
                  <a:ext uri="{0D108BD9-81ED-4DB2-BD59-A6C34878D82A}">
                    <a16:rowId xmlns:a16="http://schemas.microsoft.com/office/drawing/2014/main" val="10000"/>
                  </a:ext>
                </a:extLst>
              </a:tr>
              <a:tr h="558800">
                <a:tc>
                  <a:txBody>
                    <a:bodyPr/>
                    <a:lstStyle/>
                    <a:p>
                      <a:r>
                        <a:rPr sz="1050">
                          <a:solidFill>
                            <a:srgbClr val="17324D"/>
                          </a:solidFill>
                          <a:latin typeface="Arial"/>
                          <a:ea typeface="Arial"/>
                          <a:cs typeface="Arial"/>
                        </a:rPr>
                        <a:t>Copilot Studio capacity</a:t>
                      </a:r>
                    </a:p>
                  </a:txBody>
                  <a:tcPr marL="95250" marR="95250" marT="76200" marB="76200"/>
                </a:tc>
                <a:tc>
                  <a:txBody>
                    <a:bodyPr/>
                    <a:lstStyle/>
                    <a:p>
                      <a:r>
                        <a:rPr sz="1050">
                          <a:solidFill>
                            <a:srgbClr val="17324D"/>
                          </a:solidFill>
                          <a:latin typeface="Arial"/>
                          <a:ea typeface="Arial"/>
                          <a:cs typeface="Arial"/>
                        </a:rPr>
                        <a:t>$2K</a:t>
                      </a:r>
                    </a:p>
                  </a:txBody>
                  <a:tcPr marL="95250" marR="95250" marT="76200" marB="76200"/>
                </a:tc>
                <a:extLst>
                  <a:ext uri="{0D108BD9-81ED-4DB2-BD59-A6C34878D82A}">
                    <a16:rowId xmlns:a16="http://schemas.microsoft.com/office/drawing/2014/main" val="10001"/>
                  </a:ext>
                </a:extLst>
              </a:tr>
              <a:tr h="558800">
                <a:tc>
                  <a:txBody>
                    <a:bodyPr/>
                    <a:lstStyle/>
                    <a:p>
                      <a:r>
                        <a:rPr sz="1050">
                          <a:solidFill>
                            <a:srgbClr val="17324D"/>
                          </a:solidFill>
                          <a:latin typeface="Arial"/>
                          <a:ea typeface="Arial"/>
                          <a:cs typeface="Arial"/>
                        </a:rPr>
                        <a:t>APIM, networking, and monitoring</a:t>
                      </a:r>
                    </a:p>
                  </a:txBody>
                  <a:tcPr marL="95250" marR="95250" marT="76200" marB="76200"/>
                </a:tc>
                <a:tc>
                  <a:txBody>
                    <a:bodyPr/>
                    <a:lstStyle/>
                    <a:p>
                      <a:r>
                        <a:rPr sz="1050">
                          <a:solidFill>
                            <a:srgbClr val="17324D"/>
                          </a:solidFill>
                          <a:latin typeface="Arial"/>
                          <a:ea typeface="Arial"/>
                          <a:cs typeface="Arial"/>
                        </a:rPr>
                        <a:t>$2K</a:t>
                      </a:r>
                    </a:p>
                  </a:txBody>
                  <a:tcPr marL="95250" marR="95250" marT="76200" marB="76200"/>
                </a:tc>
                <a:extLst>
                  <a:ext uri="{0D108BD9-81ED-4DB2-BD59-A6C34878D82A}">
                    <a16:rowId xmlns:a16="http://schemas.microsoft.com/office/drawing/2014/main" val="10002"/>
                  </a:ext>
                </a:extLst>
              </a:tr>
              <a:tr h="558800">
                <a:tc>
                  <a:txBody>
                    <a:bodyPr/>
                    <a:lstStyle/>
                    <a:p>
                      <a:r>
                        <a:rPr sz="1050">
                          <a:solidFill>
                            <a:srgbClr val="17324D"/>
                          </a:solidFill>
                          <a:latin typeface="Arial"/>
                          <a:ea typeface="Arial"/>
                          <a:cs typeface="Arial"/>
                        </a:rPr>
                        <a:t>Incremental Databricks compute</a:t>
                      </a:r>
                    </a:p>
                  </a:txBody>
                  <a:tcPr marL="95250" marR="95250" marT="76200" marB="76200"/>
                </a:tc>
                <a:tc>
                  <a:txBody>
                    <a:bodyPr/>
                    <a:lstStyle/>
                    <a:p>
                      <a:r>
                        <a:rPr sz="1050">
                          <a:solidFill>
                            <a:srgbClr val="17324D"/>
                          </a:solidFill>
                          <a:latin typeface="Arial"/>
                          <a:ea typeface="Arial"/>
                          <a:cs typeface="Arial"/>
                        </a:rPr>
                        <a:t>$4K</a:t>
                      </a:r>
                    </a:p>
                  </a:txBody>
                  <a:tcPr marL="95250" marR="95250" marT="76200" marB="76200"/>
                </a:tc>
                <a:extLst>
                  <a:ext uri="{0D108BD9-81ED-4DB2-BD59-A6C34878D82A}">
                    <a16:rowId xmlns:a16="http://schemas.microsoft.com/office/drawing/2014/main" val="10003"/>
                  </a:ext>
                </a:extLst>
              </a:tr>
              <a:tr h="558800">
                <a:tc>
                  <a:txBody>
                    <a:bodyPr/>
                    <a:lstStyle/>
                    <a:p>
                      <a:r>
                        <a:rPr sz="1050">
                          <a:solidFill>
                            <a:srgbClr val="17324D"/>
                          </a:solidFill>
                          <a:latin typeface="Arial"/>
                          <a:ea typeface="Arial"/>
                          <a:cs typeface="Arial"/>
                        </a:rPr>
                        <a:t>Operations and improvement</a:t>
                      </a:r>
                    </a:p>
                  </a:txBody>
                  <a:tcPr marL="95250" marR="95250" marT="76200" marB="76200"/>
                </a:tc>
                <a:tc>
                  <a:txBody>
                    <a:bodyPr/>
                    <a:lstStyle/>
                    <a:p>
                      <a:r>
                        <a:rPr sz="1050">
                          <a:solidFill>
                            <a:srgbClr val="17324D"/>
                          </a:solidFill>
                          <a:latin typeface="Arial"/>
                          <a:ea typeface="Arial"/>
                          <a:cs typeface="Arial"/>
                        </a:rPr>
                        <a:t>$2K</a:t>
                      </a:r>
                    </a:p>
                  </a:txBody>
                  <a:tcPr marL="95250" marR="95250" marT="76200" marB="76200"/>
                </a:tc>
                <a:extLst>
                  <a:ext uri="{0D108BD9-81ED-4DB2-BD59-A6C34878D82A}">
                    <a16:rowId xmlns:a16="http://schemas.microsoft.com/office/drawing/2014/main" val="10004"/>
                  </a:ext>
                </a:extLst>
              </a:tr>
              <a:tr h="558800">
                <a:tc>
                  <a:txBody>
                    <a:bodyPr/>
                    <a:lstStyle/>
                    <a:p>
                      <a:r>
                        <a:rPr sz="1125" b="1">
                          <a:solidFill>
                            <a:srgbClr val="17324D"/>
                          </a:solidFill>
                          <a:latin typeface="Arial"/>
                          <a:ea typeface="Arial"/>
                          <a:cs typeface="Arial"/>
                        </a:rPr>
                        <a:t>Total</a:t>
                      </a:r>
                    </a:p>
                  </a:txBody>
                  <a:tcPr marL="95250" marR="95250" marT="76200" marB="76200">
                    <a:solidFill>
                      <a:srgbClr val="EFF6FC"/>
                    </a:solidFill>
                  </a:tcPr>
                </a:tc>
                <a:tc>
                  <a:txBody>
                    <a:bodyPr/>
                    <a:lstStyle/>
                    <a:p>
                      <a:r>
                        <a:rPr sz="1125" b="1">
                          <a:solidFill>
                            <a:srgbClr val="17324D"/>
                          </a:solidFill>
                          <a:latin typeface="Arial"/>
                          <a:ea typeface="Arial"/>
                          <a:cs typeface="Arial"/>
                        </a:rPr>
                        <a:t>$10K</a:t>
                      </a:r>
                    </a:p>
                  </a:txBody>
                  <a:tcPr marL="95250" marR="95250" marT="76200" marB="76200">
                    <a:solidFill>
                      <a:srgbClr val="EFF6FC"/>
                    </a:solidFill>
                  </a:tcPr>
                </a:tc>
                <a:extLst>
                  <a:ext uri="{0D108BD9-81ED-4DB2-BD59-A6C34878D82A}">
                    <a16:rowId xmlns:a16="http://schemas.microsoft.com/office/drawing/2014/main" val="10005"/>
                  </a:ext>
                </a:extLst>
              </a:tr>
            </a:tbl>
          </a:graphicData>
        </a:graphic>
      </p:graphicFrame>
      <p:sp>
        <p:nvSpPr>
          <p:cNvPr id="14" name="Rectangle: Rounded Corners 13">
            <a:extLst>
              <a:ext uri="{FF2B5EF4-FFF2-40B4-BE49-F238E27FC236}">
                <a16:creationId xmlns:a16="http://schemas.microsoft.com/office/drawing/2014/main" id="{4EE4100B-DC9B-46DC-A056-3291A93B2C4D}"/>
              </a:ext>
            </a:extLst>
          </p:cNvPr>
          <p:cNvSpPr>
            <a:spLocks noGrp="1"/>
          </p:cNvSpPr>
          <p:nvPr/>
        </p:nvSpPr>
        <p:spPr>
          <a:xfrm>
            <a:off x="533400" y="5219700"/>
            <a:ext cx="11125200" cy="685800"/>
          </a:xfrm>
          <a:prstGeom prst="roundRect">
            <a:avLst>
              <a:gd name="adj" fmla="val 11111"/>
            </a:avLst>
          </a:prstGeom>
          <a:solidFill>
            <a:srgbClr val="FFF8E8"/>
          </a:solidFill>
          <a:ln w="9525">
            <a:solidFill>
              <a:srgbClr val="EFD69A"/>
            </a:solidFill>
          </a:ln>
        </p:spPr>
        <p:txBody>
          <a:bodyPr/>
          <a:lstStyle/>
          <a:p>
            <a:endParaRPr lang="en-US"/>
          </a:p>
        </p:txBody>
      </p:sp>
      <p:sp>
        <p:nvSpPr>
          <p:cNvPr id="15" name="Rectangle 14">
            <a:extLst>
              <a:ext uri="{FF2B5EF4-FFF2-40B4-BE49-F238E27FC236}">
                <a16:creationId xmlns:a16="http://schemas.microsoft.com/office/drawing/2014/main" id="{97A1DF2A-CEA4-41C2-9DCC-2B52E0D03CD4}"/>
              </a:ext>
            </a:extLst>
          </p:cNvPr>
          <p:cNvSpPr>
            <a:spLocks noGrp="1"/>
          </p:cNvSpPr>
          <p:nvPr/>
        </p:nvSpPr>
        <p:spPr>
          <a:xfrm>
            <a:off x="762000" y="5391150"/>
            <a:ext cx="10668000" cy="400050"/>
          </a:xfrm>
          <a:prstGeom prst="rect">
            <a:avLst/>
          </a:prstGeom>
          <a:noFill/>
          <a:ln w="0">
            <a:noFill/>
          </a:ln>
        </p:spPr>
        <p:txBody>
          <a:bodyPr>
            <a:normAutofit fontScale="79412"/>
          </a:bodyPr>
          <a:lstStyle/>
          <a:p>
            <a:pPr algn="ctr">
              <a:defRPr sz="1275" b="1">
                <a:solidFill>
                  <a:srgbClr val="6B4E00"/>
                </a:solidFill>
                <a:latin typeface="Arial"/>
                <a:ea typeface="Arial"/>
                <a:cs typeface="Arial"/>
              </a:defRPr>
            </a:pPr>
            <a:r>
              <a:rPr sz="1275" b="1">
                <a:solidFill>
                  <a:srgbClr val="6B4E00"/>
                </a:solidFill>
                <a:latin typeface="Arial"/>
                <a:ea typeface="Arial"/>
                <a:cs typeface="Arial"/>
              </a:rPr>
              <a:t>These are budget placeholders, not vendor quotes. Reuse of an existing APIM service, Databricks estate, networking, or operations team can materially reduce the incremental cost.</a:t>
            </a:r>
          </a:p>
        </p:txBody>
      </p:sp>
    </p:spTree>
    <p:extLst>
      <p:ext uri="{BB962C8B-B14F-4D97-AF65-F5344CB8AC3E}">
        <p14:creationId xmlns:p14="http://schemas.microsoft.com/office/powerpoint/2010/main" val="2145171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F5A6A11-88B1-489A-8D97-AC5419C0FAD5}"/>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29CDE2E3-B8FD-4092-8158-BD662168CA7E}"/>
              </a:ext>
            </a:extLst>
          </p:cNvPr>
          <p:cNvSpPr>
            <a:spLocks noGrp="1"/>
          </p:cNvSpPr>
          <p:nvPr/>
        </p:nvSpPr>
        <p:spPr>
          <a:xfrm>
            <a:off x="533400" y="323850"/>
            <a:ext cx="9334500" cy="495300"/>
          </a:xfrm>
          <a:prstGeom prst="rect">
            <a:avLst/>
          </a:prstGeom>
          <a:noFill/>
          <a:ln w="0">
            <a:noFill/>
          </a:ln>
        </p:spPr>
        <p:txBody>
          <a:bodyPr>
            <a:normAutofit fontScale="82323"/>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A 12-week rollout moves from one use case to a governed enterprise service</a:t>
            </a:r>
          </a:p>
        </p:txBody>
      </p:sp>
      <p:sp>
        <p:nvSpPr>
          <p:cNvPr id="3" name="Rectangle 2">
            <a:extLst>
              <a:ext uri="{FF2B5EF4-FFF2-40B4-BE49-F238E27FC236}">
                <a16:creationId xmlns:a16="http://schemas.microsoft.com/office/drawing/2014/main" id="{3B15EB52-E989-4A70-8CB6-F7820369D0CF}"/>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The first pilot should prove time savings, data accuracy, security, and unit economics before broader adoption</a:t>
            </a:r>
          </a:p>
        </p:txBody>
      </p:sp>
      <p:sp>
        <p:nvSpPr>
          <p:cNvPr id="4" name="Rectangle 3">
            <a:extLst>
              <a:ext uri="{FF2B5EF4-FFF2-40B4-BE49-F238E27FC236}">
                <a16:creationId xmlns:a16="http://schemas.microsoft.com/office/drawing/2014/main" id="{A1548F89-D664-4690-A777-D9C2583AA3FF}"/>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836AD296-E8EA-4771-B351-5857A3A9A856}"/>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4C83297C-49B0-4569-9A94-E93F98514D07}"/>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F367F294-7605-4A16-ACED-C4242A8AAD41}"/>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E0049949-F1B5-4196-BE64-6E80B35A6025}"/>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68CAE64F-1E55-41FA-8BAB-F226D402A6B3}"/>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99F4AD70-1A33-44A8-A0BE-7F8E5BC107B2}"/>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4A692E9F-690B-4404-810C-3B5928D3479B}"/>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10</a:t>
            </a:r>
          </a:p>
        </p:txBody>
      </p:sp>
      <p:sp>
        <p:nvSpPr>
          <p:cNvPr id="12" name="Rectangle 11">
            <a:extLst>
              <a:ext uri="{FF2B5EF4-FFF2-40B4-BE49-F238E27FC236}">
                <a16:creationId xmlns:a16="http://schemas.microsoft.com/office/drawing/2014/main" id="{D0B895F7-AD10-4DC9-B096-1403D32B7E21}"/>
              </a:ext>
            </a:extLst>
          </p:cNvPr>
          <p:cNvSpPr>
            <a:spLocks noGrp="1"/>
          </p:cNvSpPr>
          <p:nvPr/>
        </p:nvSpPr>
        <p:spPr>
          <a:xfrm>
            <a:off x="533400" y="1428750"/>
            <a:ext cx="1143000" cy="247650"/>
          </a:xfrm>
          <a:prstGeom prst="rect">
            <a:avLst/>
          </a:prstGeom>
          <a:noFill/>
          <a:ln w="0">
            <a:noFill/>
          </a:ln>
        </p:spPr>
        <p:txBody>
          <a:bodyPr>
            <a:normAutofit fontScale="85417"/>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Weeks 1–2</a:t>
            </a:r>
          </a:p>
        </p:txBody>
      </p:sp>
      <p:sp>
        <p:nvSpPr>
          <p:cNvPr id="13" name="Rectangle 12">
            <a:extLst>
              <a:ext uri="{FF2B5EF4-FFF2-40B4-BE49-F238E27FC236}">
                <a16:creationId xmlns:a16="http://schemas.microsoft.com/office/drawing/2014/main" id="{9C776353-408A-4C5A-8517-C88543D28A5A}"/>
              </a:ext>
            </a:extLst>
          </p:cNvPr>
          <p:cNvSpPr>
            <a:spLocks noGrp="1"/>
          </p:cNvSpPr>
          <p:nvPr/>
        </p:nvSpPr>
        <p:spPr>
          <a:xfrm>
            <a:off x="1676400" y="1562100"/>
            <a:ext cx="476250" cy="28575"/>
          </a:xfrm>
          <a:prstGeom prst="rect">
            <a:avLst/>
          </a:prstGeom>
          <a:solidFill>
            <a:srgbClr val="0F6CBD"/>
          </a:solidFill>
          <a:ln w="0">
            <a:solidFill>
              <a:srgbClr val="0F6CBD"/>
            </a:solidFill>
          </a:ln>
        </p:spPr>
        <p:txBody>
          <a:bodyPr/>
          <a:lstStyle/>
          <a:p>
            <a:endParaRPr lang="en-US"/>
          </a:p>
        </p:txBody>
      </p:sp>
      <p:sp>
        <p:nvSpPr>
          <p:cNvPr id="14" name="Oval 13">
            <a:extLst>
              <a:ext uri="{FF2B5EF4-FFF2-40B4-BE49-F238E27FC236}">
                <a16:creationId xmlns:a16="http://schemas.microsoft.com/office/drawing/2014/main" id="{EDDAF1A0-FC77-4CD9-A807-38F0CF201D4B}"/>
              </a:ext>
            </a:extLst>
          </p:cNvPr>
          <p:cNvSpPr>
            <a:spLocks noGrp="1"/>
          </p:cNvSpPr>
          <p:nvPr/>
        </p:nvSpPr>
        <p:spPr>
          <a:xfrm>
            <a:off x="2190750" y="1400175"/>
            <a:ext cx="304800" cy="304800"/>
          </a:xfrm>
          <a:prstGeom prst="ellipse">
            <a:avLst/>
          </a:prstGeom>
          <a:solidFill>
            <a:srgbClr val="0F6CBD"/>
          </a:solidFill>
          <a:ln w="0">
            <a:solidFill>
              <a:srgbClr val="0F6CBD"/>
            </a:solidFill>
          </a:ln>
        </p:spPr>
        <p:txBody>
          <a:bodyPr/>
          <a:lstStyle/>
          <a:p>
            <a:endParaRPr lang="en-US"/>
          </a:p>
        </p:txBody>
      </p:sp>
      <p:sp>
        <p:nvSpPr>
          <p:cNvPr id="15" name="Rectangle 14">
            <a:extLst>
              <a:ext uri="{FF2B5EF4-FFF2-40B4-BE49-F238E27FC236}">
                <a16:creationId xmlns:a16="http://schemas.microsoft.com/office/drawing/2014/main" id="{D4C18008-8BBC-4E9E-BDB7-7DB1A6E0CD71}"/>
              </a:ext>
            </a:extLst>
          </p:cNvPr>
          <p:cNvSpPr>
            <a:spLocks noGrp="1"/>
          </p:cNvSpPr>
          <p:nvPr/>
        </p:nvSpPr>
        <p:spPr>
          <a:xfrm>
            <a:off x="2190750" y="1419225"/>
            <a:ext cx="304800" cy="266700"/>
          </a:xfrm>
          <a:prstGeom prst="rect">
            <a:avLst/>
          </a:prstGeom>
          <a:noFill/>
          <a:ln w="0">
            <a:noFill/>
          </a:ln>
        </p:spPr>
        <p:txBody>
          <a:bodyPr>
            <a:normAutofit fontScale="95833"/>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16" name="Rectangle 15">
            <a:extLst>
              <a:ext uri="{FF2B5EF4-FFF2-40B4-BE49-F238E27FC236}">
                <a16:creationId xmlns:a16="http://schemas.microsoft.com/office/drawing/2014/main" id="{790D0192-81CB-4C9C-96B5-1851898FE693}"/>
              </a:ext>
            </a:extLst>
          </p:cNvPr>
          <p:cNvSpPr>
            <a:spLocks noGrp="1"/>
          </p:cNvSpPr>
          <p:nvPr/>
        </p:nvSpPr>
        <p:spPr>
          <a:xfrm>
            <a:off x="2667000" y="1409700"/>
            <a:ext cx="2857500" cy="285750"/>
          </a:xfrm>
          <a:prstGeom prst="rect">
            <a:avLst/>
          </a:prstGeom>
          <a:noFill/>
          <a:ln w="0">
            <a:noFill/>
          </a:ln>
        </p:spPr>
        <p:txBody>
          <a:bodyPr>
            <a:normAutofit fontScale="77273"/>
          </a:bodyPr>
          <a:lstStyle/>
          <a:p>
            <a:pPr algn="l">
              <a:defRPr sz="1650" b="1">
                <a:solidFill>
                  <a:srgbClr val="17324D"/>
                </a:solidFill>
                <a:latin typeface="Arial"/>
                <a:ea typeface="Arial"/>
                <a:cs typeface="Arial"/>
              </a:defRPr>
            </a:pPr>
            <a:r>
              <a:rPr sz="1650" b="1">
                <a:solidFill>
                  <a:srgbClr val="17324D"/>
                </a:solidFill>
                <a:latin typeface="Arial"/>
                <a:ea typeface="Arial"/>
                <a:cs typeface="Arial"/>
              </a:rPr>
              <a:t>Business case and controls</a:t>
            </a:r>
          </a:p>
        </p:txBody>
      </p:sp>
      <p:sp>
        <p:nvSpPr>
          <p:cNvPr id="17" name="Rectangle 16">
            <a:extLst>
              <a:ext uri="{FF2B5EF4-FFF2-40B4-BE49-F238E27FC236}">
                <a16:creationId xmlns:a16="http://schemas.microsoft.com/office/drawing/2014/main" id="{A5248EF8-D0A8-4A08-AFAB-7ABC98E432D5}"/>
              </a:ext>
            </a:extLst>
          </p:cNvPr>
          <p:cNvSpPr>
            <a:spLocks noGrp="1"/>
          </p:cNvSpPr>
          <p:nvPr/>
        </p:nvSpPr>
        <p:spPr>
          <a:xfrm>
            <a:off x="5715000" y="1409700"/>
            <a:ext cx="5943600" cy="571500"/>
          </a:xfrm>
          <a:prstGeom prst="rect">
            <a:avLst/>
          </a:prstGeom>
          <a:noFill/>
          <a:ln w="0">
            <a:noFill/>
          </a:ln>
        </p:spPr>
        <p:txBody>
          <a:bodyPr>
            <a:normAutofit/>
          </a:bodyPr>
          <a:lstStyle/>
          <a:p>
            <a:pPr algn="l">
              <a:defRPr sz="1275" b="0">
                <a:solidFill>
                  <a:srgbClr val="526A80"/>
                </a:solidFill>
                <a:latin typeface="Arial"/>
                <a:ea typeface="Arial"/>
                <a:cs typeface="Arial"/>
              </a:defRPr>
            </a:pPr>
            <a:r>
              <a:rPr sz="1275" b="0">
                <a:solidFill>
                  <a:srgbClr val="526A80"/>
                </a:solidFill>
                <a:latin typeface="Arial"/>
                <a:ea typeface="Arial"/>
                <a:cs typeface="Arial"/>
              </a:rPr>
              <a:t>Select one recurring deck, baseline effort, confirm data owners and success measures</a:t>
            </a:r>
          </a:p>
        </p:txBody>
      </p:sp>
      <p:sp>
        <p:nvSpPr>
          <p:cNvPr id="18" name="Rectangle 17">
            <a:extLst>
              <a:ext uri="{FF2B5EF4-FFF2-40B4-BE49-F238E27FC236}">
                <a16:creationId xmlns:a16="http://schemas.microsoft.com/office/drawing/2014/main" id="{FB352F69-E876-4806-B9AF-676FFC83646D}"/>
              </a:ext>
            </a:extLst>
          </p:cNvPr>
          <p:cNvSpPr>
            <a:spLocks noGrp="1"/>
          </p:cNvSpPr>
          <p:nvPr/>
        </p:nvSpPr>
        <p:spPr>
          <a:xfrm>
            <a:off x="2343150" y="1724025"/>
            <a:ext cx="19050" cy="762000"/>
          </a:xfrm>
          <a:prstGeom prst="rect">
            <a:avLst/>
          </a:prstGeom>
          <a:solidFill>
            <a:srgbClr val="BDD1E2"/>
          </a:solidFill>
          <a:ln w="0">
            <a:solidFill>
              <a:srgbClr val="BDD1E2"/>
            </a:solidFill>
          </a:ln>
        </p:spPr>
        <p:txBody>
          <a:bodyPr/>
          <a:lstStyle/>
          <a:p>
            <a:endParaRPr lang="en-US"/>
          </a:p>
        </p:txBody>
      </p:sp>
      <p:sp>
        <p:nvSpPr>
          <p:cNvPr id="19" name="Rectangle 18">
            <a:extLst>
              <a:ext uri="{FF2B5EF4-FFF2-40B4-BE49-F238E27FC236}">
                <a16:creationId xmlns:a16="http://schemas.microsoft.com/office/drawing/2014/main" id="{710C97A2-97E2-40A3-ABD5-DFE823AFBB06}"/>
              </a:ext>
            </a:extLst>
          </p:cNvPr>
          <p:cNvSpPr>
            <a:spLocks noGrp="1"/>
          </p:cNvSpPr>
          <p:nvPr/>
        </p:nvSpPr>
        <p:spPr>
          <a:xfrm>
            <a:off x="533400" y="2543175"/>
            <a:ext cx="1143000" cy="247650"/>
          </a:xfrm>
          <a:prstGeom prst="rect">
            <a:avLst/>
          </a:prstGeom>
          <a:noFill/>
          <a:ln w="0">
            <a:noFill/>
          </a:ln>
        </p:spPr>
        <p:txBody>
          <a:bodyPr>
            <a:normAutofit fontScale="85417"/>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Weeks 3–5</a:t>
            </a:r>
          </a:p>
        </p:txBody>
      </p:sp>
      <p:sp>
        <p:nvSpPr>
          <p:cNvPr id="20" name="Rectangle 19">
            <a:extLst>
              <a:ext uri="{FF2B5EF4-FFF2-40B4-BE49-F238E27FC236}">
                <a16:creationId xmlns:a16="http://schemas.microsoft.com/office/drawing/2014/main" id="{E765B444-D260-4EB0-A9D8-5FBFDDFA2B18}"/>
              </a:ext>
            </a:extLst>
          </p:cNvPr>
          <p:cNvSpPr>
            <a:spLocks noGrp="1"/>
          </p:cNvSpPr>
          <p:nvPr/>
        </p:nvSpPr>
        <p:spPr>
          <a:xfrm>
            <a:off x="1676400" y="2676525"/>
            <a:ext cx="476250" cy="28575"/>
          </a:xfrm>
          <a:prstGeom prst="rect">
            <a:avLst/>
          </a:prstGeom>
          <a:solidFill>
            <a:srgbClr val="0F6CBD"/>
          </a:solidFill>
          <a:ln w="0">
            <a:solidFill>
              <a:srgbClr val="0F6CBD"/>
            </a:solidFill>
          </a:ln>
        </p:spPr>
        <p:txBody>
          <a:bodyPr/>
          <a:lstStyle/>
          <a:p>
            <a:endParaRPr lang="en-US"/>
          </a:p>
        </p:txBody>
      </p:sp>
      <p:sp>
        <p:nvSpPr>
          <p:cNvPr id="21" name="Oval 20">
            <a:extLst>
              <a:ext uri="{FF2B5EF4-FFF2-40B4-BE49-F238E27FC236}">
                <a16:creationId xmlns:a16="http://schemas.microsoft.com/office/drawing/2014/main" id="{5BDA73CB-7AC3-45BB-AEDF-17ECB300AEBD}"/>
              </a:ext>
            </a:extLst>
          </p:cNvPr>
          <p:cNvSpPr>
            <a:spLocks noGrp="1"/>
          </p:cNvSpPr>
          <p:nvPr/>
        </p:nvSpPr>
        <p:spPr>
          <a:xfrm>
            <a:off x="2190750" y="2514600"/>
            <a:ext cx="304800" cy="304800"/>
          </a:xfrm>
          <a:prstGeom prst="ellipse">
            <a:avLst/>
          </a:prstGeom>
          <a:solidFill>
            <a:srgbClr val="0F6CBD"/>
          </a:solidFill>
          <a:ln w="0">
            <a:solidFill>
              <a:srgbClr val="0F6CBD"/>
            </a:solidFill>
          </a:ln>
        </p:spPr>
        <p:txBody>
          <a:bodyPr/>
          <a:lstStyle/>
          <a:p>
            <a:endParaRPr lang="en-US"/>
          </a:p>
        </p:txBody>
      </p:sp>
      <p:sp>
        <p:nvSpPr>
          <p:cNvPr id="22" name="Rectangle 21">
            <a:extLst>
              <a:ext uri="{FF2B5EF4-FFF2-40B4-BE49-F238E27FC236}">
                <a16:creationId xmlns:a16="http://schemas.microsoft.com/office/drawing/2014/main" id="{ECFF0EA2-B10B-4781-8918-1A903D13CE90}"/>
              </a:ext>
            </a:extLst>
          </p:cNvPr>
          <p:cNvSpPr>
            <a:spLocks noGrp="1"/>
          </p:cNvSpPr>
          <p:nvPr/>
        </p:nvSpPr>
        <p:spPr>
          <a:xfrm>
            <a:off x="2190750" y="2533650"/>
            <a:ext cx="304800" cy="266700"/>
          </a:xfrm>
          <a:prstGeom prst="rect">
            <a:avLst/>
          </a:prstGeom>
          <a:noFill/>
          <a:ln w="0">
            <a:noFill/>
          </a:ln>
        </p:spPr>
        <p:txBody>
          <a:bodyPr>
            <a:normAutofit fontScale="95833"/>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23" name="Rectangle 22">
            <a:extLst>
              <a:ext uri="{FF2B5EF4-FFF2-40B4-BE49-F238E27FC236}">
                <a16:creationId xmlns:a16="http://schemas.microsoft.com/office/drawing/2014/main" id="{F437622B-C75E-414B-8BBE-9620A010B3A0}"/>
              </a:ext>
            </a:extLst>
          </p:cNvPr>
          <p:cNvSpPr>
            <a:spLocks noGrp="1"/>
          </p:cNvSpPr>
          <p:nvPr/>
        </p:nvSpPr>
        <p:spPr>
          <a:xfrm>
            <a:off x="2667000" y="2524125"/>
            <a:ext cx="2857500" cy="285750"/>
          </a:xfrm>
          <a:prstGeom prst="rect">
            <a:avLst/>
          </a:prstGeom>
          <a:noFill/>
          <a:ln w="0">
            <a:noFill/>
          </a:ln>
        </p:spPr>
        <p:txBody>
          <a:bodyPr>
            <a:normAutofit fontScale="77273"/>
          </a:bodyPr>
          <a:lstStyle/>
          <a:p>
            <a:pPr algn="l">
              <a:defRPr sz="1650" b="1">
                <a:solidFill>
                  <a:srgbClr val="17324D"/>
                </a:solidFill>
                <a:latin typeface="Arial"/>
                <a:ea typeface="Arial"/>
                <a:cs typeface="Arial"/>
              </a:defRPr>
            </a:pPr>
            <a:r>
              <a:rPr sz="1650" b="1">
                <a:solidFill>
                  <a:srgbClr val="17324D"/>
                </a:solidFill>
                <a:latin typeface="Arial"/>
                <a:ea typeface="Arial"/>
                <a:cs typeface="Arial"/>
              </a:rPr>
              <a:t>Private connectivity</a:t>
            </a:r>
          </a:p>
        </p:txBody>
      </p:sp>
      <p:sp>
        <p:nvSpPr>
          <p:cNvPr id="24" name="Rectangle 23">
            <a:extLst>
              <a:ext uri="{FF2B5EF4-FFF2-40B4-BE49-F238E27FC236}">
                <a16:creationId xmlns:a16="http://schemas.microsoft.com/office/drawing/2014/main" id="{4DBE6D8F-4FEB-4E57-ABB6-488B724515B6}"/>
              </a:ext>
            </a:extLst>
          </p:cNvPr>
          <p:cNvSpPr>
            <a:spLocks noGrp="1"/>
          </p:cNvSpPr>
          <p:nvPr/>
        </p:nvSpPr>
        <p:spPr>
          <a:xfrm>
            <a:off x="5715000" y="2524125"/>
            <a:ext cx="5943600" cy="571500"/>
          </a:xfrm>
          <a:prstGeom prst="rect">
            <a:avLst/>
          </a:prstGeom>
          <a:noFill/>
          <a:ln w="0">
            <a:noFill/>
          </a:ln>
        </p:spPr>
        <p:txBody>
          <a:bodyPr>
            <a:normAutofit/>
          </a:bodyPr>
          <a:lstStyle/>
          <a:p>
            <a:pPr algn="l">
              <a:defRPr sz="1275" b="0">
                <a:solidFill>
                  <a:srgbClr val="526A80"/>
                </a:solidFill>
                <a:latin typeface="Arial"/>
                <a:ea typeface="Arial"/>
                <a:cs typeface="Arial"/>
              </a:defRPr>
            </a:pPr>
            <a:r>
              <a:rPr sz="1275" b="0">
                <a:solidFill>
                  <a:srgbClr val="526A80"/>
                </a:solidFill>
                <a:latin typeface="Arial"/>
                <a:ea typeface="Arial"/>
                <a:cs typeface="Arial"/>
              </a:rPr>
              <a:t>Configure Power Platform VNet support, APIM policies, identity, DNS, and monitoring</a:t>
            </a:r>
          </a:p>
        </p:txBody>
      </p:sp>
      <p:sp>
        <p:nvSpPr>
          <p:cNvPr id="25" name="Rectangle 24">
            <a:extLst>
              <a:ext uri="{FF2B5EF4-FFF2-40B4-BE49-F238E27FC236}">
                <a16:creationId xmlns:a16="http://schemas.microsoft.com/office/drawing/2014/main" id="{20D09E3C-76CF-4D59-AF29-D8BB968064E2}"/>
              </a:ext>
            </a:extLst>
          </p:cNvPr>
          <p:cNvSpPr>
            <a:spLocks noGrp="1"/>
          </p:cNvSpPr>
          <p:nvPr/>
        </p:nvSpPr>
        <p:spPr>
          <a:xfrm>
            <a:off x="2343150" y="2838450"/>
            <a:ext cx="19050" cy="762000"/>
          </a:xfrm>
          <a:prstGeom prst="rect">
            <a:avLst/>
          </a:prstGeom>
          <a:solidFill>
            <a:srgbClr val="BDD1E2"/>
          </a:solidFill>
          <a:ln w="0">
            <a:solidFill>
              <a:srgbClr val="BDD1E2"/>
            </a:solidFill>
          </a:ln>
        </p:spPr>
        <p:txBody>
          <a:bodyPr/>
          <a:lstStyle/>
          <a:p>
            <a:endParaRPr lang="en-US"/>
          </a:p>
        </p:txBody>
      </p:sp>
      <p:sp>
        <p:nvSpPr>
          <p:cNvPr id="26" name="Rectangle 25">
            <a:extLst>
              <a:ext uri="{FF2B5EF4-FFF2-40B4-BE49-F238E27FC236}">
                <a16:creationId xmlns:a16="http://schemas.microsoft.com/office/drawing/2014/main" id="{206B2A67-E4CD-4494-B0B5-F3C24B983C88}"/>
              </a:ext>
            </a:extLst>
          </p:cNvPr>
          <p:cNvSpPr>
            <a:spLocks noGrp="1"/>
          </p:cNvSpPr>
          <p:nvPr/>
        </p:nvSpPr>
        <p:spPr>
          <a:xfrm>
            <a:off x="533400" y="3657600"/>
            <a:ext cx="1143000" cy="247650"/>
          </a:xfrm>
          <a:prstGeom prst="rect">
            <a:avLst/>
          </a:prstGeom>
          <a:noFill/>
          <a:ln w="0">
            <a:noFill/>
          </a:ln>
        </p:spPr>
        <p:txBody>
          <a:bodyPr>
            <a:normAutofit fontScale="85417"/>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Weeks 6–8</a:t>
            </a:r>
          </a:p>
        </p:txBody>
      </p:sp>
      <p:sp>
        <p:nvSpPr>
          <p:cNvPr id="27" name="Rectangle 26">
            <a:extLst>
              <a:ext uri="{FF2B5EF4-FFF2-40B4-BE49-F238E27FC236}">
                <a16:creationId xmlns:a16="http://schemas.microsoft.com/office/drawing/2014/main" id="{C0E6A955-9FE1-4C3F-8F14-7E2DCC59BFED}"/>
              </a:ext>
            </a:extLst>
          </p:cNvPr>
          <p:cNvSpPr>
            <a:spLocks noGrp="1"/>
          </p:cNvSpPr>
          <p:nvPr/>
        </p:nvSpPr>
        <p:spPr>
          <a:xfrm>
            <a:off x="1676400" y="3790950"/>
            <a:ext cx="476250" cy="28575"/>
          </a:xfrm>
          <a:prstGeom prst="rect">
            <a:avLst/>
          </a:prstGeom>
          <a:solidFill>
            <a:srgbClr val="0F6CBD"/>
          </a:solidFill>
          <a:ln w="0">
            <a:solidFill>
              <a:srgbClr val="0F6CBD"/>
            </a:solidFill>
          </a:ln>
        </p:spPr>
        <p:txBody>
          <a:bodyPr/>
          <a:lstStyle/>
          <a:p>
            <a:endParaRPr lang="en-US"/>
          </a:p>
        </p:txBody>
      </p:sp>
      <p:sp>
        <p:nvSpPr>
          <p:cNvPr id="28" name="Oval 27">
            <a:extLst>
              <a:ext uri="{FF2B5EF4-FFF2-40B4-BE49-F238E27FC236}">
                <a16:creationId xmlns:a16="http://schemas.microsoft.com/office/drawing/2014/main" id="{B8817738-0722-4A9E-A01D-6385CF4E7597}"/>
              </a:ext>
            </a:extLst>
          </p:cNvPr>
          <p:cNvSpPr>
            <a:spLocks noGrp="1"/>
          </p:cNvSpPr>
          <p:nvPr/>
        </p:nvSpPr>
        <p:spPr>
          <a:xfrm>
            <a:off x="2190750" y="3629025"/>
            <a:ext cx="304800" cy="304800"/>
          </a:xfrm>
          <a:prstGeom prst="ellipse">
            <a:avLst/>
          </a:prstGeom>
          <a:solidFill>
            <a:srgbClr val="0F6CBD"/>
          </a:solidFill>
          <a:ln w="0">
            <a:solidFill>
              <a:srgbClr val="0F6CBD"/>
            </a:solidFill>
          </a:ln>
        </p:spPr>
        <p:txBody>
          <a:bodyPr/>
          <a:lstStyle/>
          <a:p>
            <a:endParaRPr lang="en-US"/>
          </a:p>
        </p:txBody>
      </p:sp>
      <p:sp>
        <p:nvSpPr>
          <p:cNvPr id="29" name="Rectangle 28">
            <a:extLst>
              <a:ext uri="{FF2B5EF4-FFF2-40B4-BE49-F238E27FC236}">
                <a16:creationId xmlns:a16="http://schemas.microsoft.com/office/drawing/2014/main" id="{B4440900-B6D3-4A13-928E-6CE1B7518EFE}"/>
              </a:ext>
            </a:extLst>
          </p:cNvPr>
          <p:cNvSpPr>
            <a:spLocks noGrp="1"/>
          </p:cNvSpPr>
          <p:nvPr/>
        </p:nvSpPr>
        <p:spPr>
          <a:xfrm>
            <a:off x="2190750" y="3648075"/>
            <a:ext cx="304800" cy="266700"/>
          </a:xfrm>
          <a:prstGeom prst="rect">
            <a:avLst/>
          </a:prstGeom>
          <a:noFill/>
          <a:ln w="0">
            <a:noFill/>
          </a:ln>
        </p:spPr>
        <p:txBody>
          <a:bodyPr>
            <a:normAutofit fontScale="95833"/>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30" name="Rectangle 29">
            <a:extLst>
              <a:ext uri="{FF2B5EF4-FFF2-40B4-BE49-F238E27FC236}">
                <a16:creationId xmlns:a16="http://schemas.microsoft.com/office/drawing/2014/main" id="{AC12D051-800F-467F-84D1-B1153C4FE6D3}"/>
              </a:ext>
            </a:extLst>
          </p:cNvPr>
          <p:cNvSpPr>
            <a:spLocks noGrp="1"/>
          </p:cNvSpPr>
          <p:nvPr/>
        </p:nvSpPr>
        <p:spPr>
          <a:xfrm>
            <a:off x="2667000" y="3638550"/>
            <a:ext cx="2857500" cy="285750"/>
          </a:xfrm>
          <a:prstGeom prst="rect">
            <a:avLst/>
          </a:prstGeom>
          <a:noFill/>
          <a:ln w="0">
            <a:noFill/>
          </a:ln>
        </p:spPr>
        <p:txBody>
          <a:bodyPr>
            <a:normAutofit fontScale="77273"/>
          </a:bodyPr>
          <a:lstStyle/>
          <a:p>
            <a:pPr algn="l">
              <a:defRPr sz="1650" b="1">
                <a:solidFill>
                  <a:srgbClr val="17324D"/>
                </a:solidFill>
                <a:latin typeface="Arial"/>
                <a:ea typeface="Arial"/>
                <a:cs typeface="Arial"/>
              </a:defRPr>
            </a:pPr>
            <a:r>
              <a:rPr sz="1650" b="1">
                <a:solidFill>
                  <a:srgbClr val="17324D"/>
                </a:solidFill>
                <a:latin typeface="Arial"/>
                <a:ea typeface="Arial"/>
                <a:cs typeface="Arial"/>
              </a:rPr>
              <a:t>Agent and deck skill</a:t>
            </a:r>
          </a:p>
        </p:txBody>
      </p:sp>
      <p:sp>
        <p:nvSpPr>
          <p:cNvPr id="31" name="Rectangle 30">
            <a:extLst>
              <a:ext uri="{FF2B5EF4-FFF2-40B4-BE49-F238E27FC236}">
                <a16:creationId xmlns:a16="http://schemas.microsoft.com/office/drawing/2014/main" id="{878E53BA-416A-4DAC-B17D-6849917EFB57}"/>
              </a:ext>
            </a:extLst>
          </p:cNvPr>
          <p:cNvSpPr>
            <a:spLocks noGrp="1"/>
          </p:cNvSpPr>
          <p:nvPr/>
        </p:nvSpPr>
        <p:spPr>
          <a:xfrm>
            <a:off x="5715000" y="3638550"/>
            <a:ext cx="5943600" cy="571500"/>
          </a:xfrm>
          <a:prstGeom prst="rect">
            <a:avLst/>
          </a:prstGeom>
          <a:noFill/>
          <a:ln w="0">
            <a:noFill/>
          </a:ln>
        </p:spPr>
        <p:txBody>
          <a:bodyPr>
            <a:normAutofit/>
          </a:bodyPr>
          <a:lstStyle/>
          <a:p>
            <a:pPr algn="l">
              <a:defRPr sz="1275" b="0">
                <a:solidFill>
                  <a:srgbClr val="526A80"/>
                </a:solidFill>
                <a:latin typeface="Arial"/>
                <a:ea typeface="Arial"/>
                <a:cs typeface="Arial"/>
              </a:defRPr>
            </a:pPr>
            <a:r>
              <a:rPr sz="1275" b="0">
                <a:solidFill>
                  <a:srgbClr val="526A80"/>
                </a:solidFill>
                <a:latin typeface="Arial"/>
                <a:ea typeface="Arial"/>
                <a:cs typeface="Arial"/>
              </a:rPr>
              <a:t>Build the connector, agent instructions, presentation template, and validation rules</a:t>
            </a:r>
          </a:p>
        </p:txBody>
      </p:sp>
      <p:sp>
        <p:nvSpPr>
          <p:cNvPr id="32" name="Rectangle 31">
            <a:extLst>
              <a:ext uri="{FF2B5EF4-FFF2-40B4-BE49-F238E27FC236}">
                <a16:creationId xmlns:a16="http://schemas.microsoft.com/office/drawing/2014/main" id="{6FBE1352-0772-4176-B9DD-5D458A3513D0}"/>
              </a:ext>
            </a:extLst>
          </p:cNvPr>
          <p:cNvSpPr>
            <a:spLocks noGrp="1"/>
          </p:cNvSpPr>
          <p:nvPr/>
        </p:nvSpPr>
        <p:spPr>
          <a:xfrm>
            <a:off x="2343150" y="3952875"/>
            <a:ext cx="19050" cy="762000"/>
          </a:xfrm>
          <a:prstGeom prst="rect">
            <a:avLst/>
          </a:prstGeom>
          <a:solidFill>
            <a:srgbClr val="BDD1E2"/>
          </a:solidFill>
          <a:ln w="0">
            <a:solidFill>
              <a:srgbClr val="BDD1E2"/>
            </a:solidFill>
          </a:ln>
        </p:spPr>
        <p:txBody>
          <a:bodyPr/>
          <a:lstStyle/>
          <a:p>
            <a:endParaRPr lang="en-US"/>
          </a:p>
        </p:txBody>
      </p:sp>
      <p:sp>
        <p:nvSpPr>
          <p:cNvPr id="33" name="Rectangle 32">
            <a:extLst>
              <a:ext uri="{FF2B5EF4-FFF2-40B4-BE49-F238E27FC236}">
                <a16:creationId xmlns:a16="http://schemas.microsoft.com/office/drawing/2014/main" id="{58CD55B2-A30A-40E6-9649-C4D81573D039}"/>
              </a:ext>
            </a:extLst>
          </p:cNvPr>
          <p:cNvSpPr>
            <a:spLocks noGrp="1"/>
          </p:cNvSpPr>
          <p:nvPr/>
        </p:nvSpPr>
        <p:spPr>
          <a:xfrm>
            <a:off x="533400" y="4772025"/>
            <a:ext cx="1143000" cy="247650"/>
          </a:xfrm>
          <a:prstGeom prst="rect">
            <a:avLst/>
          </a:prstGeom>
          <a:noFill/>
          <a:ln w="0">
            <a:noFill/>
          </a:ln>
        </p:spPr>
        <p:txBody>
          <a:bodyPr>
            <a:normAutofit fontScale="85417"/>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Weeks 9–12</a:t>
            </a:r>
          </a:p>
        </p:txBody>
      </p:sp>
      <p:sp>
        <p:nvSpPr>
          <p:cNvPr id="34" name="Rectangle 33">
            <a:extLst>
              <a:ext uri="{FF2B5EF4-FFF2-40B4-BE49-F238E27FC236}">
                <a16:creationId xmlns:a16="http://schemas.microsoft.com/office/drawing/2014/main" id="{B334332F-8626-4F72-AD84-C4FA6277D2E6}"/>
              </a:ext>
            </a:extLst>
          </p:cNvPr>
          <p:cNvSpPr>
            <a:spLocks noGrp="1"/>
          </p:cNvSpPr>
          <p:nvPr/>
        </p:nvSpPr>
        <p:spPr>
          <a:xfrm>
            <a:off x="1676400" y="4905375"/>
            <a:ext cx="476250" cy="28575"/>
          </a:xfrm>
          <a:prstGeom prst="rect">
            <a:avLst/>
          </a:prstGeom>
          <a:solidFill>
            <a:srgbClr val="107C10"/>
          </a:solidFill>
          <a:ln w="0">
            <a:solidFill>
              <a:srgbClr val="107C10"/>
            </a:solidFill>
          </a:ln>
        </p:spPr>
        <p:txBody>
          <a:bodyPr/>
          <a:lstStyle/>
          <a:p>
            <a:endParaRPr lang="en-US"/>
          </a:p>
        </p:txBody>
      </p:sp>
      <p:sp>
        <p:nvSpPr>
          <p:cNvPr id="35" name="Oval 34">
            <a:extLst>
              <a:ext uri="{FF2B5EF4-FFF2-40B4-BE49-F238E27FC236}">
                <a16:creationId xmlns:a16="http://schemas.microsoft.com/office/drawing/2014/main" id="{90377305-F487-46AD-BF0D-6A0EF5B318DE}"/>
              </a:ext>
            </a:extLst>
          </p:cNvPr>
          <p:cNvSpPr>
            <a:spLocks noGrp="1"/>
          </p:cNvSpPr>
          <p:nvPr/>
        </p:nvSpPr>
        <p:spPr>
          <a:xfrm>
            <a:off x="2190750" y="4743450"/>
            <a:ext cx="304800" cy="304800"/>
          </a:xfrm>
          <a:prstGeom prst="ellipse">
            <a:avLst/>
          </a:prstGeom>
          <a:solidFill>
            <a:srgbClr val="107C10"/>
          </a:solidFill>
          <a:ln w="0">
            <a:solidFill>
              <a:srgbClr val="107C10"/>
            </a:solidFill>
          </a:ln>
        </p:spPr>
        <p:txBody>
          <a:bodyPr/>
          <a:lstStyle/>
          <a:p>
            <a:endParaRPr lang="en-US"/>
          </a:p>
        </p:txBody>
      </p:sp>
      <p:sp>
        <p:nvSpPr>
          <p:cNvPr id="36" name="Rectangle 35">
            <a:extLst>
              <a:ext uri="{FF2B5EF4-FFF2-40B4-BE49-F238E27FC236}">
                <a16:creationId xmlns:a16="http://schemas.microsoft.com/office/drawing/2014/main" id="{CEB22CDA-7FC9-4A02-8F41-D2D430088D8A}"/>
              </a:ext>
            </a:extLst>
          </p:cNvPr>
          <p:cNvSpPr>
            <a:spLocks noGrp="1"/>
          </p:cNvSpPr>
          <p:nvPr/>
        </p:nvSpPr>
        <p:spPr>
          <a:xfrm>
            <a:off x="2190750" y="4762500"/>
            <a:ext cx="304800" cy="266700"/>
          </a:xfrm>
          <a:prstGeom prst="rect">
            <a:avLst/>
          </a:prstGeom>
          <a:noFill/>
          <a:ln w="0">
            <a:noFill/>
          </a:ln>
        </p:spPr>
        <p:txBody>
          <a:bodyPr>
            <a:normAutofit fontScale="95833"/>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37" name="Rectangle 36">
            <a:extLst>
              <a:ext uri="{FF2B5EF4-FFF2-40B4-BE49-F238E27FC236}">
                <a16:creationId xmlns:a16="http://schemas.microsoft.com/office/drawing/2014/main" id="{B51F16F6-91FD-4350-80EA-A936626D4D1D}"/>
              </a:ext>
            </a:extLst>
          </p:cNvPr>
          <p:cNvSpPr>
            <a:spLocks noGrp="1"/>
          </p:cNvSpPr>
          <p:nvPr/>
        </p:nvSpPr>
        <p:spPr>
          <a:xfrm>
            <a:off x="2667000" y="4752975"/>
            <a:ext cx="2857500" cy="285750"/>
          </a:xfrm>
          <a:prstGeom prst="rect">
            <a:avLst/>
          </a:prstGeom>
          <a:noFill/>
          <a:ln w="0">
            <a:noFill/>
          </a:ln>
        </p:spPr>
        <p:txBody>
          <a:bodyPr>
            <a:normAutofit fontScale="77273"/>
          </a:bodyPr>
          <a:lstStyle/>
          <a:p>
            <a:pPr algn="l">
              <a:defRPr sz="1650" b="1">
                <a:solidFill>
                  <a:srgbClr val="17324D"/>
                </a:solidFill>
                <a:latin typeface="Arial"/>
                <a:ea typeface="Arial"/>
                <a:cs typeface="Arial"/>
              </a:defRPr>
            </a:pPr>
            <a:r>
              <a:rPr sz="1650" b="1">
                <a:solidFill>
                  <a:srgbClr val="17324D"/>
                </a:solidFill>
                <a:latin typeface="Arial"/>
                <a:ea typeface="Arial"/>
                <a:cs typeface="Arial"/>
              </a:rPr>
              <a:t>Pilot and scale decision</a:t>
            </a:r>
          </a:p>
        </p:txBody>
      </p:sp>
      <p:sp>
        <p:nvSpPr>
          <p:cNvPr id="38" name="Rectangle 37">
            <a:extLst>
              <a:ext uri="{FF2B5EF4-FFF2-40B4-BE49-F238E27FC236}">
                <a16:creationId xmlns:a16="http://schemas.microsoft.com/office/drawing/2014/main" id="{4748A1B2-50D7-4504-97FF-B6C2C9DBBD82}"/>
              </a:ext>
            </a:extLst>
          </p:cNvPr>
          <p:cNvSpPr>
            <a:spLocks noGrp="1"/>
          </p:cNvSpPr>
          <p:nvPr/>
        </p:nvSpPr>
        <p:spPr>
          <a:xfrm>
            <a:off x="5715000" y="4752975"/>
            <a:ext cx="5943600" cy="571500"/>
          </a:xfrm>
          <a:prstGeom prst="rect">
            <a:avLst/>
          </a:prstGeom>
          <a:noFill/>
          <a:ln w="0">
            <a:noFill/>
          </a:ln>
        </p:spPr>
        <p:txBody>
          <a:bodyPr>
            <a:normAutofit/>
          </a:bodyPr>
          <a:lstStyle/>
          <a:p>
            <a:pPr algn="l">
              <a:defRPr sz="1275" b="0">
                <a:solidFill>
                  <a:srgbClr val="526A80"/>
                </a:solidFill>
                <a:latin typeface="Arial"/>
                <a:ea typeface="Arial"/>
                <a:cs typeface="Arial"/>
              </a:defRPr>
            </a:pPr>
            <a:r>
              <a:rPr sz="1275" b="0">
                <a:solidFill>
                  <a:srgbClr val="526A80"/>
                </a:solidFill>
                <a:latin typeface="Arial"/>
                <a:ea typeface="Arial"/>
                <a:cs typeface="Arial"/>
              </a:rPr>
              <a:t>Run with 25 users, measure adoption and time saved, then approve the next audience</a:t>
            </a:r>
          </a:p>
        </p:txBody>
      </p:sp>
      <p:sp>
        <p:nvSpPr>
          <p:cNvPr id="39" name="Rectangle: Rounded Corners 38">
            <a:extLst>
              <a:ext uri="{FF2B5EF4-FFF2-40B4-BE49-F238E27FC236}">
                <a16:creationId xmlns:a16="http://schemas.microsoft.com/office/drawing/2014/main" id="{83E8BBC9-D621-45CB-86AD-9F4015C09690}"/>
              </a:ext>
            </a:extLst>
          </p:cNvPr>
          <p:cNvSpPr>
            <a:spLocks noGrp="1"/>
          </p:cNvSpPr>
          <p:nvPr/>
        </p:nvSpPr>
        <p:spPr>
          <a:xfrm>
            <a:off x="533400" y="5962650"/>
            <a:ext cx="11125200" cy="342900"/>
          </a:xfrm>
          <a:prstGeom prst="roundRect">
            <a:avLst>
              <a:gd name="adj" fmla="val 22222"/>
            </a:avLst>
          </a:prstGeom>
          <a:solidFill>
            <a:srgbClr val="EAF7E8"/>
          </a:solidFill>
          <a:ln w="9525">
            <a:solidFill>
              <a:srgbClr val="A8D8A4"/>
            </a:solidFill>
          </a:ln>
        </p:spPr>
        <p:txBody>
          <a:bodyPr/>
          <a:lstStyle/>
          <a:p>
            <a:endParaRPr lang="en-US"/>
          </a:p>
        </p:txBody>
      </p:sp>
      <p:sp>
        <p:nvSpPr>
          <p:cNvPr id="40" name="Rectangle 39">
            <a:extLst>
              <a:ext uri="{FF2B5EF4-FFF2-40B4-BE49-F238E27FC236}">
                <a16:creationId xmlns:a16="http://schemas.microsoft.com/office/drawing/2014/main" id="{4D64FC4F-8270-4FAD-815F-1597A9BE7BB0}"/>
              </a:ext>
            </a:extLst>
          </p:cNvPr>
          <p:cNvSpPr>
            <a:spLocks noGrp="1"/>
          </p:cNvSpPr>
          <p:nvPr/>
        </p:nvSpPr>
        <p:spPr>
          <a:xfrm>
            <a:off x="723900" y="6048375"/>
            <a:ext cx="10744200" cy="209550"/>
          </a:xfrm>
          <a:prstGeom prst="rect">
            <a:avLst/>
          </a:prstGeom>
          <a:noFill/>
          <a:ln w="0">
            <a:noFill/>
          </a:ln>
        </p:spPr>
        <p:txBody>
          <a:bodyPr>
            <a:normAutofit fontScale="68889"/>
          </a:bodyPr>
          <a:lstStyle/>
          <a:p>
            <a:pPr algn="ctr">
              <a:defRPr sz="1125" b="1">
                <a:solidFill>
                  <a:srgbClr val="107C10"/>
                </a:solidFill>
                <a:latin typeface="Arial"/>
                <a:ea typeface="Arial"/>
                <a:cs typeface="Arial"/>
              </a:defRPr>
            </a:pPr>
            <a:r>
              <a:rPr sz="1125" b="1">
                <a:solidFill>
                  <a:srgbClr val="107C10"/>
                </a:solidFill>
                <a:latin typeface="Arial"/>
                <a:ea typeface="Arial"/>
                <a:cs typeface="Arial"/>
              </a:rPr>
              <a:t>Scale only after the pilot meets the agreed thresholds for hours saved, data quality, security, and cost per completed deck.</a:t>
            </a:r>
          </a:p>
        </p:txBody>
      </p:sp>
    </p:spTree>
    <p:extLst>
      <p:ext uri="{BB962C8B-B14F-4D97-AF65-F5344CB8AC3E}">
        <p14:creationId xmlns:p14="http://schemas.microsoft.com/office/powerpoint/2010/main" val="183279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4CF2188A-CB34-4518-98E5-21BE34E71BB7}"/>
              </a:ext>
            </a:extLst>
          </p:cNvPr>
          <p:cNvSpPr>
            <a:spLocks noGrp="1"/>
          </p:cNvSpPr>
          <p:nvPr/>
        </p:nvSpPr>
        <p:spPr>
          <a:xfrm>
            <a:off x="0" y="0"/>
            <a:ext cx="12192000" cy="95250"/>
          </a:xfrm>
          <a:prstGeom prst="rect">
            <a:avLst/>
          </a:prstGeom>
          <a:solidFill>
            <a:srgbClr val="0F6CBD"/>
          </a:solidFill>
          <a:ln w="0">
            <a:solidFill>
              <a:srgbClr val="0F6CBD"/>
            </a:solidFill>
          </a:ln>
        </p:spPr>
        <p:txBody>
          <a:bodyPr/>
          <a:lstStyle/>
          <a:p>
            <a:endParaRPr lang="en-US"/>
          </a:p>
        </p:txBody>
      </p:sp>
      <p:sp>
        <p:nvSpPr>
          <p:cNvPr id="2" name="Rectangle 1">
            <a:extLst>
              <a:ext uri="{FF2B5EF4-FFF2-40B4-BE49-F238E27FC236}">
                <a16:creationId xmlns:a16="http://schemas.microsoft.com/office/drawing/2014/main" id="{F61AC828-ABC8-4794-8CA9-CB57CBF384B0}"/>
              </a:ext>
            </a:extLst>
          </p:cNvPr>
          <p:cNvSpPr>
            <a:spLocks noGrp="1"/>
          </p:cNvSpPr>
          <p:nvPr/>
        </p:nvSpPr>
        <p:spPr>
          <a:xfrm>
            <a:off x="533400" y="323850"/>
            <a:ext cx="9334500" cy="495300"/>
          </a:xfrm>
          <a:prstGeom prst="rect">
            <a:avLst/>
          </a:prstGeom>
          <a:noFill/>
          <a:ln w="0">
            <a:noFill/>
          </a:ln>
        </p:spPr>
        <p:txBody>
          <a:bodyPr>
            <a:normAutofit fontScale="94139"/>
          </a:bodyPr>
          <a:lstStyle/>
          <a:p>
            <a:pPr algn="l">
              <a:defRPr sz="2400" b="1">
                <a:solidFill>
                  <a:srgbClr val="17324D"/>
                </a:solidFill>
                <a:latin typeface="Arial"/>
                <a:ea typeface="Arial"/>
                <a:cs typeface="Arial"/>
              </a:defRPr>
            </a:pPr>
            <a:r>
              <a:rPr sz="2400" b="1">
                <a:solidFill>
                  <a:srgbClr val="17324D"/>
                </a:solidFill>
                <a:latin typeface="Arial"/>
                <a:ea typeface="Arial"/>
                <a:cs typeface="Arial"/>
              </a:rPr>
              <a:t>A 25-user pilot can validate the model before enterprise investment</a:t>
            </a:r>
          </a:p>
        </p:txBody>
      </p:sp>
      <p:sp>
        <p:nvSpPr>
          <p:cNvPr id="3" name="Rectangle 2">
            <a:extLst>
              <a:ext uri="{FF2B5EF4-FFF2-40B4-BE49-F238E27FC236}">
                <a16:creationId xmlns:a16="http://schemas.microsoft.com/office/drawing/2014/main" id="{79ACEEFC-8BCA-46CA-B497-0B8A9ABE1B5D}"/>
              </a:ext>
            </a:extLst>
          </p:cNvPr>
          <p:cNvSpPr>
            <a:spLocks noGrp="1"/>
          </p:cNvSpPr>
          <p:nvPr/>
        </p:nvSpPr>
        <p:spPr>
          <a:xfrm>
            <a:off x="533400" y="800100"/>
            <a:ext cx="10096500" cy="266700"/>
          </a:xfrm>
          <a:prstGeom prst="rect">
            <a:avLst/>
          </a:prstGeom>
          <a:noFill/>
          <a:ln w="0">
            <a:noFill/>
          </a:ln>
        </p:spPr>
        <p:txBody>
          <a:bodyPr>
            <a:normAutofit fontScale="95833"/>
          </a:bodyPr>
          <a:lstStyle/>
          <a:p>
            <a:pPr algn="l">
              <a:defRPr sz="1200" b="0">
                <a:solidFill>
                  <a:srgbClr val="526A80"/>
                </a:solidFill>
                <a:latin typeface="Arial"/>
                <a:ea typeface="Arial"/>
                <a:cs typeface="Arial"/>
              </a:defRPr>
            </a:pPr>
            <a:r>
              <a:rPr sz="1200" b="0">
                <a:solidFill>
                  <a:srgbClr val="526A80"/>
                </a:solidFill>
                <a:latin typeface="Arial"/>
                <a:ea typeface="Arial"/>
                <a:cs typeface="Arial"/>
              </a:rPr>
              <a:t>A focused pilot tests one recurring executive deck with real usage, security, and cost telemetry</a:t>
            </a:r>
          </a:p>
        </p:txBody>
      </p:sp>
      <p:sp>
        <p:nvSpPr>
          <p:cNvPr id="4" name="Rectangle 3">
            <a:extLst>
              <a:ext uri="{FF2B5EF4-FFF2-40B4-BE49-F238E27FC236}">
                <a16:creationId xmlns:a16="http://schemas.microsoft.com/office/drawing/2014/main" id="{2C271203-C1A3-4312-9CAB-49C26D829EAE}"/>
              </a:ext>
            </a:extLst>
          </p:cNvPr>
          <p:cNvSpPr>
            <a:spLocks noGrp="1"/>
          </p:cNvSpPr>
          <p:nvPr/>
        </p:nvSpPr>
        <p:spPr>
          <a:xfrm>
            <a:off x="10668000" y="381000"/>
            <a:ext cx="83820" cy="83820"/>
          </a:xfrm>
          <a:prstGeom prst="rect">
            <a:avLst/>
          </a:prstGeom>
          <a:solidFill>
            <a:srgbClr val="F25022"/>
          </a:solidFill>
          <a:ln w="0">
            <a:solidFill>
              <a:srgbClr val="F25022"/>
            </a:solidFill>
          </a:ln>
        </p:spPr>
        <p:txBody>
          <a:bodyPr/>
          <a:lstStyle/>
          <a:p>
            <a:endParaRPr lang="en-US"/>
          </a:p>
        </p:txBody>
      </p:sp>
      <p:sp>
        <p:nvSpPr>
          <p:cNvPr id="5" name="Rectangle 4">
            <a:extLst>
              <a:ext uri="{FF2B5EF4-FFF2-40B4-BE49-F238E27FC236}">
                <a16:creationId xmlns:a16="http://schemas.microsoft.com/office/drawing/2014/main" id="{18B8DAF5-65A4-4D24-AEAB-33BD0DA8B7E6}"/>
              </a:ext>
            </a:extLst>
          </p:cNvPr>
          <p:cNvSpPr>
            <a:spLocks noGrp="1"/>
          </p:cNvSpPr>
          <p:nvPr/>
        </p:nvSpPr>
        <p:spPr>
          <a:xfrm>
            <a:off x="10767060" y="381000"/>
            <a:ext cx="83820" cy="83820"/>
          </a:xfrm>
          <a:prstGeom prst="rect">
            <a:avLst/>
          </a:prstGeom>
          <a:solidFill>
            <a:srgbClr val="7FBA00"/>
          </a:solidFill>
          <a:ln w="0">
            <a:solidFill>
              <a:srgbClr val="7FBA00"/>
            </a:solidFill>
          </a:ln>
        </p:spPr>
        <p:txBody>
          <a:bodyPr/>
          <a:lstStyle/>
          <a:p>
            <a:endParaRPr lang="en-US"/>
          </a:p>
        </p:txBody>
      </p:sp>
      <p:sp>
        <p:nvSpPr>
          <p:cNvPr id="6" name="Rectangle 5">
            <a:extLst>
              <a:ext uri="{FF2B5EF4-FFF2-40B4-BE49-F238E27FC236}">
                <a16:creationId xmlns:a16="http://schemas.microsoft.com/office/drawing/2014/main" id="{2DEE4E4E-58D9-45CD-9D7B-90A87D58A832}"/>
              </a:ext>
            </a:extLst>
          </p:cNvPr>
          <p:cNvSpPr>
            <a:spLocks noGrp="1"/>
          </p:cNvSpPr>
          <p:nvPr/>
        </p:nvSpPr>
        <p:spPr>
          <a:xfrm>
            <a:off x="10668000" y="480060"/>
            <a:ext cx="83820" cy="83820"/>
          </a:xfrm>
          <a:prstGeom prst="rect">
            <a:avLst/>
          </a:prstGeom>
          <a:solidFill>
            <a:srgbClr val="00A4EF"/>
          </a:solidFill>
          <a:ln w="0">
            <a:solidFill>
              <a:srgbClr val="00A4EF"/>
            </a:solidFill>
          </a:ln>
        </p:spPr>
        <p:txBody>
          <a:bodyPr/>
          <a:lstStyle/>
          <a:p>
            <a:endParaRPr lang="en-US"/>
          </a:p>
        </p:txBody>
      </p:sp>
      <p:sp>
        <p:nvSpPr>
          <p:cNvPr id="7" name="Rectangle 6">
            <a:extLst>
              <a:ext uri="{FF2B5EF4-FFF2-40B4-BE49-F238E27FC236}">
                <a16:creationId xmlns:a16="http://schemas.microsoft.com/office/drawing/2014/main" id="{D2A19D0B-B24F-410B-A5D8-2D511EBA7B58}"/>
              </a:ext>
            </a:extLst>
          </p:cNvPr>
          <p:cNvSpPr>
            <a:spLocks noGrp="1"/>
          </p:cNvSpPr>
          <p:nvPr/>
        </p:nvSpPr>
        <p:spPr>
          <a:xfrm>
            <a:off x="10767060" y="480060"/>
            <a:ext cx="83820" cy="83820"/>
          </a:xfrm>
          <a:prstGeom prst="rect">
            <a:avLst/>
          </a:prstGeom>
          <a:solidFill>
            <a:srgbClr val="FFB900"/>
          </a:solidFill>
          <a:ln w="0">
            <a:solidFill>
              <a:srgbClr val="FFB900"/>
            </a:solidFill>
          </a:ln>
        </p:spPr>
        <p:txBody>
          <a:bodyPr/>
          <a:lstStyle/>
          <a:p>
            <a:endParaRPr lang="en-US"/>
          </a:p>
        </p:txBody>
      </p:sp>
      <p:sp>
        <p:nvSpPr>
          <p:cNvPr id="8" name="Rectangle 7">
            <a:extLst>
              <a:ext uri="{FF2B5EF4-FFF2-40B4-BE49-F238E27FC236}">
                <a16:creationId xmlns:a16="http://schemas.microsoft.com/office/drawing/2014/main" id="{E17324CD-E0F8-46BD-95B7-5C607B414207}"/>
              </a:ext>
            </a:extLst>
          </p:cNvPr>
          <p:cNvSpPr>
            <a:spLocks noGrp="1"/>
          </p:cNvSpPr>
          <p:nvPr/>
        </p:nvSpPr>
        <p:spPr>
          <a:xfrm>
            <a:off x="10904220" y="373380"/>
            <a:ext cx="914400" cy="213360"/>
          </a:xfrm>
          <a:prstGeom prst="rect">
            <a:avLst/>
          </a:prstGeom>
          <a:noFill/>
          <a:ln w="0">
            <a:noFill/>
          </a:ln>
        </p:spPr>
        <p:txBody>
          <a:bodyPr>
            <a:normAutofit fontScale="74074"/>
          </a:bodyPr>
          <a:lstStyle/>
          <a:p>
            <a:pPr algn="l">
              <a:defRPr sz="1080" b="1">
                <a:solidFill>
                  <a:srgbClr val="17324D"/>
                </a:solidFill>
                <a:latin typeface="Arial"/>
                <a:ea typeface="Arial"/>
                <a:cs typeface="Arial"/>
              </a:defRPr>
            </a:pPr>
            <a:r>
              <a:rPr sz="1080" b="1">
                <a:solidFill>
                  <a:srgbClr val="17324D"/>
                </a:solidFill>
                <a:latin typeface="Arial"/>
                <a:ea typeface="Arial"/>
                <a:cs typeface="Arial"/>
              </a:rPr>
              <a:t>Microsoft</a:t>
            </a:r>
          </a:p>
        </p:txBody>
      </p:sp>
      <p:sp>
        <p:nvSpPr>
          <p:cNvPr id="9" name="Rectangle 8">
            <a:extLst>
              <a:ext uri="{FF2B5EF4-FFF2-40B4-BE49-F238E27FC236}">
                <a16:creationId xmlns:a16="http://schemas.microsoft.com/office/drawing/2014/main" id="{4470F3D2-71A0-4245-8775-6B8F907497F5}"/>
              </a:ext>
            </a:extLst>
          </p:cNvPr>
          <p:cNvSpPr>
            <a:spLocks noGrp="1"/>
          </p:cNvSpPr>
          <p:nvPr/>
        </p:nvSpPr>
        <p:spPr>
          <a:xfrm>
            <a:off x="533400" y="6515100"/>
            <a:ext cx="11125200" cy="9525"/>
          </a:xfrm>
          <a:prstGeom prst="rect">
            <a:avLst/>
          </a:prstGeom>
          <a:solidFill>
            <a:srgbClr val="C9D8E6"/>
          </a:solidFill>
          <a:ln w="0">
            <a:solidFill>
              <a:srgbClr val="C9D8E6"/>
            </a:solidFill>
          </a:ln>
        </p:spPr>
        <p:txBody>
          <a:bodyPr/>
          <a:lstStyle/>
          <a:p>
            <a:endParaRPr lang="en-US"/>
          </a:p>
        </p:txBody>
      </p:sp>
      <p:sp>
        <p:nvSpPr>
          <p:cNvPr id="10" name="Rectangle 9">
            <a:extLst>
              <a:ext uri="{FF2B5EF4-FFF2-40B4-BE49-F238E27FC236}">
                <a16:creationId xmlns:a16="http://schemas.microsoft.com/office/drawing/2014/main" id="{187DAE2B-F73B-482B-A9C2-DF1F9C460D1E}"/>
              </a:ext>
            </a:extLst>
          </p:cNvPr>
          <p:cNvSpPr>
            <a:spLocks noGrp="1"/>
          </p:cNvSpPr>
          <p:nvPr/>
        </p:nvSpPr>
        <p:spPr>
          <a:xfrm>
            <a:off x="533400" y="6572250"/>
            <a:ext cx="4000500" cy="190500"/>
          </a:xfrm>
          <a:prstGeom prst="rect">
            <a:avLst/>
          </a:prstGeom>
          <a:noFill/>
          <a:ln w="0">
            <a:noFill/>
          </a:ln>
        </p:spPr>
        <p:txBody>
          <a:bodyPr>
            <a:normAutofit fontScale="72222"/>
          </a:bodyPr>
          <a:lstStyle/>
          <a:p>
            <a:pPr algn="l">
              <a:defRPr sz="900" b="0">
                <a:solidFill>
                  <a:srgbClr val="526A80"/>
                </a:solidFill>
                <a:latin typeface="Arial"/>
                <a:ea typeface="Arial"/>
                <a:cs typeface="Arial"/>
              </a:defRPr>
            </a:pPr>
            <a:r>
              <a:rPr sz="900" b="0">
                <a:solidFill>
                  <a:srgbClr val="526A80"/>
                </a:solidFill>
                <a:latin typeface="Arial"/>
                <a:ea typeface="Arial"/>
                <a:cs typeface="Arial"/>
              </a:rPr>
              <a:t>Michael Yaacoub | Sr Solution Engineer</a:t>
            </a:r>
          </a:p>
        </p:txBody>
      </p:sp>
      <p:sp>
        <p:nvSpPr>
          <p:cNvPr id="11" name="Rectangle 10">
            <a:extLst>
              <a:ext uri="{FF2B5EF4-FFF2-40B4-BE49-F238E27FC236}">
                <a16:creationId xmlns:a16="http://schemas.microsoft.com/office/drawing/2014/main" id="{C3287EC8-603B-48D6-907D-48D7D991ECEB}"/>
              </a:ext>
            </a:extLst>
          </p:cNvPr>
          <p:cNvSpPr>
            <a:spLocks noGrp="1"/>
          </p:cNvSpPr>
          <p:nvPr/>
        </p:nvSpPr>
        <p:spPr>
          <a:xfrm>
            <a:off x="11239500" y="6572250"/>
            <a:ext cx="419100" cy="190500"/>
          </a:xfrm>
          <a:prstGeom prst="rect">
            <a:avLst/>
          </a:prstGeom>
          <a:noFill/>
          <a:ln w="0">
            <a:noFill/>
          </a:ln>
        </p:spPr>
        <p:txBody>
          <a:bodyPr>
            <a:normAutofit fontScale="72222"/>
          </a:bodyPr>
          <a:lstStyle/>
          <a:p>
            <a:pPr algn="r">
              <a:defRPr sz="900" b="1">
                <a:solidFill>
                  <a:srgbClr val="526A80"/>
                </a:solidFill>
                <a:latin typeface="Arial"/>
                <a:ea typeface="Arial"/>
                <a:cs typeface="Arial"/>
              </a:defRPr>
            </a:pPr>
            <a:r>
              <a:rPr sz="900" b="1">
                <a:solidFill>
                  <a:srgbClr val="526A80"/>
                </a:solidFill>
                <a:latin typeface="Arial"/>
                <a:ea typeface="Arial"/>
                <a:cs typeface="Arial"/>
              </a:rPr>
              <a:t>11</a:t>
            </a:r>
          </a:p>
        </p:txBody>
      </p:sp>
      <p:sp>
        <p:nvSpPr>
          <p:cNvPr id="12" name="Rectangle: Rounded Corners 11">
            <a:extLst>
              <a:ext uri="{FF2B5EF4-FFF2-40B4-BE49-F238E27FC236}">
                <a16:creationId xmlns:a16="http://schemas.microsoft.com/office/drawing/2014/main" id="{F0751C1D-AE0D-486B-BA92-8A3B1541B069}"/>
              </a:ext>
            </a:extLst>
          </p:cNvPr>
          <p:cNvSpPr>
            <a:spLocks noGrp="1"/>
          </p:cNvSpPr>
          <p:nvPr/>
        </p:nvSpPr>
        <p:spPr>
          <a:xfrm>
            <a:off x="533400" y="1428750"/>
            <a:ext cx="2571750" cy="1066800"/>
          </a:xfrm>
          <a:prstGeom prst="roundRect">
            <a:avLst>
              <a:gd name="adj" fmla="val 7143"/>
            </a:avLst>
          </a:prstGeom>
          <a:solidFill>
            <a:srgbClr val="FFFFFF"/>
          </a:solidFill>
          <a:ln w="9525">
            <a:solidFill>
              <a:srgbClr val="D5E2EE"/>
            </a:solidFill>
          </a:ln>
        </p:spPr>
        <p:txBody>
          <a:bodyPr/>
          <a:lstStyle/>
          <a:p>
            <a:endParaRPr lang="en-US"/>
          </a:p>
        </p:txBody>
      </p:sp>
      <p:sp>
        <p:nvSpPr>
          <p:cNvPr id="13" name="Rectangle 12">
            <a:extLst>
              <a:ext uri="{FF2B5EF4-FFF2-40B4-BE49-F238E27FC236}">
                <a16:creationId xmlns:a16="http://schemas.microsoft.com/office/drawing/2014/main" id="{06506758-24DE-440D-A6AB-142BFE517FE8}"/>
              </a:ext>
            </a:extLst>
          </p:cNvPr>
          <p:cNvSpPr>
            <a:spLocks noGrp="1"/>
          </p:cNvSpPr>
          <p:nvPr/>
        </p:nvSpPr>
        <p:spPr>
          <a:xfrm>
            <a:off x="533400" y="1428750"/>
            <a:ext cx="66675" cy="1066800"/>
          </a:xfrm>
          <a:prstGeom prst="rect">
            <a:avLst/>
          </a:prstGeom>
          <a:solidFill>
            <a:srgbClr val="0F6CBD"/>
          </a:solidFill>
          <a:ln w="0">
            <a:solidFill>
              <a:srgbClr val="0F6CBD"/>
            </a:solidFill>
          </a:ln>
        </p:spPr>
        <p:txBody>
          <a:bodyPr/>
          <a:lstStyle/>
          <a:p>
            <a:endParaRPr lang="en-US"/>
          </a:p>
        </p:txBody>
      </p:sp>
      <p:sp>
        <p:nvSpPr>
          <p:cNvPr id="14" name="Rectangle 13">
            <a:extLst>
              <a:ext uri="{FF2B5EF4-FFF2-40B4-BE49-F238E27FC236}">
                <a16:creationId xmlns:a16="http://schemas.microsoft.com/office/drawing/2014/main" id="{9338A84B-D871-4D6B-8460-331E6EBA70B7}"/>
              </a:ext>
            </a:extLst>
          </p:cNvPr>
          <p:cNvSpPr>
            <a:spLocks noGrp="1"/>
          </p:cNvSpPr>
          <p:nvPr/>
        </p:nvSpPr>
        <p:spPr>
          <a:xfrm>
            <a:off x="762000" y="1581150"/>
            <a:ext cx="2171700" cy="228600"/>
          </a:xfrm>
          <a:prstGeom prst="rect">
            <a:avLst/>
          </a:prstGeom>
          <a:noFill/>
          <a:ln w="0">
            <a:noFill/>
          </a:ln>
        </p:spPr>
        <p:txBody>
          <a:bodyPr>
            <a:normAutofit fontScale="92308"/>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PILOT AUDIENCE</a:t>
            </a:r>
          </a:p>
        </p:txBody>
      </p:sp>
      <p:sp>
        <p:nvSpPr>
          <p:cNvPr id="15" name="Rectangle 14">
            <a:extLst>
              <a:ext uri="{FF2B5EF4-FFF2-40B4-BE49-F238E27FC236}">
                <a16:creationId xmlns:a16="http://schemas.microsoft.com/office/drawing/2014/main" id="{8C0D9903-E183-444C-8265-8882680620DC}"/>
              </a:ext>
            </a:extLst>
          </p:cNvPr>
          <p:cNvSpPr>
            <a:spLocks noGrp="1"/>
          </p:cNvSpPr>
          <p:nvPr/>
        </p:nvSpPr>
        <p:spPr>
          <a:xfrm>
            <a:off x="762000" y="1828800"/>
            <a:ext cx="217170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25 users</a:t>
            </a:r>
          </a:p>
        </p:txBody>
      </p:sp>
      <p:sp>
        <p:nvSpPr>
          <p:cNvPr id="16" name="Rectangle 15">
            <a:extLst>
              <a:ext uri="{FF2B5EF4-FFF2-40B4-BE49-F238E27FC236}">
                <a16:creationId xmlns:a16="http://schemas.microsoft.com/office/drawing/2014/main" id="{84628961-207E-4FFD-8E09-01C415B14F1F}"/>
              </a:ext>
            </a:extLst>
          </p:cNvPr>
          <p:cNvSpPr>
            <a:spLocks noGrp="1"/>
          </p:cNvSpPr>
          <p:nvPr/>
        </p:nvSpPr>
        <p:spPr>
          <a:xfrm>
            <a:off x="762000" y="2228850"/>
            <a:ext cx="217170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Across two or three business functions</a:t>
            </a:r>
          </a:p>
        </p:txBody>
      </p:sp>
      <p:sp>
        <p:nvSpPr>
          <p:cNvPr id="17" name="Rectangle: Rounded Corners 16">
            <a:extLst>
              <a:ext uri="{FF2B5EF4-FFF2-40B4-BE49-F238E27FC236}">
                <a16:creationId xmlns:a16="http://schemas.microsoft.com/office/drawing/2014/main" id="{DF689A6F-915F-4EB0-90E8-0FA2AF009919}"/>
              </a:ext>
            </a:extLst>
          </p:cNvPr>
          <p:cNvSpPr>
            <a:spLocks noGrp="1"/>
          </p:cNvSpPr>
          <p:nvPr/>
        </p:nvSpPr>
        <p:spPr>
          <a:xfrm>
            <a:off x="3295650" y="1428750"/>
            <a:ext cx="2571750" cy="1066800"/>
          </a:xfrm>
          <a:prstGeom prst="roundRect">
            <a:avLst>
              <a:gd name="adj" fmla="val 7143"/>
            </a:avLst>
          </a:prstGeom>
          <a:solidFill>
            <a:srgbClr val="FFFFFF"/>
          </a:solidFill>
          <a:ln w="9525">
            <a:solidFill>
              <a:srgbClr val="D5E2EE"/>
            </a:solidFill>
          </a:ln>
        </p:spPr>
        <p:txBody>
          <a:bodyPr/>
          <a:lstStyle/>
          <a:p>
            <a:endParaRPr lang="en-US"/>
          </a:p>
        </p:txBody>
      </p:sp>
      <p:sp>
        <p:nvSpPr>
          <p:cNvPr id="18" name="Rectangle 17">
            <a:extLst>
              <a:ext uri="{FF2B5EF4-FFF2-40B4-BE49-F238E27FC236}">
                <a16:creationId xmlns:a16="http://schemas.microsoft.com/office/drawing/2014/main" id="{ED2C8646-853C-4787-A161-F42CA3C3292B}"/>
              </a:ext>
            </a:extLst>
          </p:cNvPr>
          <p:cNvSpPr>
            <a:spLocks noGrp="1"/>
          </p:cNvSpPr>
          <p:nvPr/>
        </p:nvSpPr>
        <p:spPr>
          <a:xfrm>
            <a:off x="3295650" y="1428750"/>
            <a:ext cx="66675" cy="1066800"/>
          </a:xfrm>
          <a:prstGeom prst="rect">
            <a:avLst/>
          </a:prstGeom>
          <a:solidFill>
            <a:srgbClr val="742774"/>
          </a:solidFill>
          <a:ln w="0">
            <a:solidFill>
              <a:srgbClr val="742774"/>
            </a:solidFill>
          </a:ln>
        </p:spPr>
        <p:txBody>
          <a:bodyPr/>
          <a:lstStyle/>
          <a:p>
            <a:endParaRPr lang="en-US"/>
          </a:p>
        </p:txBody>
      </p:sp>
      <p:sp>
        <p:nvSpPr>
          <p:cNvPr id="19" name="Rectangle 18">
            <a:extLst>
              <a:ext uri="{FF2B5EF4-FFF2-40B4-BE49-F238E27FC236}">
                <a16:creationId xmlns:a16="http://schemas.microsoft.com/office/drawing/2014/main" id="{7540D5C8-2F03-42FC-8A5B-FDF2A9530A00}"/>
              </a:ext>
            </a:extLst>
          </p:cNvPr>
          <p:cNvSpPr>
            <a:spLocks noGrp="1"/>
          </p:cNvSpPr>
          <p:nvPr/>
        </p:nvSpPr>
        <p:spPr>
          <a:xfrm>
            <a:off x="3524250" y="1581150"/>
            <a:ext cx="2171700" cy="228600"/>
          </a:xfrm>
          <a:prstGeom prst="rect">
            <a:avLst/>
          </a:prstGeom>
          <a:noFill/>
          <a:ln w="0">
            <a:noFill/>
          </a:ln>
        </p:spPr>
        <p:txBody>
          <a:bodyPr>
            <a:normAutofit fontScale="92308"/>
          </a:bodyPr>
          <a:lstStyle/>
          <a:p>
            <a:pPr algn="l">
              <a:defRPr sz="975" b="1">
                <a:solidFill>
                  <a:srgbClr val="742774"/>
                </a:solidFill>
                <a:latin typeface="Arial"/>
                <a:ea typeface="Arial"/>
                <a:cs typeface="Arial"/>
              </a:defRPr>
            </a:pPr>
            <a:r>
              <a:rPr sz="975" b="1">
                <a:solidFill>
                  <a:srgbClr val="742774"/>
                </a:solidFill>
                <a:latin typeface="Arial"/>
                <a:ea typeface="Arial"/>
                <a:cs typeface="Arial"/>
              </a:rPr>
              <a:t>MONTHLY DECK VOLUME</a:t>
            </a:r>
          </a:p>
        </p:txBody>
      </p:sp>
      <p:sp>
        <p:nvSpPr>
          <p:cNvPr id="20" name="Rectangle 19">
            <a:extLst>
              <a:ext uri="{FF2B5EF4-FFF2-40B4-BE49-F238E27FC236}">
                <a16:creationId xmlns:a16="http://schemas.microsoft.com/office/drawing/2014/main" id="{26CF4DF1-4660-4F7E-9851-3F2097D0973C}"/>
              </a:ext>
            </a:extLst>
          </p:cNvPr>
          <p:cNvSpPr>
            <a:spLocks noGrp="1"/>
          </p:cNvSpPr>
          <p:nvPr/>
        </p:nvSpPr>
        <p:spPr>
          <a:xfrm>
            <a:off x="3524250" y="1828800"/>
            <a:ext cx="217170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70 decks</a:t>
            </a:r>
          </a:p>
        </p:txBody>
      </p:sp>
      <p:sp>
        <p:nvSpPr>
          <p:cNvPr id="21" name="Rectangle 20">
            <a:extLst>
              <a:ext uri="{FF2B5EF4-FFF2-40B4-BE49-F238E27FC236}">
                <a16:creationId xmlns:a16="http://schemas.microsoft.com/office/drawing/2014/main" id="{DACD28A4-5B7F-412E-8F4A-C065FF803F67}"/>
              </a:ext>
            </a:extLst>
          </p:cNvPr>
          <p:cNvSpPr>
            <a:spLocks noGrp="1"/>
          </p:cNvSpPr>
          <p:nvPr/>
        </p:nvSpPr>
        <p:spPr>
          <a:xfrm>
            <a:off x="3524250" y="2228850"/>
            <a:ext cx="217170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4 decks per user at 70% usage</a:t>
            </a:r>
          </a:p>
        </p:txBody>
      </p:sp>
      <p:sp>
        <p:nvSpPr>
          <p:cNvPr id="22" name="Rectangle: Rounded Corners 21">
            <a:extLst>
              <a:ext uri="{FF2B5EF4-FFF2-40B4-BE49-F238E27FC236}">
                <a16:creationId xmlns:a16="http://schemas.microsoft.com/office/drawing/2014/main" id="{86C1BD80-ACB0-474A-828D-31FE5D0C5ACC}"/>
              </a:ext>
            </a:extLst>
          </p:cNvPr>
          <p:cNvSpPr>
            <a:spLocks noGrp="1"/>
          </p:cNvSpPr>
          <p:nvPr/>
        </p:nvSpPr>
        <p:spPr>
          <a:xfrm>
            <a:off x="6057900" y="1428750"/>
            <a:ext cx="2571750" cy="1066800"/>
          </a:xfrm>
          <a:prstGeom prst="roundRect">
            <a:avLst>
              <a:gd name="adj" fmla="val 7143"/>
            </a:avLst>
          </a:prstGeom>
          <a:solidFill>
            <a:srgbClr val="FFFFFF"/>
          </a:solidFill>
          <a:ln w="9525">
            <a:solidFill>
              <a:srgbClr val="D5E2EE"/>
            </a:solidFill>
          </a:ln>
        </p:spPr>
        <p:txBody>
          <a:bodyPr/>
          <a:lstStyle/>
          <a:p>
            <a:endParaRPr lang="en-US"/>
          </a:p>
        </p:txBody>
      </p:sp>
      <p:sp>
        <p:nvSpPr>
          <p:cNvPr id="23" name="Rectangle 22">
            <a:extLst>
              <a:ext uri="{FF2B5EF4-FFF2-40B4-BE49-F238E27FC236}">
                <a16:creationId xmlns:a16="http://schemas.microsoft.com/office/drawing/2014/main" id="{A8201694-26F7-491B-9E95-47C679256417}"/>
              </a:ext>
            </a:extLst>
          </p:cNvPr>
          <p:cNvSpPr>
            <a:spLocks noGrp="1"/>
          </p:cNvSpPr>
          <p:nvPr/>
        </p:nvSpPr>
        <p:spPr>
          <a:xfrm>
            <a:off x="6057900" y="1428750"/>
            <a:ext cx="66675" cy="1066800"/>
          </a:xfrm>
          <a:prstGeom prst="rect">
            <a:avLst/>
          </a:prstGeom>
          <a:solidFill>
            <a:srgbClr val="107C10"/>
          </a:solidFill>
          <a:ln w="0">
            <a:solidFill>
              <a:srgbClr val="107C10"/>
            </a:solidFill>
          </a:ln>
        </p:spPr>
        <p:txBody>
          <a:bodyPr/>
          <a:lstStyle/>
          <a:p>
            <a:endParaRPr lang="en-US"/>
          </a:p>
        </p:txBody>
      </p:sp>
      <p:sp>
        <p:nvSpPr>
          <p:cNvPr id="24" name="Rectangle 23">
            <a:extLst>
              <a:ext uri="{FF2B5EF4-FFF2-40B4-BE49-F238E27FC236}">
                <a16:creationId xmlns:a16="http://schemas.microsoft.com/office/drawing/2014/main" id="{D66723AC-09D3-43A7-9A46-D608D2FA740B}"/>
              </a:ext>
            </a:extLst>
          </p:cNvPr>
          <p:cNvSpPr>
            <a:spLocks noGrp="1"/>
          </p:cNvSpPr>
          <p:nvPr/>
        </p:nvSpPr>
        <p:spPr>
          <a:xfrm>
            <a:off x="6286500" y="1581150"/>
            <a:ext cx="2171700" cy="228600"/>
          </a:xfrm>
          <a:prstGeom prst="rect">
            <a:avLst/>
          </a:prstGeom>
          <a:noFill/>
          <a:ln w="0">
            <a:noFill/>
          </a:ln>
        </p:spPr>
        <p:txBody>
          <a:bodyPr>
            <a:normAutofit fontScale="92308"/>
          </a:bodyPr>
          <a:lstStyle/>
          <a:p>
            <a:pPr algn="l">
              <a:defRPr sz="975" b="1">
                <a:solidFill>
                  <a:srgbClr val="107C10"/>
                </a:solidFill>
                <a:latin typeface="Arial"/>
                <a:ea typeface="Arial"/>
                <a:cs typeface="Arial"/>
              </a:defRPr>
            </a:pPr>
            <a:r>
              <a:rPr sz="975" b="1">
                <a:solidFill>
                  <a:srgbClr val="107C10"/>
                </a:solidFill>
                <a:latin typeface="Arial"/>
                <a:ea typeface="Arial"/>
                <a:cs typeface="Arial"/>
              </a:rPr>
              <a:t>CAPACITY RELEASED</a:t>
            </a:r>
          </a:p>
        </p:txBody>
      </p:sp>
      <p:sp>
        <p:nvSpPr>
          <p:cNvPr id="25" name="Rectangle 24">
            <a:extLst>
              <a:ext uri="{FF2B5EF4-FFF2-40B4-BE49-F238E27FC236}">
                <a16:creationId xmlns:a16="http://schemas.microsoft.com/office/drawing/2014/main" id="{5E5CFF9C-ACFB-4198-895E-851F77E80BA5}"/>
              </a:ext>
            </a:extLst>
          </p:cNvPr>
          <p:cNvSpPr>
            <a:spLocks noGrp="1"/>
          </p:cNvSpPr>
          <p:nvPr/>
        </p:nvSpPr>
        <p:spPr>
          <a:xfrm>
            <a:off x="6286500" y="1828800"/>
            <a:ext cx="217170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175 hours</a:t>
            </a:r>
          </a:p>
        </p:txBody>
      </p:sp>
      <p:sp>
        <p:nvSpPr>
          <p:cNvPr id="26" name="Rectangle 25">
            <a:extLst>
              <a:ext uri="{FF2B5EF4-FFF2-40B4-BE49-F238E27FC236}">
                <a16:creationId xmlns:a16="http://schemas.microsoft.com/office/drawing/2014/main" id="{B1AA5ECA-1853-47EF-A44E-E92ED64A135A}"/>
              </a:ext>
            </a:extLst>
          </p:cNvPr>
          <p:cNvSpPr>
            <a:spLocks noGrp="1"/>
          </p:cNvSpPr>
          <p:nvPr/>
        </p:nvSpPr>
        <p:spPr>
          <a:xfrm>
            <a:off x="6286500" y="2228850"/>
            <a:ext cx="217170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2.5 hours saved per completed deck</a:t>
            </a:r>
          </a:p>
        </p:txBody>
      </p:sp>
      <p:sp>
        <p:nvSpPr>
          <p:cNvPr id="27" name="Rectangle: Rounded Corners 26">
            <a:extLst>
              <a:ext uri="{FF2B5EF4-FFF2-40B4-BE49-F238E27FC236}">
                <a16:creationId xmlns:a16="http://schemas.microsoft.com/office/drawing/2014/main" id="{07E7B68A-97A4-4148-8357-622320196AC9}"/>
              </a:ext>
            </a:extLst>
          </p:cNvPr>
          <p:cNvSpPr>
            <a:spLocks noGrp="1"/>
          </p:cNvSpPr>
          <p:nvPr/>
        </p:nvSpPr>
        <p:spPr>
          <a:xfrm>
            <a:off x="8820150" y="1428750"/>
            <a:ext cx="2838450" cy="1066800"/>
          </a:xfrm>
          <a:prstGeom prst="roundRect">
            <a:avLst>
              <a:gd name="adj" fmla="val 7143"/>
            </a:avLst>
          </a:prstGeom>
          <a:solidFill>
            <a:srgbClr val="FFFFFF"/>
          </a:solidFill>
          <a:ln w="9525">
            <a:solidFill>
              <a:srgbClr val="D5E2EE"/>
            </a:solidFill>
          </a:ln>
        </p:spPr>
        <p:txBody>
          <a:bodyPr/>
          <a:lstStyle/>
          <a:p>
            <a:endParaRPr lang="en-US"/>
          </a:p>
        </p:txBody>
      </p:sp>
      <p:sp>
        <p:nvSpPr>
          <p:cNvPr id="28" name="Rectangle 27">
            <a:extLst>
              <a:ext uri="{FF2B5EF4-FFF2-40B4-BE49-F238E27FC236}">
                <a16:creationId xmlns:a16="http://schemas.microsoft.com/office/drawing/2014/main" id="{C5C6756C-20BA-4C0F-9CA9-FA0613CEDB88}"/>
              </a:ext>
            </a:extLst>
          </p:cNvPr>
          <p:cNvSpPr>
            <a:spLocks noGrp="1"/>
          </p:cNvSpPr>
          <p:nvPr/>
        </p:nvSpPr>
        <p:spPr>
          <a:xfrm>
            <a:off x="8820150" y="1428750"/>
            <a:ext cx="66675" cy="1066800"/>
          </a:xfrm>
          <a:prstGeom prst="rect">
            <a:avLst/>
          </a:prstGeom>
          <a:solidFill>
            <a:srgbClr val="E5532D"/>
          </a:solidFill>
          <a:ln w="0">
            <a:solidFill>
              <a:srgbClr val="E5532D"/>
            </a:solidFill>
          </a:ln>
        </p:spPr>
        <p:txBody>
          <a:bodyPr/>
          <a:lstStyle/>
          <a:p>
            <a:endParaRPr lang="en-US"/>
          </a:p>
        </p:txBody>
      </p:sp>
      <p:sp>
        <p:nvSpPr>
          <p:cNvPr id="29" name="Rectangle 28">
            <a:extLst>
              <a:ext uri="{FF2B5EF4-FFF2-40B4-BE49-F238E27FC236}">
                <a16:creationId xmlns:a16="http://schemas.microsoft.com/office/drawing/2014/main" id="{A7FDBD46-F954-41D4-814C-A01CF0DA5A4F}"/>
              </a:ext>
            </a:extLst>
          </p:cNvPr>
          <p:cNvSpPr>
            <a:spLocks noGrp="1"/>
          </p:cNvSpPr>
          <p:nvPr/>
        </p:nvSpPr>
        <p:spPr>
          <a:xfrm>
            <a:off x="9048750" y="1581150"/>
            <a:ext cx="2438400" cy="228600"/>
          </a:xfrm>
          <a:prstGeom prst="rect">
            <a:avLst/>
          </a:prstGeom>
          <a:noFill/>
          <a:ln w="0">
            <a:noFill/>
          </a:ln>
        </p:spPr>
        <p:txBody>
          <a:bodyPr>
            <a:normAutofit fontScale="92308"/>
          </a:bodyPr>
          <a:lstStyle/>
          <a:p>
            <a:pPr algn="l">
              <a:defRPr sz="975" b="1">
                <a:solidFill>
                  <a:srgbClr val="E5532D"/>
                </a:solidFill>
                <a:latin typeface="Arial"/>
                <a:ea typeface="Arial"/>
                <a:cs typeface="Arial"/>
              </a:defRPr>
            </a:pPr>
            <a:r>
              <a:rPr sz="975" b="1">
                <a:solidFill>
                  <a:srgbClr val="E5532D"/>
                </a:solidFill>
                <a:latin typeface="Arial"/>
                <a:ea typeface="Arial"/>
                <a:cs typeface="Arial"/>
              </a:rPr>
              <a:t>NET MONTHLY VALUE</a:t>
            </a:r>
          </a:p>
        </p:txBody>
      </p:sp>
      <p:sp>
        <p:nvSpPr>
          <p:cNvPr id="30" name="Rectangle 29">
            <a:extLst>
              <a:ext uri="{FF2B5EF4-FFF2-40B4-BE49-F238E27FC236}">
                <a16:creationId xmlns:a16="http://schemas.microsoft.com/office/drawing/2014/main" id="{796D2839-0ED4-4AA2-AAA8-9FFB457B5524}"/>
              </a:ext>
            </a:extLst>
          </p:cNvPr>
          <p:cNvSpPr>
            <a:spLocks noGrp="1"/>
          </p:cNvSpPr>
          <p:nvPr/>
        </p:nvSpPr>
        <p:spPr>
          <a:xfrm>
            <a:off x="9048750" y="1828800"/>
            <a:ext cx="2438400" cy="371475"/>
          </a:xfrm>
          <a:prstGeom prst="rect">
            <a:avLst/>
          </a:prstGeom>
          <a:noFill/>
          <a:ln w="0">
            <a:noFill/>
          </a:ln>
        </p:spPr>
        <p:txBody>
          <a:bodyPr>
            <a:normAutofit fontScale="81667"/>
          </a:bodyPr>
          <a:lstStyle/>
          <a:p>
            <a:pPr algn="l">
              <a:defRPr sz="2250" b="1">
                <a:solidFill>
                  <a:srgbClr val="17324D"/>
                </a:solidFill>
                <a:latin typeface="Arial"/>
                <a:ea typeface="Arial"/>
                <a:cs typeface="Arial"/>
              </a:defRPr>
            </a:pPr>
            <a:r>
              <a:rPr sz="2250" b="1">
                <a:solidFill>
                  <a:srgbClr val="17324D"/>
                </a:solidFill>
                <a:latin typeface="Arial"/>
                <a:ea typeface="Arial"/>
                <a:cs typeface="Arial"/>
              </a:rPr>
              <a:t>$8.1K</a:t>
            </a:r>
          </a:p>
        </p:txBody>
      </p:sp>
      <p:sp>
        <p:nvSpPr>
          <p:cNvPr id="31" name="Rectangle 30">
            <a:extLst>
              <a:ext uri="{FF2B5EF4-FFF2-40B4-BE49-F238E27FC236}">
                <a16:creationId xmlns:a16="http://schemas.microsoft.com/office/drawing/2014/main" id="{0F4A44AC-93BF-4EAA-800A-EDEE9295E45F}"/>
              </a:ext>
            </a:extLst>
          </p:cNvPr>
          <p:cNvSpPr>
            <a:spLocks noGrp="1"/>
          </p:cNvSpPr>
          <p:nvPr/>
        </p:nvSpPr>
        <p:spPr>
          <a:xfrm>
            <a:off x="9048750" y="2228850"/>
            <a:ext cx="2438400" cy="190500"/>
          </a:xfrm>
          <a:prstGeom prst="rect">
            <a:avLst/>
          </a:prstGeom>
          <a:noFill/>
          <a:ln w="0">
            <a:noFill/>
          </a:ln>
        </p:spPr>
        <p:txBody>
          <a:bodyPr>
            <a:normAutofit fontScale="66667"/>
          </a:bodyPr>
          <a:lstStyle/>
          <a:p>
            <a:pPr algn="l">
              <a:defRPr sz="975" b="0">
                <a:solidFill>
                  <a:srgbClr val="526A80"/>
                </a:solidFill>
                <a:latin typeface="Arial"/>
                <a:ea typeface="Arial"/>
                <a:cs typeface="Arial"/>
              </a:defRPr>
            </a:pPr>
            <a:r>
              <a:rPr sz="975" b="0">
                <a:solidFill>
                  <a:srgbClr val="526A80"/>
                </a:solidFill>
                <a:latin typeface="Arial"/>
                <a:ea typeface="Arial"/>
                <a:cs typeface="Arial"/>
              </a:rPr>
              <a:t>$13.1K value less $5K run rate</a:t>
            </a:r>
          </a:p>
        </p:txBody>
      </p:sp>
      <p:sp>
        <p:nvSpPr>
          <p:cNvPr id="32" name="Rectangle 31">
            <a:extLst>
              <a:ext uri="{FF2B5EF4-FFF2-40B4-BE49-F238E27FC236}">
                <a16:creationId xmlns:a16="http://schemas.microsoft.com/office/drawing/2014/main" id="{0E6E3E73-A977-44D9-85E8-2C4D923FC664}"/>
              </a:ext>
            </a:extLst>
          </p:cNvPr>
          <p:cNvSpPr>
            <a:spLocks noGrp="1"/>
          </p:cNvSpPr>
          <p:nvPr/>
        </p:nvSpPr>
        <p:spPr>
          <a:xfrm>
            <a:off x="533400" y="2933700"/>
            <a:ext cx="2476500" cy="209550"/>
          </a:xfrm>
          <a:prstGeom prst="rect">
            <a:avLst/>
          </a:prstGeom>
          <a:noFill/>
          <a:ln w="0">
            <a:noFill/>
          </a:ln>
        </p:spPr>
        <p:txBody>
          <a:bodyPr>
            <a:normAutofit fontScale="79487"/>
          </a:bodyPr>
          <a:lstStyle/>
          <a:p>
            <a:pPr algn="l">
              <a:defRPr sz="975" b="1">
                <a:solidFill>
                  <a:srgbClr val="0F6CBD"/>
                </a:solidFill>
                <a:latin typeface="Arial"/>
                <a:ea typeface="Arial"/>
                <a:cs typeface="Arial"/>
              </a:defRPr>
            </a:pPr>
            <a:r>
              <a:rPr sz="975" b="1">
                <a:solidFill>
                  <a:srgbClr val="0F6CBD"/>
                </a:solidFill>
                <a:latin typeface="Arial"/>
                <a:ea typeface="Arial"/>
                <a:cs typeface="Arial"/>
              </a:rPr>
              <a:t>SCALE CRITERIA</a:t>
            </a:r>
          </a:p>
        </p:txBody>
      </p:sp>
      <p:sp>
        <p:nvSpPr>
          <p:cNvPr id="33" name="Rectangle 32">
            <a:extLst>
              <a:ext uri="{FF2B5EF4-FFF2-40B4-BE49-F238E27FC236}">
                <a16:creationId xmlns:a16="http://schemas.microsoft.com/office/drawing/2014/main" id="{177E75B8-25C6-490A-AC94-E132EFFC8521}"/>
              </a:ext>
            </a:extLst>
          </p:cNvPr>
          <p:cNvSpPr>
            <a:spLocks noGrp="1"/>
          </p:cNvSpPr>
          <p:nvPr/>
        </p:nvSpPr>
        <p:spPr>
          <a:xfrm>
            <a:off x="533400" y="3638550"/>
            <a:ext cx="7239000" cy="9525"/>
          </a:xfrm>
          <a:prstGeom prst="rect">
            <a:avLst/>
          </a:prstGeom>
          <a:solidFill>
            <a:srgbClr val="DFE8F0"/>
          </a:solidFill>
          <a:ln w="0">
            <a:solidFill>
              <a:srgbClr val="DFE8F0"/>
            </a:solidFill>
          </a:ln>
        </p:spPr>
        <p:txBody>
          <a:bodyPr/>
          <a:lstStyle/>
          <a:p>
            <a:endParaRPr lang="en-US"/>
          </a:p>
        </p:txBody>
      </p:sp>
      <p:sp>
        <p:nvSpPr>
          <p:cNvPr id="34" name="Rectangle 33">
            <a:extLst>
              <a:ext uri="{FF2B5EF4-FFF2-40B4-BE49-F238E27FC236}">
                <a16:creationId xmlns:a16="http://schemas.microsoft.com/office/drawing/2014/main" id="{FB93B098-18F8-4897-A637-E1564689002A}"/>
              </a:ext>
            </a:extLst>
          </p:cNvPr>
          <p:cNvSpPr>
            <a:spLocks noGrp="1"/>
          </p:cNvSpPr>
          <p:nvPr/>
        </p:nvSpPr>
        <p:spPr>
          <a:xfrm>
            <a:off x="533400" y="3257550"/>
            <a:ext cx="1143000" cy="266700"/>
          </a:xfrm>
          <a:prstGeom prst="rect">
            <a:avLst/>
          </a:prstGeom>
          <a:noFill/>
          <a:ln w="0">
            <a:noFill/>
          </a:ln>
        </p:spPr>
        <p:txBody>
          <a:bodyPr>
            <a:normAutofit fontScale="9583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Time saved</a:t>
            </a:r>
          </a:p>
        </p:txBody>
      </p:sp>
      <p:sp>
        <p:nvSpPr>
          <p:cNvPr id="35" name="Rectangle 34">
            <a:extLst>
              <a:ext uri="{FF2B5EF4-FFF2-40B4-BE49-F238E27FC236}">
                <a16:creationId xmlns:a16="http://schemas.microsoft.com/office/drawing/2014/main" id="{86621C33-6724-48CD-817F-DB23FA17ACFD}"/>
              </a:ext>
            </a:extLst>
          </p:cNvPr>
          <p:cNvSpPr>
            <a:spLocks noGrp="1"/>
          </p:cNvSpPr>
          <p:nvPr/>
        </p:nvSpPr>
        <p:spPr>
          <a:xfrm>
            <a:off x="1809750" y="3257550"/>
            <a:ext cx="5905500" cy="266700"/>
          </a:xfrm>
          <a:prstGeom prst="rect">
            <a:avLst/>
          </a:prstGeom>
          <a:noFill/>
          <a:ln w="0">
            <a:noFill/>
          </a:ln>
        </p:spPr>
        <p:txBody>
          <a:bodyPr>
            <a:normAutofit fontScale="90196"/>
          </a:bodyPr>
          <a:lstStyle/>
          <a:p>
            <a:pPr algn="l">
              <a:defRPr sz="1275" b="0">
                <a:solidFill>
                  <a:srgbClr val="17324D"/>
                </a:solidFill>
                <a:latin typeface="Arial"/>
                <a:ea typeface="Arial"/>
                <a:cs typeface="Arial"/>
              </a:defRPr>
            </a:pPr>
            <a:r>
              <a:rPr sz="1275" b="0">
                <a:solidFill>
                  <a:srgbClr val="17324D"/>
                </a:solidFill>
                <a:latin typeface="Arial"/>
                <a:ea typeface="Arial"/>
                <a:cs typeface="Arial"/>
              </a:rPr>
              <a:t>At least 2.5 hours per completed deck</a:t>
            </a:r>
          </a:p>
        </p:txBody>
      </p:sp>
      <p:sp>
        <p:nvSpPr>
          <p:cNvPr id="36" name="Rectangle 35">
            <a:extLst>
              <a:ext uri="{FF2B5EF4-FFF2-40B4-BE49-F238E27FC236}">
                <a16:creationId xmlns:a16="http://schemas.microsoft.com/office/drawing/2014/main" id="{F2EC1C9F-B64E-46F7-9DF6-AB32CDB53F59}"/>
              </a:ext>
            </a:extLst>
          </p:cNvPr>
          <p:cNvSpPr>
            <a:spLocks noGrp="1"/>
          </p:cNvSpPr>
          <p:nvPr/>
        </p:nvSpPr>
        <p:spPr>
          <a:xfrm>
            <a:off x="533400" y="4114800"/>
            <a:ext cx="7239000" cy="9525"/>
          </a:xfrm>
          <a:prstGeom prst="rect">
            <a:avLst/>
          </a:prstGeom>
          <a:solidFill>
            <a:srgbClr val="DFE8F0"/>
          </a:solidFill>
          <a:ln w="0">
            <a:solidFill>
              <a:srgbClr val="DFE8F0"/>
            </a:solidFill>
          </a:ln>
        </p:spPr>
        <p:txBody>
          <a:bodyPr/>
          <a:lstStyle/>
          <a:p>
            <a:endParaRPr lang="en-US"/>
          </a:p>
        </p:txBody>
      </p:sp>
      <p:sp>
        <p:nvSpPr>
          <p:cNvPr id="37" name="Rectangle 36">
            <a:extLst>
              <a:ext uri="{FF2B5EF4-FFF2-40B4-BE49-F238E27FC236}">
                <a16:creationId xmlns:a16="http://schemas.microsoft.com/office/drawing/2014/main" id="{D0C4BB58-2530-4BBB-8F7B-070754B2B6DF}"/>
              </a:ext>
            </a:extLst>
          </p:cNvPr>
          <p:cNvSpPr>
            <a:spLocks noGrp="1"/>
          </p:cNvSpPr>
          <p:nvPr/>
        </p:nvSpPr>
        <p:spPr>
          <a:xfrm>
            <a:off x="533400" y="3733800"/>
            <a:ext cx="1143000" cy="266700"/>
          </a:xfrm>
          <a:prstGeom prst="rect">
            <a:avLst/>
          </a:prstGeom>
          <a:noFill/>
          <a:ln w="0">
            <a:noFill/>
          </a:ln>
        </p:spPr>
        <p:txBody>
          <a:bodyPr>
            <a:normAutofit fontScale="9583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Adoption</a:t>
            </a:r>
          </a:p>
        </p:txBody>
      </p:sp>
      <p:sp>
        <p:nvSpPr>
          <p:cNvPr id="38" name="Rectangle 37">
            <a:extLst>
              <a:ext uri="{FF2B5EF4-FFF2-40B4-BE49-F238E27FC236}">
                <a16:creationId xmlns:a16="http://schemas.microsoft.com/office/drawing/2014/main" id="{5728C61E-E2CE-456C-A500-CA286B55D0BB}"/>
              </a:ext>
            </a:extLst>
          </p:cNvPr>
          <p:cNvSpPr>
            <a:spLocks noGrp="1"/>
          </p:cNvSpPr>
          <p:nvPr/>
        </p:nvSpPr>
        <p:spPr>
          <a:xfrm>
            <a:off x="1809750" y="3733800"/>
            <a:ext cx="5905500" cy="266700"/>
          </a:xfrm>
          <a:prstGeom prst="rect">
            <a:avLst/>
          </a:prstGeom>
          <a:noFill/>
          <a:ln w="0">
            <a:noFill/>
          </a:ln>
        </p:spPr>
        <p:txBody>
          <a:bodyPr>
            <a:normAutofit fontScale="90196"/>
          </a:bodyPr>
          <a:lstStyle/>
          <a:p>
            <a:pPr algn="l">
              <a:defRPr sz="1275" b="0">
                <a:solidFill>
                  <a:srgbClr val="17324D"/>
                </a:solidFill>
                <a:latin typeface="Arial"/>
                <a:ea typeface="Arial"/>
                <a:cs typeface="Arial"/>
              </a:defRPr>
            </a:pPr>
            <a:r>
              <a:rPr sz="1275" b="0">
                <a:solidFill>
                  <a:srgbClr val="17324D"/>
                </a:solidFill>
                <a:latin typeface="Arial"/>
                <a:ea typeface="Arial"/>
                <a:cs typeface="Arial"/>
              </a:rPr>
              <a:t>At least 60% of pilot users active each month</a:t>
            </a:r>
          </a:p>
        </p:txBody>
      </p:sp>
      <p:sp>
        <p:nvSpPr>
          <p:cNvPr id="39" name="Rectangle 38">
            <a:extLst>
              <a:ext uri="{FF2B5EF4-FFF2-40B4-BE49-F238E27FC236}">
                <a16:creationId xmlns:a16="http://schemas.microsoft.com/office/drawing/2014/main" id="{3FF60362-BBD6-4E51-8DB4-C914C4E48171}"/>
              </a:ext>
            </a:extLst>
          </p:cNvPr>
          <p:cNvSpPr>
            <a:spLocks noGrp="1"/>
          </p:cNvSpPr>
          <p:nvPr/>
        </p:nvSpPr>
        <p:spPr>
          <a:xfrm>
            <a:off x="533400" y="4591050"/>
            <a:ext cx="7239000" cy="9525"/>
          </a:xfrm>
          <a:prstGeom prst="rect">
            <a:avLst/>
          </a:prstGeom>
          <a:solidFill>
            <a:srgbClr val="DFE8F0"/>
          </a:solidFill>
          <a:ln w="0">
            <a:solidFill>
              <a:srgbClr val="DFE8F0"/>
            </a:solidFill>
          </a:ln>
        </p:spPr>
        <p:txBody>
          <a:bodyPr/>
          <a:lstStyle/>
          <a:p>
            <a:endParaRPr lang="en-US"/>
          </a:p>
        </p:txBody>
      </p:sp>
      <p:sp>
        <p:nvSpPr>
          <p:cNvPr id="40" name="Rectangle 39">
            <a:extLst>
              <a:ext uri="{FF2B5EF4-FFF2-40B4-BE49-F238E27FC236}">
                <a16:creationId xmlns:a16="http://schemas.microsoft.com/office/drawing/2014/main" id="{A47DD5CE-AD9B-4A44-A1C8-19459777ACC7}"/>
              </a:ext>
            </a:extLst>
          </p:cNvPr>
          <p:cNvSpPr>
            <a:spLocks noGrp="1"/>
          </p:cNvSpPr>
          <p:nvPr/>
        </p:nvSpPr>
        <p:spPr>
          <a:xfrm>
            <a:off x="533400" y="4210050"/>
            <a:ext cx="1143000" cy="266700"/>
          </a:xfrm>
          <a:prstGeom prst="rect">
            <a:avLst/>
          </a:prstGeom>
          <a:noFill/>
          <a:ln w="0">
            <a:noFill/>
          </a:ln>
        </p:spPr>
        <p:txBody>
          <a:bodyPr>
            <a:normAutofit fontScale="9583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Quality</a:t>
            </a:r>
          </a:p>
        </p:txBody>
      </p:sp>
      <p:sp>
        <p:nvSpPr>
          <p:cNvPr id="41" name="Rectangle 40">
            <a:extLst>
              <a:ext uri="{FF2B5EF4-FFF2-40B4-BE49-F238E27FC236}">
                <a16:creationId xmlns:a16="http://schemas.microsoft.com/office/drawing/2014/main" id="{259AA484-EBB0-4B6C-8645-6C83E8438DBD}"/>
              </a:ext>
            </a:extLst>
          </p:cNvPr>
          <p:cNvSpPr>
            <a:spLocks noGrp="1"/>
          </p:cNvSpPr>
          <p:nvPr/>
        </p:nvSpPr>
        <p:spPr>
          <a:xfrm>
            <a:off x="1809750" y="4210050"/>
            <a:ext cx="5905500" cy="266700"/>
          </a:xfrm>
          <a:prstGeom prst="rect">
            <a:avLst/>
          </a:prstGeom>
          <a:noFill/>
          <a:ln w="0">
            <a:noFill/>
          </a:ln>
        </p:spPr>
        <p:txBody>
          <a:bodyPr>
            <a:normAutofit fontScale="90196"/>
          </a:bodyPr>
          <a:lstStyle/>
          <a:p>
            <a:pPr algn="l">
              <a:defRPr sz="1275" b="0">
                <a:solidFill>
                  <a:srgbClr val="17324D"/>
                </a:solidFill>
                <a:latin typeface="Arial"/>
                <a:ea typeface="Arial"/>
                <a:cs typeface="Arial"/>
              </a:defRPr>
            </a:pPr>
            <a:r>
              <a:rPr sz="1275" b="0">
                <a:solidFill>
                  <a:srgbClr val="17324D"/>
                </a:solidFill>
                <a:latin typeface="Arial"/>
                <a:ea typeface="Arial"/>
                <a:cs typeface="Arial"/>
              </a:rPr>
              <a:t>Business owner accepts the data and narrative</a:t>
            </a:r>
          </a:p>
        </p:txBody>
      </p:sp>
      <p:sp>
        <p:nvSpPr>
          <p:cNvPr id="42" name="Rectangle 41">
            <a:extLst>
              <a:ext uri="{FF2B5EF4-FFF2-40B4-BE49-F238E27FC236}">
                <a16:creationId xmlns:a16="http://schemas.microsoft.com/office/drawing/2014/main" id="{5B0747A8-EA5F-4942-88C5-8C17D67C4421}"/>
              </a:ext>
            </a:extLst>
          </p:cNvPr>
          <p:cNvSpPr>
            <a:spLocks noGrp="1"/>
          </p:cNvSpPr>
          <p:nvPr/>
        </p:nvSpPr>
        <p:spPr>
          <a:xfrm>
            <a:off x="533400" y="5067300"/>
            <a:ext cx="7239000" cy="9525"/>
          </a:xfrm>
          <a:prstGeom prst="rect">
            <a:avLst/>
          </a:prstGeom>
          <a:solidFill>
            <a:srgbClr val="DFE8F0"/>
          </a:solidFill>
          <a:ln w="0">
            <a:solidFill>
              <a:srgbClr val="DFE8F0"/>
            </a:solidFill>
          </a:ln>
        </p:spPr>
        <p:txBody>
          <a:bodyPr/>
          <a:lstStyle/>
          <a:p>
            <a:endParaRPr lang="en-US"/>
          </a:p>
        </p:txBody>
      </p:sp>
      <p:sp>
        <p:nvSpPr>
          <p:cNvPr id="43" name="Rectangle 42">
            <a:extLst>
              <a:ext uri="{FF2B5EF4-FFF2-40B4-BE49-F238E27FC236}">
                <a16:creationId xmlns:a16="http://schemas.microsoft.com/office/drawing/2014/main" id="{DB9C42D7-E2B8-48F5-BF60-5997D5CF8C72}"/>
              </a:ext>
            </a:extLst>
          </p:cNvPr>
          <p:cNvSpPr>
            <a:spLocks noGrp="1"/>
          </p:cNvSpPr>
          <p:nvPr/>
        </p:nvSpPr>
        <p:spPr>
          <a:xfrm>
            <a:off x="533400" y="4686300"/>
            <a:ext cx="1143000" cy="266700"/>
          </a:xfrm>
          <a:prstGeom prst="rect">
            <a:avLst/>
          </a:prstGeom>
          <a:noFill/>
          <a:ln w="0">
            <a:noFill/>
          </a:ln>
        </p:spPr>
        <p:txBody>
          <a:bodyPr>
            <a:normAutofit fontScale="9583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Security</a:t>
            </a:r>
          </a:p>
        </p:txBody>
      </p:sp>
      <p:sp>
        <p:nvSpPr>
          <p:cNvPr id="44" name="Rectangle 43">
            <a:extLst>
              <a:ext uri="{FF2B5EF4-FFF2-40B4-BE49-F238E27FC236}">
                <a16:creationId xmlns:a16="http://schemas.microsoft.com/office/drawing/2014/main" id="{413EA00A-C795-4638-A67D-9AFDC8A5BC33}"/>
              </a:ext>
            </a:extLst>
          </p:cNvPr>
          <p:cNvSpPr>
            <a:spLocks noGrp="1"/>
          </p:cNvSpPr>
          <p:nvPr/>
        </p:nvSpPr>
        <p:spPr>
          <a:xfrm>
            <a:off x="1809750" y="4686300"/>
            <a:ext cx="5905500" cy="266700"/>
          </a:xfrm>
          <a:prstGeom prst="rect">
            <a:avLst/>
          </a:prstGeom>
          <a:noFill/>
          <a:ln w="0">
            <a:noFill/>
          </a:ln>
        </p:spPr>
        <p:txBody>
          <a:bodyPr>
            <a:normAutofit fontScale="90196"/>
          </a:bodyPr>
          <a:lstStyle/>
          <a:p>
            <a:pPr algn="l">
              <a:defRPr sz="1275" b="0">
                <a:solidFill>
                  <a:srgbClr val="17324D"/>
                </a:solidFill>
                <a:latin typeface="Arial"/>
                <a:ea typeface="Arial"/>
                <a:cs typeface="Arial"/>
              </a:defRPr>
            </a:pPr>
            <a:r>
              <a:rPr sz="1275" b="0">
                <a:solidFill>
                  <a:srgbClr val="17324D"/>
                </a:solidFill>
                <a:latin typeface="Arial"/>
                <a:ea typeface="Arial"/>
                <a:cs typeface="Arial"/>
              </a:rPr>
              <a:t>No public data path and no high-severity findings</a:t>
            </a:r>
          </a:p>
        </p:txBody>
      </p:sp>
      <p:sp>
        <p:nvSpPr>
          <p:cNvPr id="45" name="Rectangle 44">
            <a:extLst>
              <a:ext uri="{FF2B5EF4-FFF2-40B4-BE49-F238E27FC236}">
                <a16:creationId xmlns:a16="http://schemas.microsoft.com/office/drawing/2014/main" id="{1FF16258-3E5B-426E-86E6-82E0A29AD65C}"/>
              </a:ext>
            </a:extLst>
          </p:cNvPr>
          <p:cNvSpPr>
            <a:spLocks noGrp="1"/>
          </p:cNvSpPr>
          <p:nvPr/>
        </p:nvSpPr>
        <p:spPr>
          <a:xfrm>
            <a:off x="533400" y="5543550"/>
            <a:ext cx="7239000" cy="9525"/>
          </a:xfrm>
          <a:prstGeom prst="rect">
            <a:avLst/>
          </a:prstGeom>
          <a:solidFill>
            <a:srgbClr val="DFE8F0"/>
          </a:solidFill>
          <a:ln w="0">
            <a:solidFill>
              <a:srgbClr val="DFE8F0"/>
            </a:solidFill>
          </a:ln>
        </p:spPr>
        <p:txBody>
          <a:bodyPr/>
          <a:lstStyle/>
          <a:p>
            <a:endParaRPr lang="en-US"/>
          </a:p>
        </p:txBody>
      </p:sp>
      <p:sp>
        <p:nvSpPr>
          <p:cNvPr id="46" name="Rectangle 45">
            <a:extLst>
              <a:ext uri="{FF2B5EF4-FFF2-40B4-BE49-F238E27FC236}">
                <a16:creationId xmlns:a16="http://schemas.microsoft.com/office/drawing/2014/main" id="{066FD16C-9AA4-4429-9CB9-F3BC6CBFC676}"/>
              </a:ext>
            </a:extLst>
          </p:cNvPr>
          <p:cNvSpPr>
            <a:spLocks noGrp="1"/>
          </p:cNvSpPr>
          <p:nvPr/>
        </p:nvSpPr>
        <p:spPr>
          <a:xfrm>
            <a:off x="533400" y="5162550"/>
            <a:ext cx="1143000" cy="266700"/>
          </a:xfrm>
          <a:prstGeom prst="rect">
            <a:avLst/>
          </a:prstGeom>
          <a:noFill/>
          <a:ln w="0">
            <a:noFill/>
          </a:ln>
        </p:spPr>
        <p:txBody>
          <a:bodyPr>
            <a:normAutofit fontScale="95833"/>
          </a:bodyPr>
          <a:lstStyle/>
          <a:p>
            <a:pPr algn="l">
              <a:defRPr sz="1200" b="1">
                <a:solidFill>
                  <a:srgbClr val="0F6CBD"/>
                </a:solidFill>
                <a:latin typeface="Arial"/>
                <a:ea typeface="Arial"/>
                <a:cs typeface="Arial"/>
              </a:defRPr>
            </a:pPr>
            <a:r>
              <a:rPr sz="1200" b="1">
                <a:solidFill>
                  <a:srgbClr val="0F6CBD"/>
                </a:solidFill>
                <a:latin typeface="Arial"/>
                <a:ea typeface="Arial"/>
                <a:cs typeface="Arial"/>
              </a:rPr>
              <a:t>Unit cost</a:t>
            </a:r>
          </a:p>
        </p:txBody>
      </p:sp>
      <p:sp>
        <p:nvSpPr>
          <p:cNvPr id="47" name="Rectangle 46">
            <a:extLst>
              <a:ext uri="{FF2B5EF4-FFF2-40B4-BE49-F238E27FC236}">
                <a16:creationId xmlns:a16="http://schemas.microsoft.com/office/drawing/2014/main" id="{8893191F-7386-48B8-8C18-5F634D495895}"/>
              </a:ext>
            </a:extLst>
          </p:cNvPr>
          <p:cNvSpPr>
            <a:spLocks noGrp="1"/>
          </p:cNvSpPr>
          <p:nvPr/>
        </p:nvSpPr>
        <p:spPr>
          <a:xfrm>
            <a:off x="1809750" y="5162550"/>
            <a:ext cx="5905500" cy="266700"/>
          </a:xfrm>
          <a:prstGeom prst="rect">
            <a:avLst/>
          </a:prstGeom>
          <a:noFill/>
          <a:ln w="0">
            <a:noFill/>
          </a:ln>
        </p:spPr>
        <p:txBody>
          <a:bodyPr>
            <a:normAutofit fontScale="90196"/>
          </a:bodyPr>
          <a:lstStyle/>
          <a:p>
            <a:pPr algn="l">
              <a:defRPr sz="1275" b="0">
                <a:solidFill>
                  <a:srgbClr val="17324D"/>
                </a:solidFill>
                <a:latin typeface="Arial"/>
                <a:ea typeface="Arial"/>
                <a:cs typeface="Arial"/>
              </a:defRPr>
            </a:pPr>
            <a:r>
              <a:rPr sz="1275" b="0">
                <a:solidFill>
                  <a:srgbClr val="17324D"/>
                </a:solidFill>
                <a:latin typeface="Arial"/>
                <a:ea typeface="Arial"/>
                <a:cs typeface="Arial"/>
              </a:rPr>
              <a:t>Platform cost at or below $75 per completed deck</a:t>
            </a:r>
          </a:p>
        </p:txBody>
      </p:sp>
      <p:sp>
        <p:nvSpPr>
          <p:cNvPr id="48" name="Rectangle: Rounded Corners 47">
            <a:extLst>
              <a:ext uri="{FF2B5EF4-FFF2-40B4-BE49-F238E27FC236}">
                <a16:creationId xmlns:a16="http://schemas.microsoft.com/office/drawing/2014/main" id="{A0FB76C6-6973-4BB0-B4F7-C58730DE38D5}"/>
              </a:ext>
            </a:extLst>
          </p:cNvPr>
          <p:cNvSpPr>
            <a:spLocks noGrp="1"/>
          </p:cNvSpPr>
          <p:nvPr/>
        </p:nvSpPr>
        <p:spPr>
          <a:xfrm>
            <a:off x="8153400" y="3143250"/>
            <a:ext cx="3505200" cy="2381250"/>
          </a:xfrm>
          <a:prstGeom prst="roundRect">
            <a:avLst>
              <a:gd name="adj" fmla="val 3200"/>
            </a:avLst>
          </a:prstGeom>
          <a:solidFill>
            <a:srgbClr val="102A43"/>
          </a:solidFill>
          <a:ln w="9525">
            <a:solidFill>
              <a:srgbClr val="102A43"/>
            </a:solidFill>
          </a:ln>
        </p:spPr>
        <p:txBody>
          <a:bodyPr/>
          <a:lstStyle/>
          <a:p>
            <a:endParaRPr lang="en-US"/>
          </a:p>
        </p:txBody>
      </p:sp>
      <p:sp>
        <p:nvSpPr>
          <p:cNvPr id="49" name="Rectangle 48">
            <a:extLst>
              <a:ext uri="{FF2B5EF4-FFF2-40B4-BE49-F238E27FC236}">
                <a16:creationId xmlns:a16="http://schemas.microsoft.com/office/drawing/2014/main" id="{54D6DDFA-520E-4C90-A52E-005AEAAE8BF3}"/>
              </a:ext>
            </a:extLst>
          </p:cNvPr>
          <p:cNvSpPr>
            <a:spLocks noGrp="1"/>
          </p:cNvSpPr>
          <p:nvPr/>
        </p:nvSpPr>
        <p:spPr>
          <a:xfrm>
            <a:off x="8420100" y="3390900"/>
            <a:ext cx="2971800" cy="266700"/>
          </a:xfrm>
          <a:prstGeom prst="rect">
            <a:avLst/>
          </a:prstGeom>
          <a:noFill/>
          <a:ln w="0">
            <a:noFill/>
          </a:ln>
        </p:spPr>
        <p:txBody>
          <a:bodyPr>
            <a:normAutofit fontScale="95833"/>
          </a:bodyPr>
          <a:lstStyle/>
          <a:p>
            <a:pPr algn="l">
              <a:defRPr sz="1200" b="1">
                <a:solidFill>
                  <a:srgbClr val="9FD2FF"/>
                </a:solidFill>
                <a:latin typeface="Arial"/>
                <a:ea typeface="Arial"/>
                <a:cs typeface="Arial"/>
              </a:defRPr>
            </a:pPr>
            <a:r>
              <a:rPr sz="1200" b="1">
                <a:solidFill>
                  <a:srgbClr val="9FD2FF"/>
                </a:solidFill>
                <a:latin typeface="Arial"/>
                <a:ea typeface="Arial"/>
                <a:cs typeface="Arial"/>
              </a:rPr>
              <a:t>Pilot investment</a:t>
            </a:r>
          </a:p>
        </p:txBody>
      </p:sp>
      <p:sp>
        <p:nvSpPr>
          <p:cNvPr id="50" name="Rectangle 49">
            <a:extLst>
              <a:ext uri="{FF2B5EF4-FFF2-40B4-BE49-F238E27FC236}">
                <a16:creationId xmlns:a16="http://schemas.microsoft.com/office/drawing/2014/main" id="{B2444E9A-1365-4810-A1FE-C83172A6B26C}"/>
              </a:ext>
            </a:extLst>
          </p:cNvPr>
          <p:cNvSpPr>
            <a:spLocks noGrp="1"/>
          </p:cNvSpPr>
          <p:nvPr/>
        </p:nvSpPr>
        <p:spPr>
          <a:xfrm>
            <a:off x="8420100" y="3733800"/>
            <a:ext cx="2971800" cy="495300"/>
          </a:xfrm>
          <a:prstGeom prst="rect">
            <a:avLst/>
          </a:prstGeom>
          <a:noFill/>
          <a:ln w="0">
            <a:noFill/>
          </a:ln>
        </p:spPr>
        <p:txBody>
          <a:bodyPr>
            <a:normAutofit fontScale="84127"/>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$60K</a:t>
            </a:r>
          </a:p>
        </p:txBody>
      </p:sp>
      <p:sp>
        <p:nvSpPr>
          <p:cNvPr id="51" name="Rectangle 50">
            <a:extLst>
              <a:ext uri="{FF2B5EF4-FFF2-40B4-BE49-F238E27FC236}">
                <a16:creationId xmlns:a16="http://schemas.microsoft.com/office/drawing/2014/main" id="{0944906D-C5D4-4534-915C-835EA33B7604}"/>
              </a:ext>
            </a:extLst>
          </p:cNvPr>
          <p:cNvSpPr>
            <a:spLocks noGrp="1"/>
          </p:cNvSpPr>
          <p:nvPr/>
        </p:nvSpPr>
        <p:spPr>
          <a:xfrm>
            <a:off x="8420100" y="4476750"/>
            <a:ext cx="2971800" cy="228600"/>
          </a:xfrm>
          <a:prstGeom prst="rect">
            <a:avLst/>
          </a:prstGeom>
          <a:noFill/>
          <a:ln w="0">
            <a:noFill/>
          </a:ln>
        </p:spPr>
        <p:txBody>
          <a:bodyPr>
            <a:normAutofit fontScale="80000"/>
          </a:bodyPr>
          <a:lstStyle/>
          <a:p>
            <a:pPr algn="l">
              <a:defRPr sz="1125" b="1">
                <a:solidFill>
                  <a:srgbClr val="9FD2FF"/>
                </a:solidFill>
                <a:latin typeface="Arial"/>
                <a:ea typeface="Arial"/>
                <a:cs typeface="Arial"/>
              </a:defRPr>
            </a:pPr>
            <a:r>
              <a:rPr sz="1125" b="1">
                <a:solidFill>
                  <a:srgbClr val="9FD2FF"/>
                </a:solidFill>
                <a:latin typeface="Arial"/>
                <a:ea typeface="Arial"/>
                <a:cs typeface="Arial"/>
              </a:rPr>
              <a:t>Recommended decision</a:t>
            </a:r>
          </a:p>
        </p:txBody>
      </p:sp>
      <p:sp>
        <p:nvSpPr>
          <p:cNvPr id="52" name="Rectangle 51">
            <a:extLst>
              <a:ext uri="{FF2B5EF4-FFF2-40B4-BE49-F238E27FC236}">
                <a16:creationId xmlns:a16="http://schemas.microsoft.com/office/drawing/2014/main" id="{57E34612-3EC3-4A91-81B7-06D78D268439}"/>
              </a:ext>
            </a:extLst>
          </p:cNvPr>
          <p:cNvSpPr>
            <a:spLocks noGrp="1"/>
          </p:cNvSpPr>
          <p:nvPr/>
        </p:nvSpPr>
        <p:spPr>
          <a:xfrm>
            <a:off x="8420100" y="4800600"/>
            <a:ext cx="2857500" cy="666750"/>
          </a:xfrm>
          <a:prstGeom prst="rect">
            <a:avLst/>
          </a:prstGeom>
          <a:noFill/>
          <a:ln w="0">
            <a:noFill/>
          </a:ln>
        </p:spPr>
        <p:txBody>
          <a:bodyPr>
            <a:normAutofit fontScale="78297"/>
          </a:bodyPr>
          <a:lstStyle/>
          <a:p>
            <a:pPr algn="l">
              <a:defRPr sz="1350" b="1">
                <a:solidFill>
                  <a:srgbClr val="FFFFFF"/>
                </a:solidFill>
                <a:latin typeface="Arial"/>
                <a:ea typeface="Arial"/>
                <a:cs typeface="Arial"/>
              </a:defRPr>
            </a:pPr>
            <a:r>
              <a:rPr sz="1350" b="1">
                <a:solidFill>
                  <a:srgbClr val="FFFFFF"/>
                </a:solidFill>
                <a:latin typeface="Arial"/>
                <a:ea typeface="Arial"/>
                <a:cs typeface="Arial"/>
              </a:rPr>
              <a:t>Fund the pilot, measure actual time saved and consumption, then use the same model to approve business-unit scale.</a:t>
            </a:r>
          </a:p>
        </p:txBody>
      </p:sp>
      <p:sp>
        <p:nvSpPr>
          <p:cNvPr id="53" name="Rectangle 52">
            <a:extLst>
              <a:ext uri="{FF2B5EF4-FFF2-40B4-BE49-F238E27FC236}">
                <a16:creationId xmlns:a16="http://schemas.microsoft.com/office/drawing/2014/main" id="{ED64B1D3-277B-4324-8CC3-20C0FDD4AF39}"/>
              </a:ext>
            </a:extLst>
          </p:cNvPr>
          <p:cNvSpPr>
            <a:spLocks noGrp="1"/>
          </p:cNvSpPr>
          <p:nvPr/>
        </p:nvSpPr>
        <p:spPr>
          <a:xfrm>
            <a:off x="533400" y="5905500"/>
            <a:ext cx="7239000" cy="266700"/>
          </a:xfrm>
          <a:prstGeom prst="rect">
            <a:avLst/>
          </a:prstGeom>
          <a:noFill/>
          <a:ln w="0">
            <a:noFill/>
          </a:ln>
        </p:spPr>
        <p:txBody>
          <a:bodyPr>
            <a:normAutofit fontScale="90196"/>
          </a:bodyPr>
          <a:lstStyle/>
          <a:p>
            <a:pPr algn="l">
              <a:defRPr sz="1275" b="1">
                <a:solidFill>
                  <a:srgbClr val="107C10"/>
                </a:solidFill>
                <a:latin typeface="Arial"/>
                <a:ea typeface="Arial"/>
                <a:cs typeface="Arial"/>
              </a:defRPr>
            </a:pPr>
            <a:r>
              <a:rPr sz="1275" b="1">
                <a:solidFill>
                  <a:srgbClr val="107C10"/>
                </a:solidFill>
                <a:latin typeface="Arial"/>
                <a:ea typeface="Arial"/>
                <a:cs typeface="Arial"/>
              </a:rPr>
              <a:t>Illustrative pilot economics: $97.5K annual run-rate benefit and 7.4-month payback</a:t>
            </a:r>
          </a:p>
        </p:txBody>
      </p:sp>
    </p:spTree>
    <p:extLst>
      <p:ext uri="{BB962C8B-B14F-4D97-AF65-F5344CB8AC3E}">
        <p14:creationId xmlns:p14="http://schemas.microsoft.com/office/powerpoint/2010/main" val="1746077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1943</Words>
  <Application>Microsoft Office PowerPoint</Application>
  <DocSecurity>0</DocSecurity>
  <PresentationFormat>Widescreen</PresentationFormat>
  <Paragraphs>292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Michael Yaacoub</cp:lastModifiedBy>
  <cp:revision>1</cp:revision>
  <dcterms:created xsi:type="dcterms:W3CDTF">2026-09-09T18:10:30Z</dcterms:created>
  <dcterms:modified xsi:type="dcterms:W3CDTF">2026-09-09T18:35:18Z</dcterms:modified>
</cp:coreProperties>
</file>